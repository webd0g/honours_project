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4" d="100"/>
          <a:sy n="84" d="100"/>
        </p:scale>
        <p:origin x="65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635B6-31F2-960A-42FA-61BD198D4AE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2EF7D207-138F-C426-B22A-B815CD3BAB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45B377C2-C234-7C6A-4CDF-D1255E6B9A6B}"/>
              </a:ext>
            </a:extLst>
          </p:cNvPr>
          <p:cNvSpPr>
            <a:spLocks noGrp="1"/>
          </p:cNvSpPr>
          <p:nvPr>
            <p:ph type="dt" sz="half" idx="10"/>
          </p:nvPr>
        </p:nvSpPr>
        <p:spPr/>
        <p:txBody>
          <a:bodyPr/>
          <a:lstStyle/>
          <a:p>
            <a:fld id="{01A28B2F-B325-45E9-9465-5B309D137143}" type="datetimeFigureOut">
              <a:rPr lang="en-AU" smtClean="0"/>
              <a:t>31/03/2026</a:t>
            </a:fld>
            <a:endParaRPr lang="en-AU"/>
          </a:p>
        </p:txBody>
      </p:sp>
      <p:sp>
        <p:nvSpPr>
          <p:cNvPr id="5" name="Footer Placeholder 4">
            <a:extLst>
              <a:ext uri="{FF2B5EF4-FFF2-40B4-BE49-F238E27FC236}">
                <a16:creationId xmlns:a16="http://schemas.microsoft.com/office/drawing/2014/main" id="{23C4120B-F243-F9C4-879D-327DB5CA98E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9B72B7C-D18F-148B-CBA4-EE261CEEE32E}"/>
              </a:ext>
            </a:extLst>
          </p:cNvPr>
          <p:cNvSpPr>
            <a:spLocks noGrp="1"/>
          </p:cNvSpPr>
          <p:nvPr>
            <p:ph type="sldNum" sz="quarter" idx="12"/>
          </p:nvPr>
        </p:nvSpPr>
        <p:spPr/>
        <p:txBody>
          <a:bodyPr/>
          <a:lstStyle/>
          <a:p>
            <a:fld id="{9C045542-16FA-4226-AEB4-61E47D0A3686}" type="slidenum">
              <a:rPr lang="en-AU" smtClean="0"/>
              <a:t>‹#›</a:t>
            </a:fld>
            <a:endParaRPr lang="en-AU"/>
          </a:p>
        </p:txBody>
      </p:sp>
    </p:spTree>
    <p:extLst>
      <p:ext uri="{BB962C8B-B14F-4D97-AF65-F5344CB8AC3E}">
        <p14:creationId xmlns:p14="http://schemas.microsoft.com/office/powerpoint/2010/main" val="23977763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B6F1C-B9EE-9AAB-2054-EBA31759DE4B}"/>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18D94D2D-B19D-CDDE-C995-F951EE3F91B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2FECD94-BE54-D3DE-992D-0FFE9E770FC5}"/>
              </a:ext>
            </a:extLst>
          </p:cNvPr>
          <p:cNvSpPr>
            <a:spLocks noGrp="1"/>
          </p:cNvSpPr>
          <p:nvPr>
            <p:ph type="dt" sz="half" idx="10"/>
          </p:nvPr>
        </p:nvSpPr>
        <p:spPr/>
        <p:txBody>
          <a:bodyPr/>
          <a:lstStyle/>
          <a:p>
            <a:fld id="{01A28B2F-B325-45E9-9465-5B309D137143}" type="datetimeFigureOut">
              <a:rPr lang="en-AU" smtClean="0"/>
              <a:t>31/03/2026</a:t>
            </a:fld>
            <a:endParaRPr lang="en-AU"/>
          </a:p>
        </p:txBody>
      </p:sp>
      <p:sp>
        <p:nvSpPr>
          <p:cNvPr id="5" name="Footer Placeholder 4">
            <a:extLst>
              <a:ext uri="{FF2B5EF4-FFF2-40B4-BE49-F238E27FC236}">
                <a16:creationId xmlns:a16="http://schemas.microsoft.com/office/drawing/2014/main" id="{4791C3A5-2960-06B6-7573-3889EB31D98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2839C7C9-09E5-F2C0-E97E-CCC3D64BE465}"/>
              </a:ext>
            </a:extLst>
          </p:cNvPr>
          <p:cNvSpPr>
            <a:spLocks noGrp="1"/>
          </p:cNvSpPr>
          <p:nvPr>
            <p:ph type="sldNum" sz="quarter" idx="12"/>
          </p:nvPr>
        </p:nvSpPr>
        <p:spPr/>
        <p:txBody>
          <a:bodyPr/>
          <a:lstStyle/>
          <a:p>
            <a:fld id="{9C045542-16FA-4226-AEB4-61E47D0A3686}" type="slidenum">
              <a:rPr lang="en-AU" smtClean="0"/>
              <a:t>‹#›</a:t>
            </a:fld>
            <a:endParaRPr lang="en-AU"/>
          </a:p>
        </p:txBody>
      </p:sp>
    </p:spTree>
    <p:extLst>
      <p:ext uri="{BB962C8B-B14F-4D97-AF65-F5344CB8AC3E}">
        <p14:creationId xmlns:p14="http://schemas.microsoft.com/office/powerpoint/2010/main" val="33212560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A6186-6F1A-99EE-ADF5-4F499936E11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6C6132D3-0529-1FBF-703D-FF9478B75CE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DB66D73-0E24-C7D5-8856-56AF162C1D00}"/>
              </a:ext>
            </a:extLst>
          </p:cNvPr>
          <p:cNvSpPr>
            <a:spLocks noGrp="1"/>
          </p:cNvSpPr>
          <p:nvPr>
            <p:ph type="dt" sz="half" idx="10"/>
          </p:nvPr>
        </p:nvSpPr>
        <p:spPr/>
        <p:txBody>
          <a:bodyPr/>
          <a:lstStyle/>
          <a:p>
            <a:fld id="{01A28B2F-B325-45E9-9465-5B309D137143}" type="datetimeFigureOut">
              <a:rPr lang="en-AU" smtClean="0"/>
              <a:t>31/03/2026</a:t>
            </a:fld>
            <a:endParaRPr lang="en-AU"/>
          </a:p>
        </p:txBody>
      </p:sp>
      <p:sp>
        <p:nvSpPr>
          <p:cNvPr id="5" name="Footer Placeholder 4">
            <a:extLst>
              <a:ext uri="{FF2B5EF4-FFF2-40B4-BE49-F238E27FC236}">
                <a16:creationId xmlns:a16="http://schemas.microsoft.com/office/drawing/2014/main" id="{95DF6D9E-B93F-63E4-B39D-2A12E0C8A81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1061F7E-E78A-3C49-80C5-62F48D4D1DA2}"/>
              </a:ext>
            </a:extLst>
          </p:cNvPr>
          <p:cNvSpPr>
            <a:spLocks noGrp="1"/>
          </p:cNvSpPr>
          <p:nvPr>
            <p:ph type="sldNum" sz="quarter" idx="12"/>
          </p:nvPr>
        </p:nvSpPr>
        <p:spPr/>
        <p:txBody>
          <a:bodyPr/>
          <a:lstStyle/>
          <a:p>
            <a:fld id="{9C045542-16FA-4226-AEB4-61E47D0A3686}" type="slidenum">
              <a:rPr lang="en-AU" smtClean="0"/>
              <a:t>‹#›</a:t>
            </a:fld>
            <a:endParaRPr lang="en-AU"/>
          </a:p>
        </p:txBody>
      </p:sp>
    </p:spTree>
    <p:extLst>
      <p:ext uri="{BB962C8B-B14F-4D97-AF65-F5344CB8AC3E}">
        <p14:creationId xmlns:p14="http://schemas.microsoft.com/office/powerpoint/2010/main" val="1774869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F6BD9-1822-126B-B266-CB1B0464C649}"/>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3E22214C-0B52-E77D-6BEC-EEC667BFC60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2EC60CE6-BAC4-D6C1-7901-794FA70AF9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F5223F7B-F619-887A-A18E-9CC269BE445C}"/>
              </a:ext>
            </a:extLst>
          </p:cNvPr>
          <p:cNvSpPr>
            <a:spLocks noGrp="1"/>
          </p:cNvSpPr>
          <p:nvPr>
            <p:ph type="dt" sz="half" idx="10"/>
          </p:nvPr>
        </p:nvSpPr>
        <p:spPr/>
        <p:txBody>
          <a:bodyPr/>
          <a:lstStyle/>
          <a:p>
            <a:fld id="{01A28B2F-B325-45E9-9465-5B309D137143}" type="datetimeFigureOut">
              <a:rPr lang="en-AU" smtClean="0"/>
              <a:t>31/03/2026</a:t>
            </a:fld>
            <a:endParaRPr lang="en-AU"/>
          </a:p>
        </p:txBody>
      </p:sp>
      <p:sp>
        <p:nvSpPr>
          <p:cNvPr id="6" name="Footer Placeholder 5">
            <a:extLst>
              <a:ext uri="{FF2B5EF4-FFF2-40B4-BE49-F238E27FC236}">
                <a16:creationId xmlns:a16="http://schemas.microsoft.com/office/drawing/2014/main" id="{38BD043F-FFC8-B4C6-8ED9-4A8A30157209}"/>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8A92B86F-1247-5D5C-C9CA-5653B6392198}"/>
              </a:ext>
            </a:extLst>
          </p:cNvPr>
          <p:cNvSpPr>
            <a:spLocks noGrp="1"/>
          </p:cNvSpPr>
          <p:nvPr>
            <p:ph type="sldNum" sz="quarter" idx="12"/>
          </p:nvPr>
        </p:nvSpPr>
        <p:spPr/>
        <p:txBody>
          <a:bodyPr/>
          <a:lstStyle/>
          <a:p>
            <a:fld id="{9C045542-16FA-4226-AEB4-61E47D0A3686}" type="slidenum">
              <a:rPr lang="en-AU" smtClean="0"/>
              <a:t>‹#›</a:t>
            </a:fld>
            <a:endParaRPr lang="en-AU"/>
          </a:p>
        </p:txBody>
      </p:sp>
    </p:spTree>
    <p:extLst>
      <p:ext uri="{BB962C8B-B14F-4D97-AF65-F5344CB8AC3E}">
        <p14:creationId xmlns:p14="http://schemas.microsoft.com/office/powerpoint/2010/main" val="1500129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21133-AB13-E9E7-808D-3D705D5658D5}"/>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650BF3E2-983C-C45E-3CB2-47980AE185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F6CC56C-E0CB-744E-E859-1ACFFCCA680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710E473F-E587-4044-AB41-41EFA205429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0ABFB72-4A4A-153E-5146-C30C4770508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AF299B49-6D45-6D15-6190-728DD825DC4C}"/>
              </a:ext>
            </a:extLst>
          </p:cNvPr>
          <p:cNvSpPr>
            <a:spLocks noGrp="1"/>
          </p:cNvSpPr>
          <p:nvPr>
            <p:ph type="dt" sz="half" idx="10"/>
          </p:nvPr>
        </p:nvSpPr>
        <p:spPr/>
        <p:txBody>
          <a:bodyPr/>
          <a:lstStyle/>
          <a:p>
            <a:fld id="{01A28B2F-B325-45E9-9465-5B309D137143}" type="datetimeFigureOut">
              <a:rPr lang="en-AU" smtClean="0"/>
              <a:t>31/03/2026</a:t>
            </a:fld>
            <a:endParaRPr lang="en-AU"/>
          </a:p>
        </p:txBody>
      </p:sp>
      <p:sp>
        <p:nvSpPr>
          <p:cNvPr id="8" name="Footer Placeholder 7">
            <a:extLst>
              <a:ext uri="{FF2B5EF4-FFF2-40B4-BE49-F238E27FC236}">
                <a16:creationId xmlns:a16="http://schemas.microsoft.com/office/drawing/2014/main" id="{E4B8C701-F93B-E63A-18DA-BA18679AFC83}"/>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846F8C8B-A57F-A63A-941B-A4E8D347B5F3}"/>
              </a:ext>
            </a:extLst>
          </p:cNvPr>
          <p:cNvSpPr>
            <a:spLocks noGrp="1"/>
          </p:cNvSpPr>
          <p:nvPr>
            <p:ph type="sldNum" sz="quarter" idx="12"/>
          </p:nvPr>
        </p:nvSpPr>
        <p:spPr/>
        <p:txBody>
          <a:bodyPr/>
          <a:lstStyle/>
          <a:p>
            <a:fld id="{9C045542-16FA-4226-AEB4-61E47D0A3686}" type="slidenum">
              <a:rPr lang="en-AU" smtClean="0"/>
              <a:t>‹#›</a:t>
            </a:fld>
            <a:endParaRPr lang="en-AU"/>
          </a:p>
        </p:txBody>
      </p:sp>
    </p:spTree>
    <p:extLst>
      <p:ext uri="{BB962C8B-B14F-4D97-AF65-F5344CB8AC3E}">
        <p14:creationId xmlns:p14="http://schemas.microsoft.com/office/powerpoint/2010/main" val="11175063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9AABC-D11A-DFA7-8796-6E8DC089B1F3}"/>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C8526FD5-10DE-E6DD-3EB8-C23F5C6A4A6A}"/>
              </a:ext>
            </a:extLst>
          </p:cNvPr>
          <p:cNvSpPr>
            <a:spLocks noGrp="1"/>
          </p:cNvSpPr>
          <p:nvPr>
            <p:ph type="dt" sz="half" idx="10"/>
          </p:nvPr>
        </p:nvSpPr>
        <p:spPr/>
        <p:txBody>
          <a:bodyPr/>
          <a:lstStyle/>
          <a:p>
            <a:fld id="{01A28B2F-B325-45E9-9465-5B309D137143}" type="datetimeFigureOut">
              <a:rPr lang="en-AU" smtClean="0"/>
              <a:t>31/03/2026</a:t>
            </a:fld>
            <a:endParaRPr lang="en-AU"/>
          </a:p>
        </p:txBody>
      </p:sp>
      <p:sp>
        <p:nvSpPr>
          <p:cNvPr id="4" name="Footer Placeholder 3">
            <a:extLst>
              <a:ext uri="{FF2B5EF4-FFF2-40B4-BE49-F238E27FC236}">
                <a16:creationId xmlns:a16="http://schemas.microsoft.com/office/drawing/2014/main" id="{8CF3B265-8380-1305-E4BD-F05777A93638}"/>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EAFB644D-F1BA-F0D8-C3D5-F47F038859A7}"/>
              </a:ext>
            </a:extLst>
          </p:cNvPr>
          <p:cNvSpPr>
            <a:spLocks noGrp="1"/>
          </p:cNvSpPr>
          <p:nvPr>
            <p:ph type="sldNum" sz="quarter" idx="12"/>
          </p:nvPr>
        </p:nvSpPr>
        <p:spPr/>
        <p:txBody>
          <a:bodyPr/>
          <a:lstStyle/>
          <a:p>
            <a:fld id="{9C045542-16FA-4226-AEB4-61E47D0A3686}" type="slidenum">
              <a:rPr lang="en-AU" smtClean="0"/>
              <a:t>‹#›</a:t>
            </a:fld>
            <a:endParaRPr lang="en-AU"/>
          </a:p>
        </p:txBody>
      </p:sp>
    </p:spTree>
    <p:extLst>
      <p:ext uri="{BB962C8B-B14F-4D97-AF65-F5344CB8AC3E}">
        <p14:creationId xmlns:p14="http://schemas.microsoft.com/office/powerpoint/2010/main" val="25217712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B5F694-DEDC-A6C3-B403-25B9BF7C4D89}"/>
              </a:ext>
            </a:extLst>
          </p:cNvPr>
          <p:cNvSpPr>
            <a:spLocks noGrp="1"/>
          </p:cNvSpPr>
          <p:nvPr>
            <p:ph type="dt" sz="half" idx="10"/>
          </p:nvPr>
        </p:nvSpPr>
        <p:spPr/>
        <p:txBody>
          <a:bodyPr/>
          <a:lstStyle/>
          <a:p>
            <a:fld id="{01A28B2F-B325-45E9-9465-5B309D137143}" type="datetimeFigureOut">
              <a:rPr lang="en-AU" smtClean="0"/>
              <a:t>31/03/2026</a:t>
            </a:fld>
            <a:endParaRPr lang="en-AU"/>
          </a:p>
        </p:txBody>
      </p:sp>
      <p:sp>
        <p:nvSpPr>
          <p:cNvPr id="3" name="Footer Placeholder 2">
            <a:extLst>
              <a:ext uri="{FF2B5EF4-FFF2-40B4-BE49-F238E27FC236}">
                <a16:creationId xmlns:a16="http://schemas.microsoft.com/office/drawing/2014/main" id="{D10C155F-11BF-C294-4AA1-CC98003D2E8C}"/>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48C35453-864F-C5F2-17C1-88BB33121274}"/>
              </a:ext>
            </a:extLst>
          </p:cNvPr>
          <p:cNvSpPr>
            <a:spLocks noGrp="1"/>
          </p:cNvSpPr>
          <p:nvPr>
            <p:ph type="sldNum" sz="quarter" idx="12"/>
          </p:nvPr>
        </p:nvSpPr>
        <p:spPr/>
        <p:txBody>
          <a:bodyPr/>
          <a:lstStyle/>
          <a:p>
            <a:fld id="{9C045542-16FA-4226-AEB4-61E47D0A3686}" type="slidenum">
              <a:rPr lang="en-AU" smtClean="0"/>
              <a:t>‹#›</a:t>
            </a:fld>
            <a:endParaRPr lang="en-AU"/>
          </a:p>
        </p:txBody>
      </p:sp>
    </p:spTree>
    <p:extLst>
      <p:ext uri="{BB962C8B-B14F-4D97-AF65-F5344CB8AC3E}">
        <p14:creationId xmlns:p14="http://schemas.microsoft.com/office/powerpoint/2010/main" val="17600022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026E7-F638-853C-7B65-43C4C02E2A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F9B8A88F-A1B1-8911-58C2-7D7BA923C7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43806E63-5820-BEFD-8484-AD29D6EFD4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CB61FE-C571-A57A-BED6-D5BA55F11BE2}"/>
              </a:ext>
            </a:extLst>
          </p:cNvPr>
          <p:cNvSpPr>
            <a:spLocks noGrp="1"/>
          </p:cNvSpPr>
          <p:nvPr>
            <p:ph type="dt" sz="half" idx="10"/>
          </p:nvPr>
        </p:nvSpPr>
        <p:spPr/>
        <p:txBody>
          <a:bodyPr/>
          <a:lstStyle/>
          <a:p>
            <a:fld id="{01A28B2F-B325-45E9-9465-5B309D137143}" type="datetimeFigureOut">
              <a:rPr lang="en-AU" smtClean="0"/>
              <a:t>31/03/2026</a:t>
            </a:fld>
            <a:endParaRPr lang="en-AU"/>
          </a:p>
        </p:txBody>
      </p:sp>
      <p:sp>
        <p:nvSpPr>
          <p:cNvPr id="6" name="Footer Placeholder 5">
            <a:extLst>
              <a:ext uri="{FF2B5EF4-FFF2-40B4-BE49-F238E27FC236}">
                <a16:creationId xmlns:a16="http://schemas.microsoft.com/office/drawing/2014/main" id="{E3A6B788-D65D-63EA-B174-929D9DE13BBE}"/>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00FA4CCE-A6DA-D66C-38CA-A4A89C4FCFE0}"/>
              </a:ext>
            </a:extLst>
          </p:cNvPr>
          <p:cNvSpPr>
            <a:spLocks noGrp="1"/>
          </p:cNvSpPr>
          <p:nvPr>
            <p:ph type="sldNum" sz="quarter" idx="12"/>
          </p:nvPr>
        </p:nvSpPr>
        <p:spPr/>
        <p:txBody>
          <a:bodyPr/>
          <a:lstStyle/>
          <a:p>
            <a:fld id="{9C045542-16FA-4226-AEB4-61E47D0A3686}" type="slidenum">
              <a:rPr lang="en-AU" smtClean="0"/>
              <a:t>‹#›</a:t>
            </a:fld>
            <a:endParaRPr lang="en-AU"/>
          </a:p>
        </p:txBody>
      </p:sp>
    </p:spTree>
    <p:extLst>
      <p:ext uri="{BB962C8B-B14F-4D97-AF65-F5344CB8AC3E}">
        <p14:creationId xmlns:p14="http://schemas.microsoft.com/office/powerpoint/2010/main" val="14118915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C8CC8-65D3-08AC-79F6-9D995130DC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E768FB15-8AFE-5F07-0D1C-B7642CFF007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9CA248E3-01DC-B6EB-903D-CD402022CD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5E98BE-1CB0-C582-8A3C-622335CF625F}"/>
              </a:ext>
            </a:extLst>
          </p:cNvPr>
          <p:cNvSpPr>
            <a:spLocks noGrp="1"/>
          </p:cNvSpPr>
          <p:nvPr>
            <p:ph type="dt" sz="half" idx="10"/>
          </p:nvPr>
        </p:nvSpPr>
        <p:spPr/>
        <p:txBody>
          <a:bodyPr/>
          <a:lstStyle/>
          <a:p>
            <a:fld id="{01A28B2F-B325-45E9-9465-5B309D137143}" type="datetimeFigureOut">
              <a:rPr lang="en-AU" smtClean="0"/>
              <a:t>31/03/2026</a:t>
            </a:fld>
            <a:endParaRPr lang="en-AU"/>
          </a:p>
        </p:txBody>
      </p:sp>
      <p:sp>
        <p:nvSpPr>
          <p:cNvPr id="6" name="Footer Placeholder 5">
            <a:extLst>
              <a:ext uri="{FF2B5EF4-FFF2-40B4-BE49-F238E27FC236}">
                <a16:creationId xmlns:a16="http://schemas.microsoft.com/office/drawing/2014/main" id="{ACC6B040-E069-9C70-953E-F45D558C103A}"/>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E065786D-C758-2AD7-D361-4A9000683986}"/>
              </a:ext>
            </a:extLst>
          </p:cNvPr>
          <p:cNvSpPr>
            <a:spLocks noGrp="1"/>
          </p:cNvSpPr>
          <p:nvPr>
            <p:ph type="sldNum" sz="quarter" idx="12"/>
          </p:nvPr>
        </p:nvSpPr>
        <p:spPr/>
        <p:txBody>
          <a:bodyPr/>
          <a:lstStyle/>
          <a:p>
            <a:fld id="{9C045542-16FA-4226-AEB4-61E47D0A3686}" type="slidenum">
              <a:rPr lang="en-AU" smtClean="0"/>
              <a:t>‹#›</a:t>
            </a:fld>
            <a:endParaRPr lang="en-AU"/>
          </a:p>
        </p:txBody>
      </p:sp>
    </p:spTree>
    <p:extLst>
      <p:ext uri="{BB962C8B-B14F-4D97-AF65-F5344CB8AC3E}">
        <p14:creationId xmlns:p14="http://schemas.microsoft.com/office/powerpoint/2010/main" val="2683598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00C52-07F1-8200-D0DC-898C13A8CEE8}"/>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69F294D7-E230-3511-1212-23AD212F4F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19C862FF-BC9D-3384-9D1D-622A13C067E2}"/>
              </a:ext>
            </a:extLst>
          </p:cNvPr>
          <p:cNvSpPr>
            <a:spLocks noGrp="1"/>
          </p:cNvSpPr>
          <p:nvPr>
            <p:ph type="dt" sz="half" idx="10"/>
          </p:nvPr>
        </p:nvSpPr>
        <p:spPr/>
        <p:txBody>
          <a:bodyPr/>
          <a:lstStyle/>
          <a:p>
            <a:fld id="{01A28B2F-B325-45E9-9465-5B309D137143}" type="datetimeFigureOut">
              <a:rPr lang="en-AU" smtClean="0"/>
              <a:t>31/03/2026</a:t>
            </a:fld>
            <a:endParaRPr lang="en-AU"/>
          </a:p>
        </p:txBody>
      </p:sp>
      <p:sp>
        <p:nvSpPr>
          <p:cNvPr id="5" name="Footer Placeholder 4">
            <a:extLst>
              <a:ext uri="{FF2B5EF4-FFF2-40B4-BE49-F238E27FC236}">
                <a16:creationId xmlns:a16="http://schemas.microsoft.com/office/drawing/2014/main" id="{68585956-FF6D-5D2C-2529-D3698A2955E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61E4E19-AFC2-FE11-FF15-FA9F1F5018CB}"/>
              </a:ext>
            </a:extLst>
          </p:cNvPr>
          <p:cNvSpPr>
            <a:spLocks noGrp="1"/>
          </p:cNvSpPr>
          <p:nvPr>
            <p:ph type="sldNum" sz="quarter" idx="12"/>
          </p:nvPr>
        </p:nvSpPr>
        <p:spPr/>
        <p:txBody>
          <a:bodyPr/>
          <a:lstStyle/>
          <a:p>
            <a:fld id="{9C045542-16FA-4226-AEB4-61E47D0A3686}" type="slidenum">
              <a:rPr lang="en-AU" smtClean="0"/>
              <a:t>‹#›</a:t>
            </a:fld>
            <a:endParaRPr lang="en-AU"/>
          </a:p>
        </p:txBody>
      </p:sp>
    </p:spTree>
    <p:extLst>
      <p:ext uri="{BB962C8B-B14F-4D97-AF65-F5344CB8AC3E}">
        <p14:creationId xmlns:p14="http://schemas.microsoft.com/office/powerpoint/2010/main" val="24870896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AC15E6-4447-CCE9-50C3-FD076437A6A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FC3E827B-74E7-483A-E75D-64595C9E060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155BFEF0-3D59-D67A-A243-438EED7C0B83}"/>
              </a:ext>
            </a:extLst>
          </p:cNvPr>
          <p:cNvSpPr>
            <a:spLocks noGrp="1"/>
          </p:cNvSpPr>
          <p:nvPr>
            <p:ph type="dt" sz="half" idx="10"/>
          </p:nvPr>
        </p:nvSpPr>
        <p:spPr/>
        <p:txBody>
          <a:bodyPr/>
          <a:lstStyle/>
          <a:p>
            <a:fld id="{01A28B2F-B325-45E9-9465-5B309D137143}" type="datetimeFigureOut">
              <a:rPr lang="en-AU" smtClean="0"/>
              <a:t>31/03/2026</a:t>
            </a:fld>
            <a:endParaRPr lang="en-AU"/>
          </a:p>
        </p:txBody>
      </p:sp>
      <p:sp>
        <p:nvSpPr>
          <p:cNvPr id="5" name="Footer Placeholder 4">
            <a:extLst>
              <a:ext uri="{FF2B5EF4-FFF2-40B4-BE49-F238E27FC236}">
                <a16:creationId xmlns:a16="http://schemas.microsoft.com/office/drawing/2014/main" id="{EA47E762-A489-F28C-1E57-5C796BEAB4EA}"/>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2B26DDE-6841-48E5-4573-D9B40B55C497}"/>
              </a:ext>
            </a:extLst>
          </p:cNvPr>
          <p:cNvSpPr>
            <a:spLocks noGrp="1"/>
          </p:cNvSpPr>
          <p:nvPr>
            <p:ph type="sldNum" sz="quarter" idx="12"/>
          </p:nvPr>
        </p:nvSpPr>
        <p:spPr/>
        <p:txBody>
          <a:bodyPr/>
          <a:lstStyle/>
          <a:p>
            <a:fld id="{9C045542-16FA-4226-AEB4-61E47D0A3686}" type="slidenum">
              <a:rPr lang="en-AU" smtClean="0"/>
              <a:t>‹#›</a:t>
            </a:fld>
            <a:endParaRPr lang="en-AU"/>
          </a:p>
        </p:txBody>
      </p:sp>
    </p:spTree>
    <p:extLst>
      <p:ext uri="{BB962C8B-B14F-4D97-AF65-F5344CB8AC3E}">
        <p14:creationId xmlns:p14="http://schemas.microsoft.com/office/powerpoint/2010/main" val="35791572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124BE47-DB8E-699C-2763-F77EB3E352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934DF0D2-48E4-CF2D-3AD3-0F9CB81BFCD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79B67C5-EF88-D7EB-D84D-2E36F754971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1A28B2F-B325-45E9-9465-5B309D137143}" type="datetimeFigureOut">
              <a:rPr lang="en-AU" smtClean="0"/>
              <a:t>31/03/2026</a:t>
            </a:fld>
            <a:endParaRPr lang="en-AU"/>
          </a:p>
        </p:txBody>
      </p:sp>
      <p:sp>
        <p:nvSpPr>
          <p:cNvPr id="5" name="Footer Placeholder 4">
            <a:extLst>
              <a:ext uri="{FF2B5EF4-FFF2-40B4-BE49-F238E27FC236}">
                <a16:creationId xmlns:a16="http://schemas.microsoft.com/office/drawing/2014/main" id="{9737054A-7FD5-EC61-9A9A-9EC742589D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06BB3C53-E4AE-E227-D4FE-3E8ABBD7EC2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C045542-16FA-4226-AEB4-61E47D0A3686}" type="slidenum">
              <a:rPr lang="en-AU" smtClean="0"/>
              <a:t>‹#›</a:t>
            </a:fld>
            <a:endParaRPr lang="en-AU"/>
          </a:p>
        </p:txBody>
      </p:sp>
    </p:spTree>
    <p:extLst>
      <p:ext uri="{BB962C8B-B14F-4D97-AF65-F5344CB8AC3E}">
        <p14:creationId xmlns:p14="http://schemas.microsoft.com/office/powerpoint/2010/main" val="22767821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B62EB1F-E0B3-9602-7525-1B122AC294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1D5609F3-5AF0-589B-F696-0B21E04FE20F}"/>
              </a:ext>
            </a:extLst>
          </p:cNvPr>
          <p:cNvSpPr>
            <a:spLocks noGrp="1"/>
          </p:cNvSpPr>
          <p:nvPr>
            <p:ph type="ctrTitle"/>
          </p:nvPr>
        </p:nvSpPr>
        <p:spPr/>
        <p:txBody>
          <a:bodyPr/>
          <a:lstStyle/>
          <a:p>
            <a:r>
              <a:rPr lang="en-AU" dirty="0"/>
              <a:t>A Review of Early Excess Flux SNe Ia and Their Hosts   </a:t>
            </a:r>
          </a:p>
        </p:txBody>
      </p:sp>
      <p:sp>
        <p:nvSpPr>
          <p:cNvPr id="3" name="Subtitle 2">
            <a:extLst>
              <a:ext uri="{FF2B5EF4-FFF2-40B4-BE49-F238E27FC236}">
                <a16:creationId xmlns:a16="http://schemas.microsoft.com/office/drawing/2014/main" id="{5E2C3DB3-E7FF-EFF5-24BF-8C42BBF42D8D}"/>
              </a:ext>
            </a:extLst>
          </p:cNvPr>
          <p:cNvSpPr>
            <a:spLocks noGrp="1"/>
          </p:cNvSpPr>
          <p:nvPr>
            <p:ph type="subTitle" idx="1"/>
          </p:nvPr>
        </p:nvSpPr>
        <p:spPr/>
        <p:txBody>
          <a:bodyPr/>
          <a:lstStyle/>
          <a:p>
            <a:r>
              <a:rPr lang="en-AU" dirty="0"/>
              <a:t>Riley Webster </a:t>
            </a:r>
            <a:r>
              <a:rPr lang="en-AU"/>
              <a:t>and Anais Möller</a:t>
            </a:r>
            <a:endParaRPr lang="en-AU" dirty="0"/>
          </a:p>
          <a:p>
            <a:r>
              <a:rPr lang="en-AU" dirty="0"/>
              <a:t>Honours Project A</a:t>
            </a:r>
          </a:p>
          <a:p>
            <a:r>
              <a:rPr lang="en-AU" dirty="0"/>
              <a:t>Semester 1, 2026 </a:t>
            </a:r>
          </a:p>
        </p:txBody>
      </p:sp>
    </p:spTree>
    <p:extLst>
      <p:ext uri="{BB962C8B-B14F-4D97-AF65-F5344CB8AC3E}">
        <p14:creationId xmlns:p14="http://schemas.microsoft.com/office/powerpoint/2010/main" val="1631451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F6EEB9-0E96-B71E-0C10-36510AE026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5B89B038-8363-B96F-495F-88435C555673}"/>
              </a:ext>
            </a:extLst>
          </p:cNvPr>
          <p:cNvSpPr>
            <a:spLocks noGrp="1"/>
          </p:cNvSpPr>
          <p:nvPr>
            <p:ph type="title"/>
          </p:nvPr>
        </p:nvSpPr>
        <p:spPr/>
        <p:txBody>
          <a:bodyPr/>
          <a:lstStyle/>
          <a:p>
            <a:r>
              <a:rPr lang="en-AU" dirty="0"/>
              <a:t>Introduction	</a:t>
            </a:r>
          </a:p>
        </p:txBody>
      </p:sp>
      <p:sp>
        <p:nvSpPr>
          <p:cNvPr id="3" name="Content Placeholder 2">
            <a:extLst>
              <a:ext uri="{FF2B5EF4-FFF2-40B4-BE49-F238E27FC236}">
                <a16:creationId xmlns:a16="http://schemas.microsoft.com/office/drawing/2014/main" id="{666E6B7E-5F4D-C790-CFFB-1CF279E0EF64}"/>
              </a:ext>
            </a:extLst>
          </p:cNvPr>
          <p:cNvSpPr>
            <a:spLocks noGrp="1"/>
          </p:cNvSpPr>
          <p:nvPr>
            <p:ph idx="1"/>
          </p:nvPr>
        </p:nvSpPr>
        <p:spPr>
          <a:xfrm>
            <a:off x="838200" y="1825625"/>
            <a:ext cx="9787128" cy="4351338"/>
          </a:xfrm>
        </p:spPr>
        <p:txBody>
          <a:bodyPr>
            <a:normAutofit/>
          </a:bodyPr>
          <a:lstStyle/>
          <a:p>
            <a:r>
              <a:rPr lang="en-AU" dirty="0"/>
              <a:t>Communicate why SNe Ia are important because they are standardizable candles and can be used for cosmological calculations.</a:t>
            </a:r>
          </a:p>
          <a:p>
            <a:pPr marL="0" indent="0">
              <a:buNone/>
            </a:pPr>
            <a:endParaRPr lang="en-AU" dirty="0"/>
          </a:p>
        </p:txBody>
      </p:sp>
    </p:spTree>
    <p:extLst>
      <p:ext uri="{BB962C8B-B14F-4D97-AF65-F5344CB8AC3E}">
        <p14:creationId xmlns:p14="http://schemas.microsoft.com/office/powerpoint/2010/main" val="29857054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7F19348-401B-FC99-8DE5-F63E71F0B2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FE01431-6EAC-1DDB-F773-CA52BBD9DEBF}"/>
              </a:ext>
            </a:extLst>
          </p:cNvPr>
          <p:cNvSpPr>
            <a:spLocks noGrp="1"/>
          </p:cNvSpPr>
          <p:nvPr>
            <p:ph type="title"/>
          </p:nvPr>
        </p:nvSpPr>
        <p:spPr/>
        <p:txBody>
          <a:bodyPr/>
          <a:lstStyle/>
          <a:p>
            <a:r>
              <a:rPr lang="en-AU" dirty="0"/>
              <a:t>SNe Ia Physics		</a:t>
            </a:r>
          </a:p>
        </p:txBody>
      </p:sp>
      <p:sp>
        <p:nvSpPr>
          <p:cNvPr id="3" name="Content Placeholder 2">
            <a:extLst>
              <a:ext uri="{FF2B5EF4-FFF2-40B4-BE49-F238E27FC236}">
                <a16:creationId xmlns:a16="http://schemas.microsoft.com/office/drawing/2014/main" id="{94B3334D-4971-EF70-B7DA-621DDF9409E3}"/>
              </a:ext>
            </a:extLst>
          </p:cNvPr>
          <p:cNvSpPr>
            <a:spLocks noGrp="1"/>
          </p:cNvSpPr>
          <p:nvPr>
            <p:ph idx="1"/>
          </p:nvPr>
        </p:nvSpPr>
        <p:spPr/>
        <p:txBody>
          <a:bodyPr>
            <a:normAutofit/>
          </a:bodyPr>
          <a:lstStyle/>
          <a:p>
            <a:r>
              <a:rPr lang="en-AU" dirty="0"/>
              <a:t>Mention how that the two popular progenitor channels for SNe Ia are single degenerate and double degenerate cases.</a:t>
            </a:r>
          </a:p>
          <a:p>
            <a:pPr marL="0" indent="0">
              <a:buNone/>
            </a:pPr>
            <a:endParaRPr lang="en-AU" dirty="0"/>
          </a:p>
          <a:p>
            <a:r>
              <a:rPr lang="en-AU" dirty="0"/>
              <a:t>Explain how standardisation is by explaining what colour and stretch are and how the Tripp equation corrects for colour and stretch.</a:t>
            </a:r>
          </a:p>
          <a:p>
            <a:pPr marL="0" indent="0">
              <a:buNone/>
            </a:pPr>
            <a:endParaRPr lang="en-AU" dirty="0"/>
          </a:p>
        </p:txBody>
      </p:sp>
    </p:spTree>
    <p:extLst>
      <p:ext uri="{BB962C8B-B14F-4D97-AF65-F5344CB8AC3E}">
        <p14:creationId xmlns:p14="http://schemas.microsoft.com/office/powerpoint/2010/main" val="1587790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C4E09F2-D5A3-5470-58F4-227C9880BE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898C01F2-403E-1B28-A1A4-DB20333CCFE3}"/>
              </a:ext>
            </a:extLst>
          </p:cNvPr>
          <p:cNvSpPr>
            <a:spLocks noGrp="1"/>
          </p:cNvSpPr>
          <p:nvPr>
            <p:ph type="title"/>
          </p:nvPr>
        </p:nvSpPr>
        <p:spPr/>
        <p:txBody>
          <a:bodyPr/>
          <a:lstStyle/>
          <a:p>
            <a:r>
              <a:rPr lang="en-AU" dirty="0"/>
              <a:t>SNe Ia Physics	</a:t>
            </a:r>
          </a:p>
        </p:txBody>
      </p:sp>
      <p:sp>
        <p:nvSpPr>
          <p:cNvPr id="3" name="Content Placeholder 2">
            <a:extLst>
              <a:ext uri="{FF2B5EF4-FFF2-40B4-BE49-F238E27FC236}">
                <a16:creationId xmlns:a16="http://schemas.microsoft.com/office/drawing/2014/main" id="{CB84F266-4C36-F74A-28E0-193391E8F1FE}"/>
              </a:ext>
            </a:extLst>
          </p:cNvPr>
          <p:cNvSpPr>
            <a:spLocks noGrp="1"/>
          </p:cNvSpPr>
          <p:nvPr>
            <p:ph idx="1"/>
          </p:nvPr>
        </p:nvSpPr>
        <p:spPr>
          <a:xfrm>
            <a:off x="838200" y="1825625"/>
            <a:ext cx="9677400" cy="4351338"/>
          </a:xfrm>
        </p:spPr>
        <p:txBody>
          <a:bodyPr/>
          <a:lstStyle/>
          <a:p>
            <a:r>
              <a:rPr lang="en-AU" dirty="0"/>
              <a:t>Introduce the early excess flux SNe Ia and show their light curves compared to a ‘normal’ SNe Ia light curve.</a:t>
            </a:r>
          </a:p>
          <a:p>
            <a:endParaRPr lang="en-AU" dirty="0"/>
          </a:p>
          <a:p>
            <a:r>
              <a:rPr lang="en-AU" dirty="0"/>
              <a:t>Describe the proposed physical mechanism that produce the early excess such as the nickel distributions, ejecta companion interaction and possible CSM interaction.</a:t>
            </a:r>
          </a:p>
          <a:p>
            <a:pPr marL="0" indent="0">
              <a:buNone/>
            </a:pPr>
            <a:endParaRPr lang="en-AU" dirty="0"/>
          </a:p>
        </p:txBody>
      </p:sp>
    </p:spTree>
    <p:extLst>
      <p:ext uri="{BB962C8B-B14F-4D97-AF65-F5344CB8AC3E}">
        <p14:creationId xmlns:p14="http://schemas.microsoft.com/office/powerpoint/2010/main" val="24523266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9C67840-4287-4411-DE2F-52855A7481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818C63AB-6315-7F38-6415-DAAEFC8D1CDE}"/>
              </a:ext>
            </a:extLst>
          </p:cNvPr>
          <p:cNvSpPr>
            <a:spLocks noGrp="1"/>
          </p:cNvSpPr>
          <p:nvPr>
            <p:ph type="title"/>
          </p:nvPr>
        </p:nvSpPr>
        <p:spPr/>
        <p:txBody>
          <a:bodyPr/>
          <a:lstStyle/>
          <a:p>
            <a:r>
              <a:rPr lang="en-AU" dirty="0"/>
              <a:t>Host Galaxy Environments</a:t>
            </a:r>
          </a:p>
        </p:txBody>
      </p:sp>
      <p:sp>
        <p:nvSpPr>
          <p:cNvPr id="3" name="Content Placeholder 2">
            <a:extLst>
              <a:ext uri="{FF2B5EF4-FFF2-40B4-BE49-F238E27FC236}">
                <a16:creationId xmlns:a16="http://schemas.microsoft.com/office/drawing/2014/main" id="{6688A419-F0FC-D06B-A5A1-742608EC3F53}"/>
              </a:ext>
            </a:extLst>
          </p:cNvPr>
          <p:cNvSpPr>
            <a:spLocks noGrp="1"/>
          </p:cNvSpPr>
          <p:nvPr>
            <p:ph idx="1"/>
          </p:nvPr>
        </p:nvSpPr>
        <p:spPr>
          <a:xfrm>
            <a:off x="838200" y="1825625"/>
            <a:ext cx="9293352" cy="4351338"/>
          </a:xfrm>
        </p:spPr>
        <p:txBody>
          <a:bodyPr/>
          <a:lstStyle/>
          <a:p>
            <a:pPr marL="0" indent="0">
              <a:buNone/>
            </a:pPr>
            <a:endParaRPr lang="en-AU" dirty="0"/>
          </a:p>
          <a:p>
            <a:r>
              <a:rPr lang="en-AU" dirty="0"/>
              <a:t>Describe the host galaxy mass step and how SNe Ia appear brighter in hosts with higher stellar masses and lower </a:t>
            </a:r>
            <a:r>
              <a:rPr lang="en-AU" dirty="0" err="1"/>
              <a:t>sSFR</a:t>
            </a:r>
            <a:r>
              <a:rPr lang="en-AU" dirty="0"/>
              <a:t> post standardisation. </a:t>
            </a:r>
          </a:p>
          <a:p>
            <a:endParaRPr lang="en-AU" dirty="0"/>
          </a:p>
          <a:p>
            <a:r>
              <a:rPr lang="en-AU" dirty="0"/>
              <a:t>Describe how correlations with local environment variables such as </a:t>
            </a:r>
            <a:r>
              <a:rPr lang="en-AU" dirty="0" err="1"/>
              <a:t>lsSFR</a:t>
            </a:r>
            <a:r>
              <a:rPr lang="en-AU" dirty="0"/>
              <a:t> and EW [OII] are improved standardisation tools than the mass step. </a:t>
            </a:r>
          </a:p>
        </p:txBody>
      </p:sp>
    </p:spTree>
    <p:extLst>
      <p:ext uri="{BB962C8B-B14F-4D97-AF65-F5344CB8AC3E}">
        <p14:creationId xmlns:p14="http://schemas.microsoft.com/office/powerpoint/2010/main" val="37414205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1191619-22A1-49DC-D40D-E5A232C5BC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0616BCB-5670-4C35-046A-9AD3A5C2E8E6}"/>
              </a:ext>
            </a:extLst>
          </p:cNvPr>
          <p:cNvSpPr>
            <a:spLocks noGrp="1"/>
          </p:cNvSpPr>
          <p:nvPr>
            <p:ph type="title"/>
          </p:nvPr>
        </p:nvSpPr>
        <p:spPr/>
        <p:txBody>
          <a:bodyPr/>
          <a:lstStyle/>
          <a:p>
            <a:r>
              <a:rPr lang="en-AU" dirty="0"/>
              <a:t>Early Excess and Host Environments</a:t>
            </a:r>
          </a:p>
        </p:txBody>
      </p:sp>
      <p:sp>
        <p:nvSpPr>
          <p:cNvPr id="3" name="Content Placeholder 2">
            <a:extLst>
              <a:ext uri="{FF2B5EF4-FFF2-40B4-BE49-F238E27FC236}">
                <a16:creationId xmlns:a16="http://schemas.microsoft.com/office/drawing/2014/main" id="{ECE88610-2531-EB44-2FDE-F3856D1AF884}"/>
              </a:ext>
            </a:extLst>
          </p:cNvPr>
          <p:cNvSpPr>
            <a:spLocks noGrp="1"/>
          </p:cNvSpPr>
          <p:nvPr>
            <p:ph idx="1"/>
          </p:nvPr>
        </p:nvSpPr>
        <p:spPr>
          <a:xfrm>
            <a:off x="838200" y="1825625"/>
            <a:ext cx="10098024" cy="4351338"/>
          </a:xfrm>
        </p:spPr>
        <p:txBody>
          <a:bodyPr/>
          <a:lstStyle/>
          <a:p>
            <a:r>
              <a:rPr lang="en-AU" dirty="0"/>
              <a:t>If early flux excesses correlate with specific environmental properties this could help identify the progenitor properties of early excess and it could help constrain SNe Ia to include in cosmological samples</a:t>
            </a:r>
          </a:p>
          <a:p>
            <a:r>
              <a:rPr lang="en-AU" dirty="0"/>
              <a:t>Due to how limited sample sizes have been of early excess SNe Ia have been they have been difficult to study. Now with LSST the chances of finding them are greater, opening up the possibility of studying the objects.</a:t>
            </a:r>
          </a:p>
        </p:txBody>
      </p:sp>
    </p:spTree>
    <p:extLst>
      <p:ext uri="{BB962C8B-B14F-4D97-AF65-F5344CB8AC3E}">
        <p14:creationId xmlns:p14="http://schemas.microsoft.com/office/powerpoint/2010/main" val="41099292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03D765F-E034-C9FA-551E-0CA2E6E6B2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071D7AD-DA65-6B8B-1F47-2D014A9CE896}"/>
              </a:ext>
            </a:extLst>
          </p:cNvPr>
          <p:cNvSpPr>
            <a:spLocks noGrp="1"/>
          </p:cNvSpPr>
          <p:nvPr>
            <p:ph type="title"/>
          </p:nvPr>
        </p:nvSpPr>
        <p:spPr/>
        <p:txBody>
          <a:bodyPr/>
          <a:lstStyle/>
          <a:p>
            <a:r>
              <a:rPr lang="en-AU" dirty="0"/>
              <a:t>Rubin, LSST and Fink </a:t>
            </a:r>
          </a:p>
        </p:txBody>
      </p:sp>
      <p:sp>
        <p:nvSpPr>
          <p:cNvPr id="3" name="Content Placeholder 2">
            <a:extLst>
              <a:ext uri="{FF2B5EF4-FFF2-40B4-BE49-F238E27FC236}">
                <a16:creationId xmlns:a16="http://schemas.microsoft.com/office/drawing/2014/main" id="{2C9A65E8-15EF-C574-A4E0-B2D7BCAF3F4D}"/>
              </a:ext>
            </a:extLst>
          </p:cNvPr>
          <p:cNvSpPr>
            <a:spLocks noGrp="1"/>
          </p:cNvSpPr>
          <p:nvPr>
            <p:ph idx="1"/>
          </p:nvPr>
        </p:nvSpPr>
        <p:spPr>
          <a:xfrm>
            <a:off x="838200" y="1825625"/>
            <a:ext cx="10125456" cy="4351338"/>
          </a:xfrm>
        </p:spPr>
        <p:txBody>
          <a:bodyPr/>
          <a:lstStyle/>
          <a:p>
            <a:r>
              <a:rPr lang="en-AU" dirty="0"/>
              <a:t>Describe how Rubin enables the LSST survey which produces a high volume of alerts per night. </a:t>
            </a:r>
          </a:p>
          <a:p>
            <a:endParaRPr lang="en-AU" dirty="0"/>
          </a:p>
          <a:p>
            <a:r>
              <a:rPr lang="en-AU" dirty="0"/>
              <a:t>High volume of alerts necessitates the use of the Fink broker to derive samples for study without tedious visual inspection.</a:t>
            </a:r>
          </a:p>
          <a:p>
            <a:endParaRPr lang="en-AU" dirty="0"/>
          </a:p>
          <a:p>
            <a:r>
              <a:rPr lang="en-AU" dirty="0"/>
              <a:t>Describe how Fink’s specific active learning architecture will help enable faster initial analysis of the interesting alerts. </a:t>
            </a:r>
          </a:p>
        </p:txBody>
      </p:sp>
    </p:spTree>
    <p:extLst>
      <p:ext uri="{BB962C8B-B14F-4D97-AF65-F5344CB8AC3E}">
        <p14:creationId xmlns:p14="http://schemas.microsoft.com/office/powerpoint/2010/main" val="6437757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87603D6-85A9-58B4-1F4C-A02ACFB1AF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4DAD0EE-5A20-2929-24D4-776ECF2C9BA5}"/>
              </a:ext>
            </a:extLst>
          </p:cNvPr>
          <p:cNvSpPr>
            <a:spLocks noGrp="1"/>
          </p:cNvSpPr>
          <p:nvPr>
            <p:ph type="title"/>
          </p:nvPr>
        </p:nvSpPr>
        <p:spPr/>
        <p:txBody>
          <a:bodyPr/>
          <a:lstStyle/>
          <a:p>
            <a:r>
              <a:rPr lang="en-AU" dirty="0"/>
              <a:t>Aims</a:t>
            </a:r>
          </a:p>
        </p:txBody>
      </p:sp>
      <p:sp>
        <p:nvSpPr>
          <p:cNvPr id="3" name="Content Placeholder 2">
            <a:extLst>
              <a:ext uri="{FF2B5EF4-FFF2-40B4-BE49-F238E27FC236}">
                <a16:creationId xmlns:a16="http://schemas.microsoft.com/office/drawing/2014/main" id="{5DB9041A-8BE0-4984-F4FD-5191EB1FC8C3}"/>
              </a:ext>
            </a:extLst>
          </p:cNvPr>
          <p:cNvSpPr>
            <a:spLocks noGrp="1"/>
          </p:cNvSpPr>
          <p:nvPr>
            <p:ph idx="1"/>
          </p:nvPr>
        </p:nvSpPr>
        <p:spPr/>
        <p:txBody>
          <a:bodyPr/>
          <a:lstStyle/>
          <a:p>
            <a:r>
              <a:rPr lang="en-AU" dirty="0"/>
              <a:t>To detect and classify the early excess flux SNe Ia and investigate incidence rate as a function of host galaxy properties such as stellar mass, </a:t>
            </a:r>
            <a:r>
              <a:rPr lang="en-AU" dirty="0" err="1"/>
              <a:t>sSFR</a:t>
            </a:r>
            <a:r>
              <a:rPr lang="en-AU" dirty="0"/>
              <a:t> and colour. </a:t>
            </a:r>
          </a:p>
          <a:p>
            <a:pPr marL="0" indent="0">
              <a:buNone/>
            </a:pPr>
            <a:endParaRPr lang="en-AU" dirty="0"/>
          </a:p>
        </p:txBody>
      </p:sp>
    </p:spTree>
    <p:extLst>
      <p:ext uri="{BB962C8B-B14F-4D97-AF65-F5344CB8AC3E}">
        <p14:creationId xmlns:p14="http://schemas.microsoft.com/office/powerpoint/2010/main" val="1013504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CF574DC-4061-64A8-AC59-2B0A2C2A1F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1D5E06E-FEB0-5583-C474-C6291C4A628C}"/>
              </a:ext>
            </a:extLst>
          </p:cNvPr>
          <p:cNvSpPr>
            <a:spLocks noGrp="1"/>
          </p:cNvSpPr>
          <p:nvPr>
            <p:ph type="title"/>
          </p:nvPr>
        </p:nvSpPr>
        <p:spPr/>
        <p:txBody>
          <a:bodyPr/>
          <a:lstStyle/>
          <a:p>
            <a:r>
              <a:rPr lang="en-AU" dirty="0"/>
              <a:t>Planned Method</a:t>
            </a:r>
          </a:p>
        </p:txBody>
      </p:sp>
      <p:sp>
        <p:nvSpPr>
          <p:cNvPr id="3" name="Content Placeholder 2">
            <a:extLst>
              <a:ext uri="{FF2B5EF4-FFF2-40B4-BE49-F238E27FC236}">
                <a16:creationId xmlns:a16="http://schemas.microsoft.com/office/drawing/2014/main" id="{0DE6BE5B-DA27-4C06-E559-3561B9464E7E}"/>
              </a:ext>
            </a:extLst>
          </p:cNvPr>
          <p:cNvSpPr>
            <a:spLocks noGrp="1"/>
          </p:cNvSpPr>
          <p:nvPr>
            <p:ph idx="1"/>
          </p:nvPr>
        </p:nvSpPr>
        <p:spPr>
          <a:xfrm>
            <a:off x="838200" y="1825625"/>
            <a:ext cx="9110472" cy="4351338"/>
          </a:xfrm>
        </p:spPr>
        <p:txBody>
          <a:bodyPr>
            <a:normAutofit/>
          </a:bodyPr>
          <a:lstStyle/>
          <a:p>
            <a:r>
              <a:rPr lang="en-AU" dirty="0"/>
              <a:t>Use Fink to gather the sample of early excess flux candidates for Ias.</a:t>
            </a:r>
          </a:p>
          <a:p>
            <a:r>
              <a:rPr lang="en-AU" dirty="0"/>
              <a:t>Using SALT3 light curve fitting model to correct for stretch and colour and identify SNe. Using residuals method from Deckers et al., 2022 to find </a:t>
            </a:r>
            <a:r>
              <a:rPr lang="en-AU" dirty="0" err="1"/>
              <a:t>Eex</a:t>
            </a:r>
            <a:r>
              <a:rPr lang="en-AU" dirty="0"/>
              <a:t>.</a:t>
            </a:r>
          </a:p>
          <a:p>
            <a:r>
              <a:rPr lang="en-AU" dirty="0"/>
              <a:t>Host matching using DLR method to determine the hosts of the samples SNe Ia.</a:t>
            </a:r>
          </a:p>
          <a:p>
            <a:r>
              <a:rPr lang="en-AU" dirty="0"/>
              <a:t>Binning of </a:t>
            </a:r>
            <a:r>
              <a:rPr lang="en-AU" dirty="0" err="1"/>
              <a:t>EEx</a:t>
            </a:r>
            <a:r>
              <a:rPr lang="en-AU" dirty="0"/>
              <a:t> SNe Ia against host galaxy properties to determine if there is a trend in where SNe Ia occur.</a:t>
            </a:r>
          </a:p>
          <a:p>
            <a:pPr marL="0" indent="0">
              <a:buNone/>
            </a:pPr>
            <a:endParaRPr lang="en-AU" dirty="0"/>
          </a:p>
        </p:txBody>
      </p:sp>
    </p:spTree>
    <p:extLst>
      <p:ext uri="{BB962C8B-B14F-4D97-AF65-F5344CB8AC3E}">
        <p14:creationId xmlns:p14="http://schemas.microsoft.com/office/powerpoint/2010/main" val="28986171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208</TotalTime>
  <Words>444</Words>
  <Application>Microsoft Office PowerPoint</Application>
  <PresentationFormat>Widescreen</PresentationFormat>
  <Paragraphs>35</Paragraphs>
  <Slides>9</Slides>
  <Notes>0</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A Review of Early Excess Flux SNe Ia and Their Hosts   </vt:lpstr>
      <vt:lpstr>Introduction </vt:lpstr>
      <vt:lpstr>SNe Ia Physics  </vt:lpstr>
      <vt:lpstr>SNe Ia Physics </vt:lpstr>
      <vt:lpstr>Host Galaxy Environments</vt:lpstr>
      <vt:lpstr>Early Excess and Host Environments</vt:lpstr>
      <vt:lpstr>Rubin, LSST and Fink </vt:lpstr>
      <vt:lpstr>Aims</vt:lpstr>
      <vt:lpstr>Planned Method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Riley Webster</dc:creator>
  <cp:lastModifiedBy>Riley Webster</cp:lastModifiedBy>
  <cp:revision>6</cp:revision>
  <dcterms:created xsi:type="dcterms:W3CDTF">2026-03-25T22:35:59Z</dcterms:created>
  <dcterms:modified xsi:type="dcterms:W3CDTF">2026-03-31T04:24:38Z</dcterms:modified>
</cp:coreProperties>
</file>