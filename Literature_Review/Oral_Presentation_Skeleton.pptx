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35B6-31F2-960A-42FA-61BD198D4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EF7D207-138F-C426-B22A-B815CD3BAB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5B377C2-C234-7C6A-4CDF-D1255E6B9A6B}"/>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23C4120B-F243-F9C4-879D-327DB5CA98E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9B72B7C-D18F-148B-CBA4-EE261CEEE32E}"/>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39777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6F1C-B9EE-9AAB-2054-EBA31759DE4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8D94D2D-B19D-CDDE-C995-F951EE3F91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2FECD94-BE54-D3DE-992D-0FFE9E770FC5}"/>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4791C3A5-2960-06B6-7573-3889EB31D98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839C7C9-09E5-F2C0-E97E-CCC3D64BE465}"/>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332125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6186-6F1A-99EE-ADF5-4F499936E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6132D3-0529-1FBF-703D-FF9478B75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66D73-0E24-C7D5-8856-56AF162C1D00}"/>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95DF6D9E-B93F-63E4-B39D-2A12E0C8A81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061F7E-E78A-3C49-80C5-62F48D4D1DA2}"/>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7748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6BD9-1822-126B-B266-CB1B0464C64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E22214C-0B52-E77D-6BEC-EEC667BFC6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EC60CE6-BAC4-D6C1-7901-794FA70AF9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223F7B-F619-887A-A18E-9CC269BE445C}"/>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6" name="Footer Placeholder 5">
            <a:extLst>
              <a:ext uri="{FF2B5EF4-FFF2-40B4-BE49-F238E27FC236}">
                <a16:creationId xmlns:a16="http://schemas.microsoft.com/office/drawing/2014/main" id="{38BD043F-FFC8-B4C6-8ED9-4A8A3015720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A92B86F-1247-5D5C-C9CA-5653B6392198}"/>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5001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1133-AB13-E9E7-808D-3D705D5658D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50BF3E2-983C-C45E-3CB2-47980AE185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6CC56C-E0CB-744E-E859-1ACFFCCA6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10E473F-E587-4044-AB41-41EFA2054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BFB72-4A4A-153E-5146-C30C477050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F299B49-6D45-6D15-6190-728DD825DC4C}"/>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8" name="Footer Placeholder 7">
            <a:extLst>
              <a:ext uri="{FF2B5EF4-FFF2-40B4-BE49-F238E27FC236}">
                <a16:creationId xmlns:a16="http://schemas.microsoft.com/office/drawing/2014/main" id="{E4B8C701-F93B-E63A-18DA-BA18679AFC8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46F8C8B-A57F-A63A-941B-A4E8D347B5F3}"/>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1175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9AABC-D11A-DFA7-8796-6E8DC089B1F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8526FD5-10DE-E6DD-3EB8-C23F5C6A4A6A}"/>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4" name="Footer Placeholder 3">
            <a:extLst>
              <a:ext uri="{FF2B5EF4-FFF2-40B4-BE49-F238E27FC236}">
                <a16:creationId xmlns:a16="http://schemas.microsoft.com/office/drawing/2014/main" id="{8CF3B265-8380-1305-E4BD-F05777A9363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AFB644D-F1BA-F0D8-C3D5-F47F038859A7}"/>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521771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5F694-DEDC-A6C3-B403-25B9BF7C4D89}"/>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3" name="Footer Placeholder 2">
            <a:extLst>
              <a:ext uri="{FF2B5EF4-FFF2-40B4-BE49-F238E27FC236}">
                <a16:creationId xmlns:a16="http://schemas.microsoft.com/office/drawing/2014/main" id="{D10C155F-11BF-C294-4AA1-CC98003D2E8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48C35453-864F-C5F2-17C1-88BB33121274}"/>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760002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26E7-F638-853C-7B65-43C4C02E2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9B8A88F-A1B1-8911-58C2-7D7BA923C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3806E63-5820-BEFD-8484-AD29D6EFD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CB61FE-C571-A57A-BED6-D5BA55F11BE2}"/>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6" name="Footer Placeholder 5">
            <a:extLst>
              <a:ext uri="{FF2B5EF4-FFF2-40B4-BE49-F238E27FC236}">
                <a16:creationId xmlns:a16="http://schemas.microsoft.com/office/drawing/2014/main" id="{E3A6B788-D65D-63EA-B174-929D9DE13B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FA4CCE-A6DA-D66C-38CA-A4A89C4FCFE0}"/>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14118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8CC8-65D3-08AC-79F6-9D995130D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768FB15-8AFE-5F07-0D1C-B7642CFF0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CA248E3-01DC-B6EB-903D-CD402022C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E98BE-1CB0-C582-8A3C-622335CF625F}"/>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6" name="Footer Placeholder 5">
            <a:extLst>
              <a:ext uri="{FF2B5EF4-FFF2-40B4-BE49-F238E27FC236}">
                <a16:creationId xmlns:a16="http://schemas.microsoft.com/office/drawing/2014/main" id="{ACC6B040-E069-9C70-953E-F45D558C10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065786D-C758-2AD7-D361-4A9000683986}"/>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683598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0C52-07F1-8200-D0DC-898C13A8CEE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F294D7-E230-3511-1212-23AD212F4F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9C862FF-BC9D-3384-9D1D-622A13C067E2}"/>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68585956-FF6D-5D2C-2529-D3698A2955E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61E4E19-AFC2-FE11-FF15-FA9F1F5018CB}"/>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2487089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C15E6-4447-CCE9-50C3-FD076437A6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C3E827B-74E7-483A-E75D-64595C9E06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55BFEF0-3D59-D67A-A243-438EED7C0B83}"/>
              </a:ext>
            </a:extLst>
          </p:cNvPr>
          <p:cNvSpPr>
            <a:spLocks noGrp="1"/>
          </p:cNvSpPr>
          <p:nvPr>
            <p:ph type="dt" sz="half" idx="10"/>
          </p:nvPr>
        </p:nvSpPr>
        <p:spPr/>
        <p:txBody>
          <a:body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EA47E762-A489-F28C-1E57-5C796BEAB4E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B26DDE-6841-48E5-4573-D9B40B55C497}"/>
              </a:ext>
            </a:extLst>
          </p:cNvPr>
          <p:cNvSpPr>
            <a:spLocks noGrp="1"/>
          </p:cNvSpPr>
          <p:nvPr>
            <p:ph type="sldNum" sz="quarter" idx="12"/>
          </p:nvPr>
        </p:nvSpPr>
        <p:spPr/>
        <p:txBody>
          <a:bodyPr/>
          <a:lstStyle/>
          <a:p>
            <a:fld id="{9C045542-16FA-4226-AEB4-61E47D0A3686}" type="slidenum">
              <a:rPr lang="en-AU" smtClean="0"/>
              <a:t>‹#›</a:t>
            </a:fld>
            <a:endParaRPr lang="en-AU"/>
          </a:p>
        </p:txBody>
      </p:sp>
    </p:spTree>
    <p:extLst>
      <p:ext uri="{BB962C8B-B14F-4D97-AF65-F5344CB8AC3E}">
        <p14:creationId xmlns:p14="http://schemas.microsoft.com/office/powerpoint/2010/main" val="357915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4BE47-DB8E-699C-2763-F77EB3E35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34DF0D2-48E4-CF2D-3AD3-0F9CB81BFC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79B67C5-EF88-D7EB-D84D-2E36F7549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A28B2F-B325-45E9-9465-5B309D137143}" type="datetimeFigureOut">
              <a:rPr lang="en-AU" smtClean="0"/>
              <a:t>26/03/2026</a:t>
            </a:fld>
            <a:endParaRPr lang="en-AU"/>
          </a:p>
        </p:txBody>
      </p:sp>
      <p:sp>
        <p:nvSpPr>
          <p:cNvPr id="5" name="Footer Placeholder 4">
            <a:extLst>
              <a:ext uri="{FF2B5EF4-FFF2-40B4-BE49-F238E27FC236}">
                <a16:creationId xmlns:a16="http://schemas.microsoft.com/office/drawing/2014/main" id="{9737054A-7FD5-EC61-9A9A-9EC742589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6BB3C53-E4AE-E227-D4FE-3E8ABBD7EC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045542-16FA-4226-AEB4-61E47D0A3686}" type="slidenum">
              <a:rPr lang="en-AU" smtClean="0"/>
              <a:t>‹#›</a:t>
            </a:fld>
            <a:endParaRPr lang="en-AU"/>
          </a:p>
        </p:txBody>
      </p:sp>
    </p:spTree>
    <p:extLst>
      <p:ext uri="{BB962C8B-B14F-4D97-AF65-F5344CB8AC3E}">
        <p14:creationId xmlns:p14="http://schemas.microsoft.com/office/powerpoint/2010/main" val="2276782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62EB1F-E0B3-9602-7525-1B122AC29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D5609F3-5AF0-589B-F696-0B21E04FE20F}"/>
              </a:ext>
            </a:extLst>
          </p:cNvPr>
          <p:cNvSpPr>
            <a:spLocks noGrp="1"/>
          </p:cNvSpPr>
          <p:nvPr>
            <p:ph type="ctrTitle"/>
          </p:nvPr>
        </p:nvSpPr>
        <p:spPr/>
        <p:txBody>
          <a:bodyPr/>
          <a:lstStyle/>
          <a:p>
            <a:r>
              <a:rPr lang="en-AU" dirty="0"/>
              <a:t>A Review of Early Excess Flux SNe Ia and Their Hosts   </a:t>
            </a:r>
          </a:p>
        </p:txBody>
      </p:sp>
      <p:sp>
        <p:nvSpPr>
          <p:cNvPr id="3" name="Subtitle 2">
            <a:extLst>
              <a:ext uri="{FF2B5EF4-FFF2-40B4-BE49-F238E27FC236}">
                <a16:creationId xmlns:a16="http://schemas.microsoft.com/office/drawing/2014/main" id="{5E2C3DB3-E7FF-EFF5-24BF-8C42BBF42D8D}"/>
              </a:ext>
            </a:extLst>
          </p:cNvPr>
          <p:cNvSpPr>
            <a:spLocks noGrp="1"/>
          </p:cNvSpPr>
          <p:nvPr>
            <p:ph type="subTitle" idx="1"/>
          </p:nvPr>
        </p:nvSpPr>
        <p:spPr/>
        <p:txBody>
          <a:bodyPr/>
          <a:lstStyle/>
          <a:p>
            <a:r>
              <a:rPr lang="en-AU" dirty="0"/>
              <a:t>Riley Webster</a:t>
            </a:r>
          </a:p>
          <a:p>
            <a:r>
              <a:rPr lang="en-AU" dirty="0"/>
              <a:t>Honours Project A</a:t>
            </a:r>
          </a:p>
          <a:p>
            <a:r>
              <a:rPr lang="en-AU" dirty="0"/>
              <a:t>Semester 1, 2026 </a:t>
            </a:r>
          </a:p>
        </p:txBody>
      </p:sp>
    </p:spTree>
    <p:extLst>
      <p:ext uri="{BB962C8B-B14F-4D97-AF65-F5344CB8AC3E}">
        <p14:creationId xmlns:p14="http://schemas.microsoft.com/office/powerpoint/2010/main" val="163145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F6EEB9-0E96-B71E-0C10-36510AE02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B89B038-8363-B96F-495F-88435C555673}"/>
              </a:ext>
            </a:extLst>
          </p:cNvPr>
          <p:cNvSpPr>
            <a:spLocks noGrp="1"/>
          </p:cNvSpPr>
          <p:nvPr>
            <p:ph type="title"/>
          </p:nvPr>
        </p:nvSpPr>
        <p:spPr/>
        <p:txBody>
          <a:bodyPr/>
          <a:lstStyle/>
          <a:p>
            <a:r>
              <a:rPr lang="en-AU" dirty="0"/>
              <a:t>Introduction	</a:t>
            </a:r>
          </a:p>
        </p:txBody>
      </p:sp>
      <p:sp>
        <p:nvSpPr>
          <p:cNvPr id="3" name="Content Placeholder 2">
            <a:extLst>
              <a:ext uri="{FF2B5EF4-FFF2-40B4-BE49-F238E27FC236}">
                <a16:creationId xmlns:a16="http://schemas.microsoft.com/office/drawing/2014/main" id="{666E6B7E-5F4D-C790-CFFB-1CF279E0EF64}"/>
              </a:ext>
            </a:extLst>
          </p:cNvPr>
          <p:cNvSpPr>
            <a:spLocks noGrp="1"/>
          </p:cNvSpPr>
          <p:nvPr>
            <p:ph idx="1"/>
          </p:nvPr>
        </p:nvSpPr>
        <p:spPr>
          <a:xfrm>
            <a:off x="838200" y="1825625"/>
            <a:ext cx="9787128" cy="4351338"/>
          </a:xfrm>
        </p:spPr>
        <p:txBody>
          <a:bodyPr>
            <a:normAutofit lnSpcReduction="10000"/>
          </a:bodyPr>
          <a:lstStyle/>
          <a:p>
            <a:r>
              <a:rPr lang="en-AU" dirty="0"/>
              <a:t>Define transients with a focus on type Ia supernova.</a:t>
            </a:r>
          </a:p>
          <a:p>
            <a:endParaRPr lang="en-AU" dirty="0"/>
          </a:p>
          <a:p>
            <a:r>
              <a:rPr lang="en-AU" dirty="0"/>
              <a:t>How the motivator is understanding more about explosion mechanics can result in better </a:t>
            </a:r>
            <a:r>
              <a:rPr lang="en-AU" dirty="0" err="1"/>
              <a:t>standardisability</a:t>
            </a:r>
            <a:r>
              <a:rPr lang="en-AU" dirty="0"/>
              <a:t> in light curves </a:t>
            </a:r>
          </a:p>
          <a:p>
            <a:endParaRPr lang="en-AU" dirty="0"/>
          </a:p>
          <a:p>
            <a:r>
              <a:rPr lang="en-AU" dirty="0"/>
              <a:t>Show the residual scatter in some current Hubble diagram.</a:t>
            </a:r>
          </a:p>
          <a:p>
            <a:endParaRPr lang="en-AU" dirty="0"/>
          </a:p>
          <a:p>
            <a:r>
              <a:rPr lang="en-AU" dirty="0"/>
              <a:t>Mention how LSST, Rubin and Fink provide the tools that enable research. </a:t>
            </a:r>
          </a:p>
        </p:txBody>
      </p:sp>
    </p:spTree>
    <p:extLst>
      <p:ext uri="{BB962C8B-B14F-4D97-AF65-F5344CB8AC3E}">
        <p14:creationId xmlns:p14="http://schemas.microsoft.com/office/powerpoint/2010/main" val="298570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F19348-401B-FC99-8DE5-F63E71F0B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E01431-6EAC-1DDB-F773-CA52BBD9DEBF}"/>
              </a:ext>
            </a:extLst>
          </p:cNvPr>
          <p:cNvSpPr>
            <a:spLocks noGrp="1"/>
          </p:cNvSpPr>
          <p:nvPr>
            <p:ph type="title"/>
          </p:nvPr>
        </p:nvSpPr>
        <p:spPr/>
        <p:txBody>
          <a:bodyPr/>
          <a:lstStyle/>
          <a:p>
            <a:r>
              <a:rPr lang="en-AU" dirty="0"/>
              <a:t>SNe Ia Physics		</a:t>
            </a:r>
          </a:p>
        </p:txBody>
      </p:sp>
      <p:sp>
        <p:nvSpPr>
          <p:cNvPr id="3" name="Content Placeholder 2">
            <a:extLst>
              <a:ext uri="{FF2B5EF4-FFF2-40B4-BE49-F238E27FC236}">
                <a16:creationId xmlns:a16="http://schemas.microsoft.com/office/drawing/2014/main" id="{94B3334D-4971-EF70-B7DA-621DDF9409E3}"/>
              </a:ext>
            </a:extLst>
          </p:cNvPr>
          <p:cNvSpPr>
            <a:spLocks noGrp="1"/>
          </p:cNvSpPr>
          <p:nvPr>
            <p:ph idx="1"/>
          </p:nvPr>
        </p:nvSpPr>
        <p:spPr/>
        <p:txBody>
          <a:bodyPr/>
          <a:lstStyle/>
          <a:p>
            <a:r>
              <a:rPr lang="en-AU" dirty="0"/>
              <a:t>Explain how standardisation using colour and light curve stretch is done for SNe Ia light curves using the Tripp equation</a:t>
            </a:r>
          </a:p>
          <a:p>
            <a:endParaRPr lang="en-AU" dirty="0"/>
          </a:p>
          <a:p>
            <a:r>
              <a:rPr lang="en-AU" dirty="0"/>
              <a:t>Describe the different progenitor channels and how the two popular ones (SD and DD) are determined.</a:t>
            </a:r>
          </a:p>
          <a:p>
            <a:endParaRPr lang="en-AU" dirty="0"/>
          </a:p>
          <a:p>
            <a:r>
              <a:rPr lang="en-AU" dirty="0"/>
              <a:t>Discuss how different progenitors require different nickel 56 masses and distributions</a:t>
            </a:r>
          </a:p>
        </p:txBody>
      </p:sp>
    </p:spTree>
    <p:extLst>
      <p:ext uri="{BB962C8B-B14F-4D97-AF65-F5344CB8AC3E}">
        <p14:creationId xmlns:p14="http://schemas.microsoft.com/office/powerpoint/2010/main" val="1587790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4E09F2-D5A3-5470-58F4-227C9880BE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98C01F2-403E-1B28-A1A4-DB20333CCFE3}"/>
              </a:ext>
            </a:extLst>
          </p:cNvPr>
          <p:cNvSpPr>
            <a:spLocks noGrp="1"/>
          </p:cNvSpPr>
          <p:nvPr>
            <p:ph type="title"/>
          </p:nvPr>
        </p:nvSpPr>
        <p:spPr/>
        <p:txBody>
          <a:bodyPr/>
          <a:lstStyle/>
          <a:p>
            <a:r>
              <a:rPr lang="en-AU" dirty="0"/>
              <a:t>SNe Ia Physics	</a:t>
            </a:r>
          </a:p>
        </p:txBody>
      </p:sp>
      <p:sp>
        <p:nvSpPr>
          <p:cNvPr id="3" name="Content Placeholder 2">
            <a:extLst>
              <a:ext uri="{FF2B5EF4-FFF2-40B4-BE49-F238E27FC236}">
                <a16:creationId xmlns:a16="http://schemas.microsoft.com/office/drawing/2014/main" id="{CB84F266-4C36-F74A-28E0-193391E8F1FE}"/>
              </a:ext>
            </a:extLst>
          </p:cNvPr>
          <p:cNvSpPr>
            <a:spLocks noGrp="1"/>
          </p:cNvSpPr>
          <p:nvPr>
            <p:ph idx="1"/>
          </p:nvPr>
        </p:nvSpPr>
        <p:spPr>
          <a:xfrm>
            <a:off x="838200" y="1825625"/>
            <a:ext cx="9677400" cy="4351338"/>
          </a:xfrm>
        </p:spPr>
        <p:txBody>
          <a:bodyPr/>
          <a:lstStyle/>
          <a:p>
            <a:r>
              <a:rPr lang="en-AU" dirty="0"/>
              <a:t>Describe early excess flux light curves (show a plot)</a:t>
            </a:r>
          </a:p>
          <a:p>
            <a:endParaRPr lang="en-AU" dirty="0"/>
          </a:p>
          <a:p>
            <a:r>
              <a:rPr lang="en-AU" dirty="0"/>
              <a:t>Describe the proposed physical mechanism that produce the early excess such as the nickel distributions, 	ejecta companion interaction and possible CSM interaction.</a:t>
            </a:r>
          </a:p>
          <a:p>
            <a:endParaRPr lang="en-AU" dirty="0"/>
          </a:p>
          <a:p>
            <a:r>
              <a:rPr lang="en-AU" dirty="0"/>
              <a:t>Mention how Decker et al., 2022 determined what light curves were considered excess flux.</a:t>
            </a:r>
          </a:p>
        </p:txBody>
      </p:sp>
    </p:spTree>
    <p:extLst>
      <p:ext uri="{BB962C8B-B14F-4D97-AF65-F5344CB8AC3E}">
        <p14:creationId xmlns:p14="http://schemas.microsoft.com/office/powerpoint/2010/main" val="245232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C67840-4287-4411-DE2F-52855A748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18C63AB-6315-7F38-6415-DAAEFC8D1CDE}"/>
              </a:ext>
            </a:extLst>
          </p:cNvPr>
          <p:cNvSpPr>
            <a:spLocks noGrp="1"/>
          </p:cNvSpPr>
          <p:nvPr>
            <p:ph type="title"/>
          </p:nvPr>
        </p:nvSpPr>
        <p:spPr/>
        <p:txBody>
          <a:bodyPr/>
          <a:lstStyle/>
          <a:p>
            <a:r>
              <a:rPr lang="en-AU" dirty="0"/>
              <a:t>Host Galaxy Environments</a:t>
            </a:r>
          </a:p>
        </p:txBody>
      </p:sp>
      <p:sp>
        <p:nvSpPr>
          <p:cNvPr id="3" name="Content Placeholder 2">
            <a:extLst>
              <a:ext uri="{FF2B5EF4-FFF2-40B4-BE49-F238E27FC236}">
                <a16:creationId xmlns:a16="http://schemas.microsoft.com/office/drawing/2014/main" id="{6688A419-F0FC-D06B-A5A1-742608EC3F53}"/>
              </a:ext>
            </a:extLst>
          </p:cNvPr>
          <p:cNvSpPr>
            <a:spLocks noGrp="1"/>
          </p:cNvSpPr>
          <p:nvPr>
            <p:ph idx="1"/>
          </p:nvPr>
        </p:nvSpPr>
        <p:spPr>
          <a:xfrm>
            <a:off x="838200" y="1825625"/>
            <a:ext cx="9293352" cy="4351338"/>
          </a:xfrm>
        </p:spPr>
        <p:txBody>
          <a:bodyPr/>
          <a:lstStyle/>
          <a:p>
            <a:r>
              <a:rPr lang="en-AU" dirty="0"/>
              <a:t>Describe the spatial distributions of SNe Ia in their hosts, </a:t>
            </a:r>
          </a:p>
          <a:p>
            <a:endParaRPr lang="en-AU" dirty="0"/>
          </a:p>
          <a:p>
            <a:r>
              <a:rPr lang="en-AU" dirty="0"/>
              <a:t>Discuss the host galaxy mass step and how SNe Ia appear brighter in hosts with higher stellar masses and lower </a:t>
            </a:r>
            <a:r>
              <a:rPr lang="en-AU" dirty="0" err="1"/>
              <a:t>sSFR</a:t>
            </a:r>
            <a:r>
              <a:rPr lang="en-AU" dirty="0"/>
              <a:t> post standardisation. </a:t>
            </a:r>
          </a:p>
          <a:p>
            <a:endParaRPr lang="en-AU" dirty="0"/>
          </a:p>
          <a:p>
            <a:r>
              <a:rPr lang="en-AU" dirty="0"/>
              <a:t>Describe how correlations with local environment variables such as </a:t>
            </a:r>
            <a:r>
              <a:rPr lang="en-AU" dirty="0" err="1"/>
              <a:t>lsSFR</a:t>
            </a:r>
            <a:r>
              <a:rPr lang="en-AU" dirty="0"/>
              <a:t> and EW [OII] are improved standardisation tools than the mass step. </a:t>
            </a:r>
          </a:p>
        </p:txBody>
      </p:sp>
    </p:spTree>
    <p:extLst>
      <p:ext uri="{BB962C8B-B14F-4D97-AF65-F5344CB8AC3E}">
        <p14:creationId xmlns:p14="http://schemas.microsoft.com/office/powerpoint/2010/main" val="3741420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191619-22A1-49DC-D40D-E5A232C5B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0616BCB-5670-4C35-046A-9AD3A5C2E8E6}"/>
              </a:ext>
            </a:extLst>
          </p:cNvPr>
          <p:cNvSpPr>
            <a:spLocks noGrp="1"/>
          </p:cNvSpPr>
          <p:nvPr>
            <p:ph type="title"/>
          </p:nvPr>
        </p:nvSpPr>
        <p:spPr/>
        <p:txBody>
          <a:bodyPr/>
          <a:lstStyle/>
          <a:p>
            <a:r>
              <a:rPr lang="en-AU" dirty="0"/>
              <a:t>Early Excess and Host Environments</a:t>
            </a:r>
          </a:p>
        </p:txBody>
      </p:sp>
      <p:sp>
        <p:nvSpPr>
          <p:cNvPr id="3" name="Content Placeholder 2">
            <a:extLst>
              <a:ext uri="{FF2B5EF4-FFF2-40B4-BE49-F238E27FC236}">
                <a16:creationId xmlns:a16="http://schemas.microsoft.com/office/drawing/2014/main" id="{ECE88610-2531-EB44-2FDE-F3856D1AF884}"/>
              </a:ext>
            </a:extLst>
          </p:cNvPr>
          <p:cNvSpPr>
            <a:spLocks noGrp="1"/>
          </p:cNvSpPr>
          <p:nvPr>
            <p:ph idx="1"/>
          </p:nvPr>
        </p:nvSpPr>
        <p:spPr>
          <a:xfrm>
            <a:off x="838200" y="1825625"/>
            <a:ext cx="10098024" cy="4351338"/>
          </a:xfrm>
        </p:spPr>
        <p:txBody>
          <a:bodyPr/>
          <a:lstStyle/>
          <a:p>
            <a:r>
              <a:rPr lang="en-AU" dirty="0"/>
              <a:t>If early flux excesses correlate with specific environmental properties this could help identify the progenitor properties of early excess and it could help constrain SNe Ia to include in cosmological samples.</a:t>
            </a:r>
          </a:p>
          <a:p>
            <a:r>
              <a:rPr lang="en-AU" dirty="0"/>
              <a:t>Due to how limited sample sizes have been of early excess SNe Ia have been they have been difficult to study. Now with LSST the chances of finding them are greater, opening up the possibility of studying the objects.</a:t>
            </a:r>
          </a:p>
        </p:txBody>
      </p:sp>
    </p:spTree>
    <p:extLst>
      <p:ext uri="{BB962C8B-B14F-4D97-AF65-F5344CB8AC3E}">
        <p14:creationId xmlns:p14="http://schemas.microsoft.com/office/powerpoint/2010/main" val="4109929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3D765F-E034-C9FA-551E-0CA2E6E6B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071D7AD-DA65-6B8B-1F47-2D014A9CE896}"/>
              </a:ext>
            </a:extLst>
          </p:cNvPr>
          <p:cNvSpPr>
            <a:spLocks noGrp="1"/>
          </p:cNvSpPr>
          <p:nvPr>
            <p:ph type="title"/>
          </p:nvPr>
        </p:nvSpPr>
        <p:spPr/>
        <p:txBody>
          <a:bodyPr/>
          <a:lstStyle/>
          <a:p>
            <a:r>
              <a:rPr lang="en-AU" dirty="0"/>
              <a:t>Rubin, LSST and Fink </a:t>
            </a:r>
          </a:p>
        </p:txBody>
      </p:sp>
      <p:sp>
        <p:nvSpPr>
          <p:cNvPr id="3" name="Content Placeholder 2">
            <a:extLst>
              <a:ext uri="{FF2B5EF4-FFF2-40B4-BE49-F238E27FC236}">
                <a16:creationId xmlns:a16="http://schemas.microsoft.com/office/drawing/2014/main" id="{2C9A65E8-15EF-C574-A4E0-B2D7BCAF3F4D}"/>
              </a:ext>
            </a:extLst>
          </p:cNvPr>
          <p:cNvSpPr>
            <a:spLocks noGrp="1"/>
          </p:cNvSpPr>
          <p:nvPr>
            <p:ph idx="1"/>
          </p:nvPr>
        </p:nvSpPr>
        <p:spPr>
          <a:xfrm>
            <a:off x="838200" y="1825625"/>
            <a:ext cx="10125456" cy="4351338"/>
          </a:xfrm>
        </p:spPr>
        <p:txBody>
          <a:bodyPr/>
          <a:lstStyle/>
          <a:p>
            <a:r>
              <a:rPr lang="en-AU" dirty="0"/>
              <a:t>Describe how Rubin enables the LSST survey which produces a high volume of alerts per night. </a:t>
            </a:r>
          </a:p>
          <a:p>
            <a:endParaRPr lang="en-AU" dirty="0"/>
          </a:p>
          <a:p>
            <a:r>
              <a:rPr lang="en-AU" dirty="0"/>
              <a:t>High volume of alerts necessitates the use of the Fink broker to derive samples for study without tedious visual inspection.</a:t>
            </a:r>
          </a:p>
          <a:p>
            <a:endParaRPr lang="en-AU" dirty="0"/>
          </a:p>
          <a:p>
            <a:r>
              <a:rPr lang="en-AU" dirty="0"/>
              <a:t>Describe how Fink’s specific active learning architecture will help enable faster initial analysis of the interesting alerts. </a:t>
            </a:r>
          </a:p>
        </p:txBody>
      </p:sp>
    </p:spTree>
    <p:extLst>
      <p:ext uri="{BB962C8B-B14F-4D97-AF65-F5344CB8AC3E}">
        <p14:creationId xmlns:p14="http://schemas.microsoft.com/office/powerpoint/2010/main" val="64377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7603D6-85A9-58B4-1F4C-A02ACFB1A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4DAD0EE-5A20-2929-24D4-776ECF2C9BA5}"/>
              </a:ext>
            </a:extLst>
          </p:cNvPr>
          <p:cNvSpPr>
            <a:spLocks noGrp="1"/>
          </p:cNvSpPr>
          <p:nvPr>
            <p:ph type="title"/>
          </p:nvPr>
        </p:nvSpPr>
        <p:spPr/>
        <p:txBody>
          <a:bodyPr/>
          <a:lstStyle/>
          <a:p>
            <a:r>
              <a:rPr lang="en-AU" dirty="0"/>
              <a:t>Aims</a:t>
            </a:r>
          </a:p>
        </p:txBody>
      </p:sp>
      <p:sp>
        <p:nvSpPr>
          <p:cNvPr id="3" name="Content Placeholder 2">
            <a:extLst>
              <a:ext uri="{FF2B5EF4-FFF2-40B4-BE49-F238E27FC236}">
                <a16:creationId xmlns:a16="http://schemas.microsoft.com/office/drawing/2014/main" id="{5DB9041A-8BE0-4984-F4FD-5191EB1FC8C3}"/>
              </a:ext>
            </a:extLst>
          </p:cNvPr>
          <p:cNvSpPr>
            <a:spLocks noGrp="1"/>
          </p:cNvSpPr>
          <p:nvPr>
            <p:ph idx="1"/>
          </p:nvPr>
        </p:nvSpPr>
        <p:spPr/>
        <p:txBody>
          <a:bodyPr/>
          <a:lstStyle/>
          <a:p>
            <a:r>
              <a:rPr lang="en-AU" dirty="0"/>
              <a:t>To detect and classify the early excess flux SNe Ia and investigate incidence rate as a function of host galaxy properties such as stellar mass, </a:t>
            </a:r>
            <a:r>
              <a:rPr lang="en-AU" dirty="0" err="1"/>
              <a:t>sSFR</a:t>
            </a:r>
            <a:r>
              <a:rPr lang="en-AU" dirty="0"/>
              <a:t> and colour. </a:t>
            </a:r>
          </a:p>
          <a:p>
            <a:endParaRPr lang="en-AU" dirty="0"/>
          </a:p>
          <a:p>
            <a:r>
              <a:rPr lang="en-AU" dirty="0"/>
              <a:t>If first aim is achieved, constraints on the progenitor channels of early excess SNe Ia will be determined. </a:t>
            </a:r>
          </a:p>
        </p:txBody>
      </p:sp>
    </p:spTree>
    <p:extLst>
      <p:ext uri="{BB962C8B-B14F-4D97-AF65-F5344CB8AC3E}">
        <p14:creationId xmlns:p14="http://schemas.microsoft.com/office/powerpoint/2010/main" val="10135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F574DC-4061-64A8-AC59-2B0A2C2A1F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D5E06E-FEB0-5583-C474-C6291C4A628C}"/>
              </a:ext>
            </a:extLst>
          </p:cNvPr>
          <p:cNvSpPr>
            <a:spLocks noGrp="1"/>
          </p:cNvSpPr>
          <p:nvPr>
            <p:ph type="title"/>
          </p:nvPr>
        </p:nvSpPr>
        <p:spPr/>
        <p:txBody>
          <a:bodyPr/>
          <a:lstStyle/>
          <a:p>
            <a:r>
              <a:rPr lang="en-AU" dirty="0"/>
              <a:t>Planned Method</a:t>
            </a:r>
          </a:p>
        </p:txBody>
      </p:sp>
      <p:sp>
        <p:nvSpPr>
          <p:cNvPr id="3" name="Content Placeholder 2">
            <a:extLst>
              <a:ext uri="{FF2B5EF4-FFF2-40B4-BE49-F238E27FC236}">
                <a16:creationId xmlns:a16="http://schemas.microsoft.com/office/drawing/2014/main" id="{0DE6BE5B-DA27-4C06-E559-3561B9464E7E}"/>
              </a:ext>
            </a:extLst>
          </p:cNvPr>
          <p:cNvSpPr>
            <a:spLocks noGrp="1"/>
          </p:cNvSpPr>
          <p:nvPr>
            <p:ph idx="1"/>
          </p:nvPr>
        </p:nvSpPr>
        <p:spPr>
          <a:xfrm>
            <a:off x="838200" y="1825625"/>
            <a:ext cx="9110472" cy="4351338"/>
          </a:xfrm>
        </p:spPr>
        <p:txBody>
          <a:bodyPr>
            <a:normAutofit fontScale="92500" lnSpcReduction="10000"/>
          </a:bodyPr>
          <a:lstStyle/>
          <a:p>
            <a:r>
              <a:rPr lang="en-AU" dirty="0"/>
              <a:t>Use Fink to create the sample of early excess flux candidates for Ias.</a:t>
            </a:r>
          </a:p>
          <a:p>
            <a:r>
              <a:rPr lang="en-AU" dirty="0"/>
              <a:t>Use Decker et al., 2022 classification method for early excess detection and follow the analysis of the properties to see how this study fits within previous work.</a:t>
            </a:r>
          </a:p>
          <a:p>
            <a:r>
              <a:rPr lang="en-AU" dirty="0"/>
              <a:t>Host matching using DLR method to determine the hosts of the samples SNe Ia.</a:t>
            </a:r>
          </a:p>
          <a:p>
            <a:r>
              <a:rPr lang="en-AU" dirty="0"/>
              <a:t>Binning of </a:t>
            </a:r>
            <a:r>
              <a:rPr lang="en-AU" dirty="0" err="1"/>
              <a:t>Eex</a:t>
            </a:r>
            <a:r>
              <a:rPr lang="en-AU" dirty="0"/>
              <a:t> SNe Ia  against host galaxy properties to determine if there is a trend in where SNe Ia occur.</a:t>
            </a:r>
          </a:p>
          <a:p>
            <a:r>
              <a:rPr lang="en-AU" dirty="0"/>
              <a:t>Determine possible implications this has on Hubble residuals if these SNe contaminate datasets.</a:t>
            </a:r>
          </a:p>
          <a:p>
            <a:pPr marL="0" indent="0">
              <a:buNone/>
            </a:pPr>
            <a:endParaRPr lang="en-AU" dirty="0"/>
          </a:p>
        </p:txBody>
      </p:sp>
    </p:spTree>
    <p:extLst>
      <p:ext uri="{BB962C8B-B14F-4D97-AF65-F5344CB8AC3E}">
        <p14:creationId xmlns:p14="http://schemas.microsoft.com/office/powerpoint/2010/main" val="2898617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533</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A Review of Early Excess Flux SNe Ia and Their Hosts   </vt:lpstr>
      <vt:lpstr>Introduction </vt:lpstr>
      <vt:lpstr>SNe Ia Physics  </vt:lpstr>
      <vt:lpstr>SNe Ia Physics </vt:lpstr>
      <vt:lpstr>Host Galaxy Environments</vt:lpstr>
      <vt:lpstr>Early Excess and Host Environments</vt:lpstr>
      <vt:lpstr>Rubin, LSST and Fink </vt:lpstr>
      <vt:lpstr>Aims</vt:lpstr>
      <vt:lpstr>Planned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Riley Webster</dc:creator>
  <cp:lastModifiedBy>Riley Webster</cp:lastModifiedBy>
  <cp:revision>4</cp:revision>
  <dcterms:created xsi:type="dcterms:W3CDTF">2026-03-25T22:35:59Z</dcterms:created>
  <dcterms:modified xsi:type="dcterms:W3CDTF">2026-03-26T01:27:09Z</dcterms:modified>
</cp:coreProperties>
</file>