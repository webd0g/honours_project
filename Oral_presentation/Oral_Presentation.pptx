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diagrams/data2.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66" r:id="rId4"/>
    <p:sldId id="265" r:id="rId5"/>
    <p:sldId id="259" r:id="rId6"/>
    <p:sldId id="260" r:id="rId7"/>
    <p:sldId id="269" r:id="rId8"/>
    <p:sldId id="264" r:id="rId9"/>
    <p:sldId id="267" r:id="rId10"/>
    <p:sldId id="268" r:id="rId11"/>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3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58" d="100"/>
          <a:sy n="158" d="100"/>
        </p:scale>
        <p:origin x="412" y="104"/>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_rels/data2.xml.rels><?xml version="1.0" encoding="UTF-8" standalone="yes"?>
<Relationships xmlns="http://schemas.openxmlformats.org/package/2006/relationships"><Relationship Id="rId1" Type="http://schemas.openxmlformats.org/officeDocument/2006/relationships/image" Target="../media/image1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62E1C1-91C0-4431-9223-078DEDD257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AU"/>
        </a:p>
      </dgm:t>
    </dgm:pt>
    <dgm:pt modelId="{B8B2ACEF-2AB2-4B47-B93D-3DACF8E7F962}">
      <dgm:prSet phldrT="[Text]"/>
      <dgm:spPr>
        <a:solidFill>
          <a:srgbClr val="231F20"/>
        </a:solidFill>
      </dgm:spPr>
      <dgm:t>
        <a:bodyPr/>
        <a:lstStyle/>
        <a:p>
          <a:r>
            <a:rPr lang="en-AU" dirty="0"/>
            <a:t>Assemble a catalogue of extragalactic candidates.</a:t>
          </a:r>
        </a:p>
      </dgm:t>
    </dgm:pt>
    <dgm:pt modelId="{E07F3A5B-590C-4328-94D8-FB6815AA8D75}" type="parTrans" cxnId="{4D4AE4EA-06E3-4040-A569-6EC42C2AFC29}">
      <dgm:prSet/>
      <dgm:spPr/>
      <dgm:t>
        <a:bodyPr/>
        <a:lstStyle/>
        <a:p>
          <a:endParaRPr lang="en-AU"/>
        </a:p>
      </dgm:t>
    </dgm:pt>
    <dgm:pt modelId="{F725FD73-39C4-4D89-B1FA-28CC8DDCD2F6}" type="sibTrans" cxnId="{4D4AE4EA-06E3-4040-A569-6EC42C2AFC29}">
      <dgm:prSet/>
      <dgm:spPr/>
      <dgm:t>
        <a:bodyPr/>
        <a:lstStyle/>
        <a:p>
          <a:endParaRPr lang="en-AU" dirty="0"/>
        </a:p>
      </dgm:t>
    </dgm:pt>
    <dgm:pt modelId="{54F6AFE8-52E6-4165-B225-EE6B5A915340}">
      <dgm:prSet phldrT="[Text]" phldr="0"/>
      <dgm:spPr>
        <a:solidFill>
          <a:srgbClr val="231F20"/>
        </a:solidFill>
      </dgm:spPr>
      <dgm:t>
        <a:bodyPr/>
        <a:lstStyle/>
        <a:p>
          <a:r>
            <a:rPr lang="en-AU" dirty="0"/>
            <a:t>Use ML classifiers to find potential SNe Ia.</a:t>
          </a:r>
        </a:p>
      </dgm:t>
    </dgm:pt>
    <dgm:pt modelId="{892E2E45-179C-4173-9D6D-ABB302D222F8}" type="parTrans" cxnId="{9758C879-DC50-448A-9B6F-52B5DE82D89E}">
      <dgm:prSet/>
      <dgm:spPr/>
      <dgm:t>
        <a:bodyPr/>
        <a:lstStyle/>
        <a:p>
          <a:endParaRPr lang="en-AU"/>
        </a:p>
      </dgm:t>
    </dgm:pt>
    <dgm:pt modelId="{C0151999-3B2C-43D8-8636-EB2EBD377111}" type="sibTrans" cxnId="{9758C879-DC50-448A-9B6F-52B5DE82D89E}">
      <dgm:prSet/>
      <dgm:spPr/>
      <dgm:t>
        <a:bodyPr/>
        <a:lstStyle/>
        <a:p>
          <a:endParaRPr lang="en-AU" dirty="0"/>
        </a:p>
      </dgm:t>
    </dgm:pt>
    <mc:AlternateContent xmlns:mc="http://schemas.openxmlformats.org/markup-compatibility/2006" xmlns:a14="http://schemas.microsoft.com/office/drawing/2010/main">
      <mc:Choice Requires="a14">
        <dgm:pt modelId="{01319750-023A-42E3-BD37-5265D8FE73EA}">
          <dgm:prSet phldrT="[Text]" phldr="0"/>
          <dgm:spPr>
            <a:solidFill>
              <a:srgbClr val="231F20"/>
            </a:solidFill>
          </dgm:spPr>
          <dgm:t>
            <a:bodyPr/>
            <a:lstStyle/>
            <a:p>
              <a:r>
                <a:rPr lang="en-AU" dirty="0"/>
                <a:t>Use SALT to fit observed light curves (LC) to determine </a:t>
              </a:r>
              <a14:m>
                <m:oMath xmlns:m="http://schemas.openxmlformats.org/officeDocument/2006/math">
                  <m:sSub>
                    <m:sSubPr>
                      <m:ctrlPr>
                        <a:rPr lang="en-AU" i="1" dirty="0" smtClean="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and </a:t>
              </a:r>
              <a14:m>
                <m:oMath xmlns:m="http://schemas.openxmlformats.org/officeDocument/2006/math">
                  <m:r>
                    <a:rPr lang="en-AU" i="1" dirty="0" smtClean="0">
                      <a:latin typeface="Cambria Math" panose="02040503050406030204" pitchFamily="18" charset="0"/>
                    </a:rPr>
                    <m:t>𝑐</m:t>
                  </m:r>
                </m:oMath>
              </a14:m>
              <a:r>
                <a:rPr lang="en-AU" dirty="0"/>
                <a:t>.</a:t>
              </a:r>
            </a:p>
          </dgm:t>
        </dgm:pt>
      </mc:Choice>
      <mc:Fallback xmlns="">
        <dgm:pt modelId="{01319750-023A-42E3-BD37-5265D8FE73EA}">
          <dgm:prSet phldrT="[Text]" phldr="0"/>
          <dgm:spPr>
            <a:solidFill>
              <a:srgbClr val="231F20"/>
            </a:solidFill>
          </dgm:spPr>
          <dgm:t>
            <a:bodyPr/>
            <a:lstStyle/>
            <a:p>
              <a:r>
                <a:rPr lang="en-AU" dirty="0"/>
                <a:t>Use SALT to fit observed light curves (LC) to determine </a:t>
              </a:r>
              <a:r>
                <a:rPr lang="en-AU" i="0" dirty="0">
                  <a:latin typeface="Cambria Math" panose="02040503050406030204" pitchFamily="18" charset="0"/>
                </a:rPr>
                <a:t>𝑥_1</a:t>
              </a:r>
              <a:r>
                <a:rPr lang="en-AU" dirty="0"/>
                <a:t>and </a:t>
              </a:r>
              <a:r>
                <a:rPr lang="en-AU" i="0" dirty="0">
                  <a:latin typeface="Cambria Math" panose="02040503050406030204" pitchFamily="18" charset="0"/>
                </a:rPr>
                <a:t>𝑐</a:t>
              </a:r>
              <a:r>
                <a:rPr lang="en-AU" dirty="0"/>
                <a:t>.</a:t>
              </a:r>
            </a:p>
          </dgm:t>
        </dgm:pt>
      </mc:Fallback>
    </mc:AlternateContent>
    <dgm:pt modelId="{D46050DA-EB50-4B81-AFF1-302B37DDD609}" type="parTrans" cxnId="{84C59091-2D8B-410B-90E7-3051C9DDFC33}">
      <dgm:prSet/>
      <dgm:spPr/>
      <dgm:t>
        <a:bodyPr/>
        <a:lstStyle/>
        <a:p>
          <a:endParaRPr lang="en-AU"/>
        </a:p>
      </dgm:t>
    </dgm:pt>
    <dgm:pt modelId="{CE940788-9374-4532-AE10-9D729D82CD5A}" type="sibTrans" cxnId="{84C59091-2D8B-410B-90E7-3051C9DDFC33}">
      <dgm:prSet/>
      <dgm:spPr/>
      <dgm:t>
        <a:bodyPr/>
        <a:lstStyle/>
        <a:p>
          <a:endParaRPr lang="en-AU" dirty="0"/>
        </a:p>
      </dgm:t>
    </dgm:pt>
    <dgm:pt modelId="{D109D707-1871-4E09-98D5-3C93EEE17CD6}">
      <dgm:prSet/>
      <dgm:spPr>
        <a:solidFill>
          <a:srgbClr val="231F20"/>
        </a:solidFill>
      </dgm:spPr>
      <dgm:t>
        <a:bodyPr/>
        <a:lstStyle/>
        <a:p>
          <a:r>
            <a:rPr lang="en-AU" dirty="0"/>
            <a:t>Search for excess flux by finding residuals between fits and observed LC. </a:t>
          </a:r>
        </a:p>
      </dgm:t>
    </dgm:pt>
    <dgm:pt modelId="{2D82E695-B450-4E81-ABB1-162D813E79E1}" type="parTrans" cxnId="{77CFE86D-78D0-4946-8B3E-7DE8E5569F50}">
      <dgm:prSet/>
      <dgm:spPr/>
      <dgm:t>
        <a:bodyPr/>
        <a:lstStyle/>
        <a:p>
          <a:endParaRPr lang="en-AU"/>
        </a:p>
      </dgm:t>
    </dgm:pt>
    <dgm:pt modelId="{4634CE87-8CB3-4EAF-BBDE-0D31A893C27A}" type="sibTrans" cxnId="{77CFE86D-78D0-4946-8B3E-7DE8E5569F50}">
      <dgm:prSet/>
      <dgm:spPr/>
      <dgm:t>
        <a:bodyPr/>
        <a:lstStyle/>
        <a:p>
          <a:endParaRPr lang="en-AU" dirty="0"/>
        </a:p>
      </dgm:t>
    </dgm:pt>
    <dgm:pt modelId="{084F7E0C-271D-412C-93D2-49C846147E74}">
      <dgm:prSet/>
      <dgm:spPr>
        <a:solidFill>
          <a:srgbClr val="231F20"/>
        </a:solidFill>
      </dgm:spPr>
      <dgm:t>
        <a:bodyPr/>
        <a:lstStyle/>
        <a:p>
          <a:r>
            <a:rPr lang="en-AU" dirty="0"/>
            <a:t>Correlate SN properties with the host galaxy properties.</a:t>
          </a:r>
        </a:p>
      </dgm:t>
    </dgm:pt>
    <dgm:pt modelId="{9A2709A0-2BE5-49B5-AAC1-155E07C08510}" type="parTrans" cxnId="{4CDEB1EF-A4D5-41EC-A3CA-CCD41CA98765}">
      <dgm:prSet/>
      <dgm:spPr/>
      <dgm:t>
        <a:bodyPr/>
        <a:lstStyle/>
        <a:p>
          <a:endParaRPr lang="en-AU"/>
        </a:p>
      </dgm:t>
    </dgm:pt>
    <dgm:pt modelId="{8907171F-70C3-41D7-8D46-20DFA240666E}" type="sibTrans" cxnId="{4CDEB1EF-A4D5-41EC-A3CA-CCD41CA98765}">
      <dgm:prSet/>
      <dgm:spPr/>
      <dgm:t>
        <a:bodyPr/>
        <a:lstStyle/>
        <a:p>
          <a:endParaRPr lang="en-AU"/>
        </a:p>
      </dgm:t>
    </dgm:pt>
    <dgm:pt modelId="{B295B36F-C07C-4274-B4D0-342E391FA21A}" type="pres">
      <dgm:prSet presAssocID="{6262E1C1-91C0-4431-9223-078DEDD25789}" presName="Name0" presStyleCnt="0">
        <dgm:presLayoutVars>
          <dgm:dir/>
          <dgm:resizeHandles val="exact"/>
        </dgm:presLayoutVars>
      </dgm:prSet>
      <dgm:spPr/>
    </dgm:pt>
    <dgm:pt modelId="{0515B639-B2A2-47E3-9677-3591188A40C2}" type="pres">
      <dgm:prSet presAssocID="{B8B2ACEF-2AB2-4B47-B93D-3DACF8E7F962}" presName="node" presStyleLbl="node1" presStyleIdx="0" presStyleCnt="5">
        <dgm:presLayoutVars>
          <dgm:bulletEnabled val="1"/>
        </dgm:presLayoutVars>
      </dgm:prSet>
      <dgm:spPr>
        <a:prstGeom prst="roundRect">
          <a:avLst/>
        </a:prstGeom>
      </dgm:spPr>
    </dgm:pt>
    <dgm:pt modelId="{5F606726-31F8-4210-ABE4-6DEAAA134599}" type="pres">
      <dgm:prSet presAssocID="{F725FD73-39C4-4D89-B1FA-28CC8DDCD2F6}" presName="sibTrans" presStyleLbl="sibTrans1D1" presStyleIdx="0" presStyleCnt="4"/>
      <dgm:spPr/>
    </dgm:pt>
    <dgm:pt modelId="{4DF1F261-D78A-4741-A979-39A189964867}" type="pres">
      <dgm:prSet presAssocID="{F725FD73-39C4-4D89-B1FA-28CC8DDCD2F6}" presName="connectorText" presStyleLbl="sibTrans1D1" presStyleIdx="0" presStyleCnt="4"/>
      <dgm:spPr/>
    </dgm:pt>
    <dgm:pt modelId="{1A40C117-2280-4101-9D0C-9DABCE2EE639}" type="pres">
      <dgm:prSet presAssocID="{54F6AFE8-52E6-4165-B225-EE6B5A915340}" presName="node" presStyleLbl="node1" presStyleIdx="1" presStyleCnt="5">
        <dgm:presLayoutVars>
          <dgm:bulletEnabled val="1"/>
        </dgm:presLayoutVars>
      </dgm:prSet>
      <dgm:spPr>
        <a:prstGeom prst="roundRect">
          <a:avLst/>
        </a:prstGeom>
      </dgm:spPr>
    </dgm:pt>
    <dgm:pt modelId="{4D8CCFE9-9B82-4F3A-9C99-9AF87C4AD4DB}" type="pres">
      <dgm:prSet presAssocID="{C0151999-3B2C-43D8-8636-EB2EBD377111}" presName="sibTrans" presStyleLbl="sibTrans1D1" presStyleIdx="1" presStyleCnt="4"/>
      <dgm:spPr/>
    </dgm:pt>
    <dgm:pt modelId="{7C1E5977-5E50-46D2-9CBC-3C0DCE5223A1}" type="pres">
      <dgm:prSet presAssocID="{C0151999-3B2C-43D8-8636-EB2EBD377111}" presName="connectorText" presStyleLbl="sibTrans1D1" presStyleIdx="1" presStyleCnt="4"/>
      <dgm:spPr/>
    </dgm:pt>
    <dgm:pt modelId="{815D38E9-4F26-4A10-BA9C-8FA2879C977A}" type="pres">
      <dgm:prSet presAssocID="{01319750-023A-42E3-BD37-5265D8FE73EA}" presName="node" presStyleLbl="node1" presStyleIdx="2" presStyleCnt="5">
        <dgm:presLayoutVars>
          <dgm:bulletEnabled val="1"/>
        </dgm:presLayoutVars>
      </dgm:prSet>
      <dgm:spPr>
        <a:prstGeom prst="roundRect">
          <a:avLst/>
        </a:prstGeom>
      </dgm:spPr>
    </dgm:pt>
    <dgm:pt modelId="{A2659614-86EE-4EB4-A23D-9C1FE1C4179C}" type="pres">
      <dgm:prSet presAssocID="{CE940788-9374-4532-AE10-9D729D82CD5A}" presName="sibTrans" presStyleLbl="sibTrans1D1" presStyleIdx="2" presStyleCnt="4"/>
      <dgm:spPr/>
    </dgm:pt>
    <dgm:pt modelId="{8D192D1D-4335-4AD7-B7DF-31EE6893D9F3}" type="pres">
      <dgm:prSet presAssocID="{CE940788-9374-4532-AE10-9D729D82CD5A}" presName="connectorText" presStyleLbl="sibTrans1D1" presStyleIdx="2" presStyleCnt="4"/>
      <dgm:spPr/>
    </dgm:pt>
    <dgm:pt modelId="{229C6DD4-FA44-411D-BF48-21607E061436}" type="pres">
      <dgm:prSet presAssocID="{D109D707-1871-4E09-98D5-3C93EEE17CD6}" presName="node" presStyleLbl="node1" presStyleIdx="3" presStyleCnt="5">
        <dgm:presLayoutVars>
          <dgm:bulletEnabled val="1"/>
        </dgm:presLayoutVars>
      </dgm:prSet>
      <dgm:spPr>
        <a:prstGeom prst="roundRect">
          <a:avLst/>
        </a:prstGeom>
      </dgm:spPr>
    </dgm:pt>
    <dgm:pt modelId="{40B29009-8A4A-4EC6-855E-B01E3FEA3A2D}" type="pres">
      <dgm:prSet presAssocID="{4634CE87-8CB3-4EAF-BBDE-0D31A893C27A}" presName="sibTrans" presStyleLbl="sibTrans1D1" presStyleIdx="3" presStyleCnt="4"/>
      <dgm:spPr/>
    </dgm:pt>
    <dgm:pt modelId="{71905976-8B22-4FC8-8496-6452A86789DF}" type="pres">
      <dgm:prSet presAssocID="{4634CE87-8CB3-4EAF-BBDE-0D31A893C27A}" presName="connectorText" presStyleLbl="sibTrans1D1" presStyleIdx="3" presStyleCnt="4"/>
      <dgm:spPr/>
    </dgm:pt>
    <dgm:pt modelId="{900E731E-5052-4889-BD0F-F401FCFE6128}" type="pres">
      <dgm:prSet presAssocID="{084F7E0C-271D-412C-93D2-49C846147E74}" presName="node" presStyleLbl="node1" presStyleIdx="4" presStyleCnt="5">
        <dgm:presLayoutVars>
          <dgm:bulletEnabled val="1"/>
        </dgm:presLayoutVars>
      </dgm:prSet>
      <dgm:spPr>
        <a:prstGeom prst="roundRect">
          <a:avLst/>
        </a:prstGeom>
      </dgm:spPr>
    </dgm:pt>
  </dgm:ptLst>
  <dgm:cxnLst>
    <dgm:cxn modelId="{7A989702-113B-45C0-A3CB-01BFDDCA83EA}" type="presOf" srcId="{F725FD73-39C4-4D89-B1FA-28CC8DDCD2F6}" destId="{4DF1F261-D78A-4741-A979-39A189964867}" srcOrd="1" destOrd="0" presId="urn:microsoft.com/office/officeart/2005/8/layout/bProcess3"/>
    <dgm:cxn modelId="{B73CA639-DE63-4867-A85A-9EF8094E9507}" type="presOf" srcId="{CE940788-9374-4532-AE10-9D729D82CD5A}" destId="{A2659614-86EE-4EB4-A23D-9C1FE1C4179C}" srcOrd="0" destOrd="0" presId="urn:microsoft.com/office/officeart/2005/8/layout/bProcess3"/>
    <dgm:cxn modelId="{AABFE562-AA4D-4541-97D1-D941F80578DA}" type="presOf" srcId="{084F7E0C-271D-412C-93D2-49C846147E74}" destId="{900E731E-5052-4889-BD0F-F401FCFE6128}" srcOrd="0" destOrd="0" presId="urn:microsoft.com/office/officeart/2005/8/layout/bProcess3"/>
    <dgm:cxn modelId="{F2538368-7D2F-43A0-BD87-69814C5E71F3}" type="presOf" srcId="{CE940788-9374-4532-AE10-9D729D82CD5A}" destId="{8D192D1D-4335-4AD7-B7DF-31EE6893D9F3}" srcOrd="1" destOrd="0" presId="urn:microsoft.com/office/officeart/2005/8/layout/bProcess3"/>
    <dgm:cxn modelId="{B279A54B-30C6-41ED-AC56-FE2246C648C2}" type="presOf" srcId="{B8B2ACEF-2AB2-4B47-B93D-3DACF8E7F962}" destId="{0515B639-B2A2-47E3-9677-3591188A40C2}" srcOrd="0" destOrd="0" presId="urn:microsoft.com/office/officeart/2005/8/layout/bProcess3"/>
    <dgm:cxn modelId="{77CFE86D-78D0-4946-8B3E-7DE8E5569F50}" srcId="{6262E1C1-91C0-4431-9223-078DEDD25789}" destId="{D109D707-1871-4E09-98D5-3C93EEE17CD6}" srcOrd="3" destOrd="0" parTransId="{2D82E695-B450-4E81-ABB1-162D813E79E1}" sibTransId="{4634CE87-8CB3-4EAF-BBDE-0D31A893C27A}"/>
    <dgm:cxn modelId="{DA5CEE6E-5BC1-4E5D-86B2-F6A8C33A3BB6}" type="presOf" srcId="{6262E1C1-91C0-4431-9223-078DEDD25789}" destId="{B295B36F-C07C-4274-B4D0-342E391FA21A}" srcOrd="0" destOrd="0" presId="urn:microsoft.com/office/officeart/2005/8/layout/bProcess3"/>
    <dgm:cxn modelId="{06B56252-AA58-4E5E-913A-9865ECB697A2}" type="presOf" srcId="{01319750-023A-42E3-BD37-5265D8FE73EA}" destId="{815D38E9-4F26-4A10-BA9C-8FA2879C977A}" srcOrd="0" destOrd="0" presId="urn:microsoft.com/office/officeart/2005/8/layout/bProcess3"/>
    <dgm:cxn modelId="{08F23458-4C29-462A-8196-56307D01AFE5}" type="presOf" srcId="{C0151999-3B2C-43D8-8636-EB2EBD377111}" destId="{7C1E5977-5E50-46D2-9CBC-3C0DCE5223A1}" srcOrd="1" destOrd="0" presId="urn:microsoft.com/office/officeart/2005/8/layout/bProcess3"/>
    <dgm:cxn modelId="{9758C879-DC50-448A-9B6F-52B5DE82D89E}" srcId="{6262E1C1-91C0-4431-9223-078DEDD25789}" destId="{54F6AFE8-52E6-4165-B225-EE6B5A915340}" srcOrd="1" destOrd="0" parTransId="{892E2E45-179C-4173-9D6D-ABB302D222F8}" sibTransId="{C0151999-3B2C-43D8-8636-EB2EBD377111}"/>
    <dgm:cxn modelId="{84C59091-2D8B-410B-90E7-3051C9DDFC33}" srcId="{6262E1C1-91C0-4431-9223-078DEDD25789}" destId="{01319750-023A-42E3-BD37-5265D8FE73EA}" srcOrd="2" destOrd="0" parTransId="{D46050DA-EB50-4B81-AFF1-302B37DDD609}" sibTransId="{CE940788-9374-4532-AE10-9D729D82CD5A}"/>
    <dgm:cxn modelId="{03DA2EBA-6905-4A3F-8B04-534007CD1296}" type="presOf" srcId="{C0151999-3B2C-43D8-8636-EB2EBD377111}" destId="{4D8CCFE9-9B82-4F3A-9C99-9AF87C4AD4DB}" srcOrd="0" destOrd="0" presId="urn:microsoft.com/office/officeart/2005/8/layout/bProcess3"/>
    <dgm:cxn modelId="{9860E5CF-2F01-4DFE-B0C1-FC04C270DD75}" type="presOf" srcId="{4634CE87-8CB3-4EAF-BBDE-0D31A893C27A}" destId="{71905976-8B22-4FC8-8496-6452A86789DF}" srcOrd="1" destOrd="0" presId="urn:microsoft.com/office/officeart/2005/8/layout/bProcess3"/>
    <dgm:cxn modelId="{29A3ADD4-1547-4200-AE86-E947445D534B}" type="presOf" srcId="{D109D707-1871-4E09-98D5-3C93EEE17CD6}" destId="{229C6DD4-FA44-411D-BF48-21607E061436}" srcOrd="0" destOrd="0" presId="urn:microsoft.com/office/officeart/2005/8/layout/bProcess3"/>
    <dgm:cxn modelId="{A56A39E3-1DD1-4290-A1D1-16BBA04356F3}" type="presOf" srcId="{F725FD73-39C4-4D89-B1FA-28CC8DDCD2F6}" destId="{5F606726-31F8-4210-ABE4-6DEAAA134599}" srcOrd="0" destOrd="0" presId="urn:microsoft.com/office/officeart/2005/8/layout/bProcess3"/>
    <dgm:cxn modelId="{4D4AE4EA-06E3-4040-A569-6EC42C2AFC29}" srcId="{6262E1C1-91C0-4431-9223-078DEDD25789}" destId="{B8B2ACEF-2AB2-4B47-B93D-3DACF8E7F962}" srcOrd="0" destOrd="0" parTransId="{E07F3A5B-590C-4328-94D8-FB6815AA8D75}" sibTransId="{F725FD73-39C4-4D89-B1FA-28CC8DDCD2F6}"/>
    <dgm:cxn modelId="{4CDEB1EF-A4D5-41EC-A3CA-CCD41CA98765}" srcId="{6262E1C1-91C0-4431-9223-078DEDD25789}" destId="{084F7E0C-271D-412C-93D2-49C846147E74}" srcOrd="4" destOrd="0" parTransId="{9A2709A0-2BE5-49B5-AAC1-155E07C08510}" sibTransId="{8907171F-70C3-41D7-8D46-20DFA240666E}"/>
    <dgm:cxn modelId="{C319BAF0-48DB-4500-9C35-4AEB5F897521}" type="presOf" srcId="{4634CE87-8CB3-4EAF-BBDE-0D31A893C27A}" destId="{40B29009-8A4A-4EC6-855E-B01E3FEA3A2D}" srcOrd="0" destOrd="0" presId="urn:microsoft.com/office/officeart/2005/8/layout/bProcess3"/>
    <dgm:cxn modelId="{996DFDFF-2E57-449B-A762-9B1EA0C843B1}" type="presOf" srcId="{54F6AFE8-52E6-4165-B225-EE6B5A915340}" destId="{1A40C117-2280-4101-9D0C-9DABCE2EE639}" srcOrd="0" destOrd="0" presId="urn:microsoft.com/office/officeart/2005/8/layout/bProcess3"/>
    <dgm:cxn modelId="{0CA30625-0AF3-42E1-92A5-732E0B7CFDB8}" type="presParOf" srcId="{B295B36F-C07C-4274-B4D0-342E391FA21A}" destId="{0515B639-B2A2-47E3-9677-3591188A40C2}" srcOrd="0" destOrd="0" presId="urn:microsoft.com/office/officeart/2005/8/layout/bProcess3"/>
    <dgm:cxn modelId="{E235B442-349B-4F5A-9625-987464FF52A5}" type="presParOf" srcId="{B295B36F-C07C-4274-B4D0-342E391FA21A}" destId="{5F606726-31F8-4210-ABE4-6DEAAA134599}" srcOrd="1" destOrd="0" presId="urn:microsoft.com/office/officeart/2005/8/layout/bProcess3"/>
    <dgm:cxn modelId="{EEFCF193-DA00-4CAE-AA2F-95619820CD1A}" type="presParOf" srcId="{5F606726-31F8-4210-ABE4-6DEAAA134599}" destId="{4DF1F261-D78A-4741-A979-39A189964867}" srcOrd="0" destOrd="0" presId="urn:microsoft.com/office/officeart/2005/8/layout/bProcess3"/>
    <dgm:cxn modelId="{2A11B05A-26BE-4996-863A-EA13EB4748BC}" type="presParOf" srcId="{B295B36F-C07C-4274-B4D0-342E391FA21A}" destId="{1A40C117-2280-4101-9D0C-9DABCE2EE639}" srcOrd="2" destOrd="0" presId="urn:microsoft.com/office/officeart/2005/8/layout/bProcess3"/>
    <dgm:cxn modelId="{BC986ECE-8557-471D-A229-4234DAC74CA5}" type="presParOf" srcId="{B295B36F-C07C-4274-B4D0-342E391FA21A}" destId="{4D8CCFE9-9B82-4F3A-9C99-9AF87C4AD4DB}" srcOrd="3" destOrd="0" presId="urn:microsoft.com/office/officeart/2005/8/layout/bProcess3"/>
    <dgm:cxn modelId="{62CB594A-FFBD-4348-8595-C7AF1CA1A2C9}" type="presParOf" srcId="{4D8CCFE9-9B82-4F3A-9C99-9AF87C4AD4DB}" destId="{7C1E5977-5E50-46D2-9CBC-3C0DCE5223A1}" srcOrd="0" destOrd="0" presId="urn:microsoft.com/office/officeart/2005/8/layout/bProcess3"/>
    <dgm:cxn modelId="{61767780-F3DD-465D-85CB-293BBE871914}" type="presParOf" srcId="{B295B36F-C07C-4274-B4D0-342E391FA21A}" destId="{815D38E9-4F26-4A10-BA9C-8FA2879C977A}" srcOrd="4" destOrd="0" presId="urn:microsoft.com/office/officeart/2005/8/layout/bProcess3"/>
    <dgm:cxn modelId="{4E51DCB6-EDBD-4199-B95B-8975BE1FF3C3}" type="presParOf" srcId="{B295B36F-C07C-4274-B4D0-342E391FA21A}" destId="{A2659614-86EE-4EB4-A23D-9C1FE1C4179C}" srcOrd="5" destOrd="0" presId="urn:microsoft.com/office/officeart/2005/8/layout/bProcess3"/>
    <dgm:cxn modelId="{52D2B857-F5C2-40AC-BE3E-9338024D0082}" type="presParOf" srcId="{A2659614-86EE-4EB4-A23D-9C1FE1C4179C}" destId="{8D192D1D-4335-4AD7-B7DF-31EE6893D9F3}" srcOrd="0" destOrd="0" presId="urn:microsoft.com/office/officeart/2005/8/layout/bProcess3"/>
    <dgm:cxn modelId="{04147024-7759-4B68-B444-EBBB7AD0655B}" type="presParOf" srcId="{B295B36F-C07C-4274-B4D0-342E391FA21A}" destId="{229C6DD4-FA44-411D-BF48-21607E061436}" srcOrd="6" destOrd="0" presId="urn:microsoft.com/office/officeart/2005/8/layout/bProcess3"/>
    <dgm:cxn modelId="{25DB8D75-8C30-492C-BB86-643F89E784E0}" type="presParOf" srcId="{B295B36F-C07C-4274-B4D0-342E391FA21A}" destId="{40B29009-8A4A-4EC6-855E-B01E3FEA3A2D}" srcOrd="7" destOrd="0" presId="urn:microsoft.com/office/officeart/2005/8/layout/bProcess3"/>
    <dgm:cxn modelId="{9941A9A0-DDEA-4009-BBB2-085F34D4CA3C}" type="presParOf" srcId="{40B29009-8A4A-4EC6-855E-B01E3FEA3A2D}" destId="{71905976-8B22-4FC8-8496-6452A86789DF}" srcOrd="0" destOrd="0" presId="urn:microsoft.com/office/officeart/2005/8/layout/bProcess3"/>
    <dgm:cxn modelId="{D2DD7111-1E52-4327-B436-1741620DB62C}" type="presParOf" srcId="{B295B36F-C07C-4274-B4D0-342E391FA21A}" destId="{900E731E-5052-4889-BD0F-F401FCFE6128}" srcOrd="8"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262E1C1-91C0-4431-9223-078DEDD257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AU"/>
        </a:p>
      </dgm:t>
    </dgm:pt>
    <dgm:pt modelId="{B8B2ACEF-2AB2-4B47-B93D-3DACF8E7F962}">
      <dgm:prSet phldrT="[Text]"/>
      <dgm:spPr>
        <a:solidFill>
          <a:srgbClr val="231F20"/>
        </a:solidFill>
      </dgm:spPr>
      <dgm:t>
        <a:bodyPr/>
        <a:lstStyle/>
        <a:p>
          <a:r>
            <a:rPr lang="en-AU" dirty="0"/>
            <a:t>Assemble a catalogue of extragalactic candidates.</a:t>
          </a:r>
        </a:p>
      </dgm:t>
    </dgm:pt>
    <dgm:pt modelId="{E07F3A5B-590C-4328-94D8-FB6815AA8D75}" type="parTrans" cxnId="{4D4AE4EA-06E3-4040-A569-6EC42C2AFC29}">
      <dgm:prSet/>
      <dgm:spPr/>
      <dgm:t>
        <a:bodyPr/>
        <a:lstStyle/>
        <a:p>
          <a:endParaRPr lang="en-AU"/>
        </a:p>
      </dgm:t>
    </dgm:pt>
    <dgm:pt modelId="{F725FD73-39C4-4D89-B1FA-28CC8DDCD2F6}" type="sibTrans" cxnId="{4D4AE4EA-06E3-4040-A569-6EC42C2AFC29}">
      <dgm:prSet/>
      <dgm:spPr/>
      <dgm:t>
        <a:bodyPr/>
        <a:lstStyle/>
        <a:p>
          <a:endParaRPr lang="en-AU" dirty="0"/>
        </a:p>
      </dgm:t>
    </dgm:pt>
    <dgm:pt modelId="{54F6AFE8-52E6-4165-B225-EE6B5A915340}">
      <dgm:prSet phldrT="[Text]" phldr="0"/>
      <dgm:spPr>
        <a:solidFill>
          <a:srgbClr val="231F20"/>
        </a:solidFill>
      </dgm:spPr>
      <dgm:t>
        <a:bodyPr/>
        <a:lstStyle/>
        <a:p>
          <a:r>
            <a:rPr lang="en-AU" dirty="0"/>
            <a:t>Use ML classifiers to find potential SNe Ia.</a:t>
          </a:r>
        </a:p>
      </dgm:t>
    </dgm:pt>
    <dgm:pt modelId="{892E2E45-179C-4173-9D6D-ABB302D222F8}" type="parTrans" cxnId="{9758C879-DC50-448A-9B6F-52B5DE82D89E}">
      <dgm:prSet/>
      <dgm:spPr/>
      <dgm:t>
        <a:bodyPr/>
        <a:lstStyle/>
        <a:p>
          <a:endParaRPr lang="en-AU"/>
        </a:p>
      </dgm:t>
    </dgm:pt>
    <dgm:pt modelId="{C0151999-3B2C-43D8-8636-EB2EBD377111}" type="sibTrans" cxnId="{9758C879-DC50-448A-9B6F-52B5DE82D89E}">
      <dgm:prSet/>
      <dgm:spPr/>
      <dgm:t>
        <a:bodyPr/>
        <a:lstStyle/>
        <a:p>
          <a:endParaRPr lang="en-AU" dirty="0"/>
        </a:p>
      </dgm:t>
    </dgm:pt>
    <dgm:pt modelId="{01319750-023A-42E3-BD37-5265D8FE73EA}">
      <dgm:prSet phldrT="[Text]" phldr="0"/>
      <dgm:spPr>
        <a:blipFill>
          <a:blip xmlns:r="http://schemas.openxmlformats.org/officeDocument/2006/relationships" r:embed="rId1"/>
          <a:stretch>
            <a:fillRect/>
          </a:stretch>
        </a:blipFill>
      </dgm:spPr>
      <dgm:t>
        <a:bodyPr/>
        <a:lstStyle/>
        <a:p>
          <a:r>
            <a:rPr lang="en-AU">
              <a:noFill/>
            </a:rPr>
            <a:t> </a:t>
          </a:r>
        </a:p>
      </dgm:t>
    </dgm:pt>
    <dgm:pt modelId="{D46050DA-EB50-4B81-AFF1-302B37DDD609}" type="parTrans" cxnId="{84C59091-2D8B-410B-90E7-3051C9DDFC33}">
      <dgm:prSet/>
      <dgm:spPr/>
      <dgm:t>
        <a:bodyPr/>
        <a:lstStyle/>
        <a:p>
          <a:endParaRPr lang="en-AU"/>
        </a:p>
      </dgm:t>
    </dgm:pt>
    <dgm:pt modelId="{CE940788-9374-4532-AE10-9D729D82CD5A}" type="sibTrans" cxnId="{84C59091-2D8B-410B-90E7-3051C9DDFC33}">
      <dgm:prSet/>
      <dgm:spPr/>
      <dgm:t>
        <a:bodyPr/>
        <a:lstStyle/>
        <a:p>
          <a:endParaRPr lang="en-AU" dirty="0"/>
        </a:p>
      </dgm:t>
    </dgm:pt>
    <dgm:pt modelId="{D109D707-1871-4E09-98D5-3C93EEE17CD6}">
      <dgm:prSet/>
      <dgm:spPr>
        <a:solidFill>
          <a:srgbClr val="231F20"/>
        </a:solidFill>
      </dgm:spPr>
      <dgm:t>
        <a:bodyPr/>
        <a:lstStyle/>
        <a:p>
          <a:r>
            <a:rPr lang="en-AU" dirty="0"/>
            <a:t>Search for excess flux by finding residuals between fits and observed LC. </a:t>
          </a:r>
        </a:p>
      </dgm:t>
    </dgm:pt>
    <dgm:pt modelId="{2D82E695-B450-4E81-ABB1-162D813E79E1}" type="parTrans" cxnId="{77CFE86D-78D0-4946-8B3E-7DE8E5569F50}">
      <dgm:prSet/>
      <dgm:spPr/>
      <dgm:t>
        <a:bodyPr/>
        <a:lstStyle/>
        <a:p>
          <a:endParaRPr lang="en-AU"/>
        </a:p>
      </dgm:t>
    </dgm:pt>
    <dgm:pt modelId="{4634CE87-8CB3-4EAF-BBDE-0D31A893C27A}" type="sibTrans" cxnId="{77CFE86D-78D0-4946-8B3E-7DE8E5569F50}">
      <dgm:prSet/>
      <dgm:spPr/>
      <dgm:t>
        <a:bodyPr/>
        <a:lstStyle/>
        <a:p>
          <a:endParaRPr lang="en-AU" dirty="0"/>
        </a:p>
      </dgm:t>
    </dgm:pt>
    <dgm:pt modelId="{084F7E0C-271D-412C-93D2-49C846147E74}">
      <dgm:prSet/>
      <dgm:spPr>
        <a:solidFill>
          <a:srgbClr val="231F20"/>
        </a:solidFill>
      </dgm:spPr>
      <dgm:t>
        <a:bodyPr/>
        <a:lstStyle/>
        <a:p>
          <a:r>
            <a:rPr lang="en-AU" dirty="0"/>
            <a:t>Correlate SN properties with the host galaxy properties.</a:t>
          </a:r>
        </a:p>
      </dgm:t>
    </dgm:pt>
    <dgm:pt modelId="{9A2709A0-2BE5-49B5-AAC1-155E07C08510}" type="parTrans" cxnId="{4CDEB1EF-A4D5-41EC-A3CA-CCD41CA98765}">
      <dgm:prSet/>
      <dgm:spPr/>
      <dgm:t>
        <a:bodyPr/>
        <a:lstStyle/>
        <a:p>
          <a:endParaRPr lang="en-AU"/>
        </a:p>
      </dgm:t>
    </dgm:pt>
    <dgm:pt modelId="{8907171F-70C3-41D7-8D46-20DFA240666E}" type="sibTrans" cxnId="{4CDEB1EF-A4D5-41EC-A3CA-CCD41CA98765}">
      <dgm:prSet/>
      <dgm:spPr/>
      <dgm:t>
        <a:bodyPr/>
        <a:lstStyle/>
        <a:p>
          <a:endParaRPr lang="en-AU"/>
        </a:p>
      </dgm:t>
    </dgm:pt>
    <dgm:pt modelId="{B295B36F-C07C-4274-B4D0-342E391FA21A}" type="pres">
      <dgm:prSet presAssocID="{6262E1C1-91C0-4431-9223-078DEDD25789}" presName="Name0" presStyleCnt="0">
        <dgm:presLayoutVars>
          <dgm:dir/>
          <dgm:resizeHandles val="exact"/>
        </dgm:presLayoutVars>
      </dgm:prSet>
      <dgm:spPr/>
    </dgm:pt>
    <dgm:pt modelId="{0515B639-B2A2-47E3-9677-3591188A40C2}" type="pres">
      <dgm:prSet presAssocID="{B8B2ACEF-2AB2-4B47-B93D-3DACF8E7F962}" presName="node" presStyleLbl="node1" presStyleIdx="0" presStyleCnt="5">
        <dgm:presLayoutVars>
          <dgm:bulletEnabled val="1"/>
        </dgm:presLayoutVars>
      </dgm:prSet>
      <dgm:spPr>
        <a:prstGeom prst="roundRect">
          <a:avLst/>
        </a:prstGeom>
      </dgm:spPr>
    </dgm:pt>
    <dgm:pt modelId="{5F606726-31F8-4210-ABE4-6DEAAA134599}" type="pres">
      <dgm:prSet presAssocID="{F725FD73-39C4-4D89-B1FA-28CC8DDCD2F6}" presName="sibTrans" presStyleLbl="sibTrans1D1" presStyleIdx="0" presStyleCnt="4"/>
      <dgm:spPr/>
    </dgm:pt>
    <dgm:pt modelId="{4DF1F261-D78A-4741-A979-39A189964867}" type="pres">
      <dgm:prSet presAssocID="{F725FD73-39C4-4D89-B1FA-28CC8DDCD2F6}" presName="connectorText" presStyleLbl="sibTrans1D1" presStyleIdx="0" presStyleCnt="4"/>
      <dgm:spPr/>
    </dgm:pt>
    <dgm:pt modelId="{1A40C117-2280-4101-9D0C-9DABCE2EE639}" type="pres">
      <dgm:prSet presAssocID="{54F6AFE8-52E6-4165-B225-EE6B5A915340}" presName="node" presStyleLbl="node1" presStyleIdx="1" presStyleCnt="5">
        <dgm:presLayoutVars>
          <dgm:bulletEnabled val="1"/>
        </dgm:presLayoutVars>
      </dgm:prSet>
      <dgm:spPr>
        <a:prstGeom prst="roundRect">
          <a:avLst/>
        </a:prstGeom>
      </dgm:spPr>
    </dgm:pt>
    <dgm:pt modelId="{4D8CCFE9-9B82-4F3A-9C99-9AF87C4AD4DB}" type="pres">
      <dgm:prSet presAssocID="{C0151999-3B2C-43D8-8636-EB2EBD377111}" presName="sibTrans" presStyleLbl="sibTrans1D1" presStyleIdx="1" presStyleCnt="4"/>
      <dgm:spPr/>
    </dgm:pt>
    <dgm:pt modelId="{7C1E5977-5E50-46D2-9CBC-3C0DCE5223A1}" type="pres">
      <dgm:prSet presAssocID="{C0151999-3B2C-43D8-8636-EB2EBD377111}" presName="connectorText" presStyleLbl="sibTrans1D1" presStyleIdx="1" presStyleCnt="4"/>
      <dgm:spPr/>
    </dgm:pt>
    <dgm:pt modelId="{815D38E9-4F26-4A10-BA9C-8FA2879C977A}" type="pres">
      <dgm:prSet presAssocID="{01319750-023A-42E3-BD37-5265D8FE73EA}" presName="node" presStyleLbl="node1" presStyleIdx="2" presStyleCnt="5">
        <dgm:presLayoutVars>
          <dgm:bulletEnabled val="1"/>
        </dgm:presLayoutVars>
      </dgm:prSet>
      <dgm:spPr>
        <a:prstGeom prst="roundRect">
          <a:avLst/>
        </a:prstGeom>
      </dgm:spPr>
    </dgm:pt>
    <dgm:pt modelId="{A2659614-86EE-4EB4-A23D-9C1FE1C4179C}" type="pres">
      <dgm:prSet presAssocID="{CE940788-9374-4532-AE10-9D729D82CD5A}" presName="sibTrans" presStyleLbl="sibTrans1D1" presStyleIdx="2" presStyleCnt="4"/>
      <dgm:spPr/>
    </dgm:pt>
    <dgm:pt modelId="{8D192D1D-4335-4AD7-B7DF-31EE6893D9F3}" type="pres">
      <dgm:prSet presAssocID="{CE940788-9374-4532-AE10-9D729D82CD5A}" presName="connectorText" presStyleLbl="sibTrans1D1" presStyleIdx="2" presStyleCnt="4"/>
      <dgm:spPr/>
    </dgm:pt>
    <dgm:pt modelId="{229C6DD4-FA44-411D-BF48-21607E061436}" type="pres">
      <dgm:prSet presAssocID="{D109D707-1871-4E09-98D5-3C93EEE17CD6}" presName="node" presStyleLbl="node1" presStyleIdx="3" presStyleCnt="5">
        <dgm:presLayoutVars>
          <dgm:bulletEnabled val="1"/>
        </dgm:presLayoutVars>
      </dgm:prSet>
      <dgm:spPr>
        <a:prstGeom prst="roundRect">
          <a:avLst/>
        </a:prstGeom>
      </dgm:spPr>
    </dgm:pt>
    <dgm:pt modelId="{40B29009-8A4A-4EC6-855E-B01E3FEA3A2D}" type="pres">
      <dgm:prSet presAssocID="{4634CE87-8CB3-4EAF-BBDE-0D31A893C27A}" presName="sibTrans" presStyleLbl="sibTrans1D1" presStyleIdx="3" presStyleCnt="4"/>
      <dgm:spPr/>
    </dgm:pt>
    <dgm:pt modelId="{71905976-8B22-4FC8-8496-6452A86789DF}" type="pres">
      <dgm:prSet presAssocID="{4634CE87-8CB3-4EAF-BBDE-0D31A893C27A}" presName="connectorText" presStyleLbl="sibTrans1D1" presStyleIdx="3" presStyleCnt="4"/>
      <dgm:spPr/>
    </dgm:pt>
    <dgm:pt modelId="{900E731E-5052-4889-BD0F-F401FCFE6128}" type="pres">
      <dgm:prSet presAssocID="{084F7E0C-271D-412C-93D2-49C846147E74}" presName="node" presStyleLbl="node1" presStyleIdx="4" presStyleCnt="5">
        <dgm:presLayoutVars>
          <dgm:bulletEnabled val="1"/>
        </dgm:presLayoutVars>
      </dgm:prSet>
      <dgm:spPr>
        <a:prstGeom prst="roundRect">
          <a:avLst/>
        </a:prstGeom>
      </dgm:spPr>
    </dgm:pt>
  </dgm:ptLst>
  <dgm:cxnLst>
    <dgm:cxn modelId="{7A989702-113B-45C0-A3CB-01BFDDCA83EA}" type="presOf" srcId="{F725FD73-39C4-4D89-B1FA-28CC8DDCD2F6}" destId="{4DF1F261-D78A-4741-A979-39A189964867}" srcOrd="1" destOrd="0" presId="urn:microsoft.com/office/officeart/2005/8/layout/bProcess3"/>
    <dgm:cxn modelId="{B73CA639-DE63-4867-A85A-9EF8094E9507}" type="presOf" srcId="{CE940788-9374-4532-AE10-9D729D82CD5A}" destId="{A2659614-86EE-4EB4-A23D-9C1FE1C4179C}" srcOrd="0" destOrd="0" presId="urn:microsoft.com/office/officeart/2005/8/layout/bProcess3"/>
    <dgm:cxn modelId="{AABFE562-AA4D-4541-97D1-D941F80578DA}" type="presOf" srcId="{084F7E0C-271D-412C-93D2-49C846147E74}" destId="{900E731E-5052-4889-BD0F-F401FCFE6128}" srcOrd="0" destOrd="0" presId="urn:microsoft.com/office/officeart/2005/8/layout/bProcess3"/>
    <dgm:cxn modelId="{F2538368-7D2F-43A0-BD87-69814C5E71F3}" type="presOf" srcId="{CE940788-9374-4532-AE10-9D729D82CD5A}" destId="{8D192D1D-4335-4AD7-B7DF-31EE6893D9F3}" srcOrd="1" destOrd="0" presId="urn:microsoft.com/office/officeart/2005/8/layout/bProcess3"/>
    <dgm:cxn modelId="{B279A54B-30C6-41ED-AC56-FE2246C648C2}" type="presOf" srcId="{B8B2ACEF-2AB2-4B47-B93D-3DACF8E7F962}" destId="{0515B639-B2A2-47E3-9677-3591188A40C2}" srcOrd="0" destOrd="0" presId="urn:microsoft.com/office/officeart/2005/8/layout/bProcess3"/>
    <dgm:cxn modelId="{77CFE86D-78D0-4946-8B3E-7DE8E5569F50}" srcId="{6262E1C1-91C0-4431-9223-078DEDD25789}" destId="{D109D707-1871-4E09-98D5-3C93EEE17CD6}" srcOrd="3" destOrd="0" parTransId="{2D82E695-B450-4E81-ABB1-162D813E79E1}" sibTransId="{4634CE87-8CB3-4EAF-BBDE-0D31A893C27A}"/>
    <dgm:cxn modelId="{DA5CEE6E-5BC1-4E5D-86B2-F6A8C33A3BB6}" type="presOf" srcId="{6262E1C1-91C0-4431-9223-078DEDD25789}" destId="{B295B36F-C07C-4274-B4D0-342E391FA21A}" srcOrd="0" destOrd="0" presId="urn:microsoft.com/office/officeart/2005/8/layout/bProcess3"/>
    <dgm:cxn modelId="{06B56252-AA58-4E5E-913A-9865ECB697A2}" type="presOf" srcId="{01319750-023A-42E3-BD37-5265D8FE73EA}" destId="{815D38E9-4F26-4A10-BA9C-8FA2879C977A}" srcOrd="0" destOrd="0" presId="urn:microsoft.com/office/officeart/2005/8/layout/bProcess3"/>
    <dgm:cxn modelId="{08F23458-4C29-462A-8196-56307D01AFE5}" type="presOf" srcId="{C0151999-3B2C-43D8-8636-EB2EBD377111}" destId="{7C1E5977-5E50-46D2-9CBC-3C0DCE5223A1}" srcOrd="1" destOrd="0" presId="urn:microsoft.com/office/officeart/2005/8/layout/bProcess3"/>
    <dgm:cxn modelId="{9758C879-DC50-448A-9B6F-52B5DE82D89E}" srcId="{6262E1C1-91C0-4431-9223-078DEDD25789}" destId="{54F6AFE8-52E6-4165-B225-EE6B5A915340}" srcOrd="1" destOrd="0" parTransId="{892E2E45-179C-4173-9D6D-ABB302D222F8}" sibTransId="{C0151999-3B2C-43D8-8636-EB2EBD377111}"/>
    <dgm:cxn modelId="{84C59091-2D8B-410B-90E7-3051C9DDFC33}" srcId="{6262E1C1-91C0-4431-9223-078DEDD25789}" destId="{01319750-023A-42E3-BD37-5265D8FE73EA}" srcOrd="2" destOrd="0" parTransId="{D46050DA-EB50-4B81-AFF1-302B37DDD609}" sibTransId="{CE940788-9374-4532-AE10-9D729D82CD5A}"/>
    <dgm:cxn modelId="{03DA2EBA-6905-4A3F-8B04-534007CD1296}" type="presOf" srcId="{C0151999-3B2C-43D8-8636-EB2EBD377111}" destId="{4D8CCFE9-9B82-4F3A-9C99-9AF87C4AD4DB}" srcOrd="0" destOrd="0" presId="urn:microsoft.com/office/officeart/2005/8/layout/bProcess3"/>
    <dgm:cxn modelId="{9860E5CF-2F01-4DFE-B0C1-FC04C270DD75}" type="presOf" srcId="{4634CE87-8CB3-4EAF-BBDE-0D31A893C27A}" destId="{71905976-8B22-4FC8-8496-6452A86789DF}" srcOrd="1" destOrd="0" presId="urn:microsoft.com/office/officeart/2005/8/layout/bProcess3"/>
    <dgm:cxn modelId="{29A3ADD4-1547-4200-AE86-E947445D534B}" type="presOf" srcId="{D109D707-1871-4E09-98D5-3C93EEE17CD6}" destId="{229C6DD4-FA44-411D-BF48-21607E061436}" srcOrd="0" destOrd="0" presId="urn:microsoft.com/office/officeart/2005/8/layout/bProcess3"/>
    <dgm:cxn modelId="{A56A39E3-1DD1-4290-A1D1-16BBA04356F3}" type="presOf" srcId="{F725FD73-39C4-4D89-B1FA-28CC8DDCD2F6}" destId="{5F606726-31F8-4210-ABE4-6DEAAA134599}" srcOrd="0" destOrd="0" presId="urn:microsoft.com/office/officeart/2005/8/layout/bProcess3"/>
    <dgm:cxn modelId="{4D4AE4EA-06E3-4040-A569-6EC42C2AFC29}" srcId="{6262E1C1-91C0-4431-9223-078DEDD25789}" destId="{B8B2ACEF-2AB2-4B47-B93D-3DACF8E7F962}" srcOrd="0" destOrd="0" parTransId="{E07F3A5B-590C-4328-94D8-FB6815AA8D75}" sibTransId="{F725FD73-39C4-4D89-B1FA-28CC8DDCD2F6}"/>
    <dgm:cxn modelId="{4CDEB1EF-A4D5-41EC-A3CA-CCD41CA98765}" srcId="{6262E1C1-91C0-4431-9223-078DEDD25789}" destId="{084F7E0C-271D-412C-93D2-49C846147E74}" srcOrd="4" destOrd="0" parTransId="{9A2709A0-2BE5-49B5-AAC1-155E07C08510}" sibTransId="{8907171F-70C3-41D7-8D46-20DFA240666E}"/>
    <dgm:cxn modelId="{C319BAF0-48DB-4500-9C35-4AEB5F897521}" type="presOf" srcId="{4634CE87-8CB3-4EAF-BBDE-0D31A893C27A}" destId="{40B29009-8A4A-4EC6-855E-B01E3FEA3A2D}" srcOrd="0" destOrd="0" presId="urn:microsoft.com/office/officeart/2005/8/layout/bProcess3"/>
    <dgm:cxn modelId="{996DFDFF-2E57-449B-A762-9B1EA0C843B1}" type="presOf" srcId="{54F6AFE8-52E6-4165-B225-EE6B5A915340}" destId="{1A40C117-2280-4101-9D0C-9DABCE2EE639}" srcOrd="0" destOrd="0" presId="urn:microsoft.com/office/officeart/2005/8/layout/bProcess3"/>
    <dgm:cxn modelId="{0CA30625-0AF3-42E1-92A5-732E0B7CFDB8}" type="presParOf" srcId="{B295B36F-C07C-4274-B4D0-342E391FA21A}" destId="{0515B639-B2A2-47E3-9677-3591188A40C2}" srcOrd="0" destOrd="0" presId="urn:microsoft.com/office/officeart/2005/8/layout/bProcess3"/>
    <dgm:cxn modelId="{E235B442-349B-4F5A-9625-987464FF52A5}" type="presParOf" srcId="{B295B36F-C07C-4274-B4D0-342E391FA21A}" destId="{5F606726-31F8-4210-ABE4-6DEAAA134599}" srcOrd="1" destOrd="0" presId="urn:microsoft.com/office/officeart/2005/8/layout/bProcess3"/>
    <dgm:cxn modelId="{EEFCF193-DA00-4CAE-AA2F-95619820CD1A}" type="presParOf" srcId="{5F606726-31F8-4210-ABE4-6DEAAA134599}" destId="{4DF1F261-D78A-4741-A979-39A189964867}" srcOrd="0" destOrd="0" presId="urn:microsoft.com/office/officeart/2005/8/layout/bProcess3"/>
    <dgm:cxn modelId="{2A11B05A-26BE-4996-863A-EA13EB4748BC}" type="presParOf" srcId="{B295B36F-C07C-4274-B4D0-342E391FA21A}" destId="{1A40C117-2280-4101-9D0C-9DABCE2EE639}" srcOrd="2" destOrd="0" presId="urn:microsoft.com/office/officeart/2005/8/layout/bProcess3"/>
    <dgm:cxn modelId="{BC986ECE-8557-471D-A229-4234DAC74CA5}" type="presParOf" srcId="{B295B36F-C07C-4274-B4D0-342E391FA21A}" destId="{4D8CCFE9-9B82-4F3A-9C99-9AF87C4AD4DB}" srcOrd="3" destOrd="0" presId="urn:microsoft.com/office/officeart/2005/8/layout/bProcess3"/>
    <dgm:cxn modelId="{62CB594A-FFBD-4348-8595-C7AF1CA1A2C9}" type="presParOf" srcId="{4D8CCFE9-9B82-4F3A-9C99-9AF87C4AD4DB}" destId="{7C1E5977-5E50-46D2-9CBC-3C0DCE5223A1}" srcOrd="0" destOrd="0" presId="urn:microsoft.com/office/officeart/2005/8/layout/bProcess3"/>
    <dgm:cxn modelId="{61767780-F3DD-465D-85CB-293BBE871914}" type="presParOf" srcId="{B295B36F-C07C-4274-B4D0-342E391FA21A}" destId="{815D38E9-4F26-4A10-BA9C-8FA2879C977A}" srcOrd="4" destOrd="0" presId="urn:microsoft.com/office/officeart/2005/8/layout/bProcess3"/>
    <dgm:cxn modelId="{4E51DCB6-EDBD-4199-B95B-8975BE1FF3C3}" type="presParOf" srcId="{B295B36F-C07C-4274-B4D0-342E391FA21A}" destId="{A2659614-86EE-4EB4-A23D-9C1FE1C4179C}" srcOrd="5" destOrd="0" presId="urn:microsoft.com/office/officeart/2005/8/layout/bProcess3"/>
    <dgm:cxn modelId="{52D2B857-F5C2-40AC-BE3E-9338024D0082}" type="presParOf" srcId="{A2659614-86EE-4EB4-A23D-9C1FE1C4179C}" destId="{8D192D1D-4335-4AD7-B7DF-31EE6893D9F3}" srcOrd="0" destOrd="0" presId="urn:microsoft.com/office/officeart/2005/8/layout/bProcess3"/>
    <dgm:cxn modelId="{04147024-7759-4B68-B444-EBBB7AD0655B}" type="presParOf" srcId="{B295B36F-C07C-4274-B4D0-342E391FA21A}" destId="{229C6DD4-FA44-411D-BF48-21607E061436}" srcOrd="6" destOrd="0" presId="urn:microsoft.com/office/officeart/2005/8/layout/bProcess3"/>
    <dgm:cxn modelId="{25DB8D75-8C30-492C-BB86-643F89E784E0}" type="presParOf" srcId="{B295B36F-C07C-4274-B4D0-342E391FA21A}" destId="{40B29009-8A4A-4EC6-855E-B01E3FEA3A2D}" srcOrd="7" destOrd="0" presId="urn:microsoft.com/office/officeart/2005/8/layout/bProcess3"/>
    <dgm:cxn modelId="{9941A9A0-DDEA-4009-BBB2-085F34D4CA3C}" type="presParOf" srcId="{40B29009-8A4A-4EC6-855E-B01E3FEA3A2D}" destId="{71905976-8B22-4FC8-8496-6452A86789DF}" srcOrd="0" destOrd="0" presId="urn:microsoft.com/office/officeart/2005/8/layout/bProcess3"/>
    <dgm:cxn modelId="{D2DD7111-1E52-4327-B436-1741620DB62C}" type="presParOf" srcId="{B295B36F-C07C-4274-B4D0-342E391FA21A}" destId="{900E731E-5052-4889-BD0F-F401FCFE6128}" srcOrd="8"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606726-31F8-4210-ABE4-6DEAAA134599}">
      <dsp:nvSpPr>
        <dsp:cNvPr id="0" name=""/>
        <dsp:cNvSpPr/>
      </dsp:nvSpPr>
      <dsp:spPr>
        <a:xfrm>
          <a:off x="3040792"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3357014" y="912848"/>
        <a:ext cx="34897" cy="6979"/>
      </dsp:txXfrm>
    </dsp:sp>
    <dsp:sp modelId="{0515B639-B2A2-47E3-9677-3591188A40C2}">
      <dsp:nvSpPr>
        <dsp:cNvPr id="0" name=""/>
        <dsp:cNvSpPr/>
      </dsp:nvSpPr>
      <dsp:spPr>
        <a:xfrm>
          <a:off x="8061"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464" tIns="156464" rIns="156464" bIns="156464" numCol="1" spcCol="1270" anchor="ctr" anchorCtr="0">
          <a:noAutofit/>
        </a:bodyPr>
        <a:lstStyle/>
        <a:p>
          <a:pPr marL="0" lvl="0" indent="0" algn="ctr" defTabSz="977900">
            <a:lnSpc>
              <a:spcPct val="90000"/>
            </a:lnSpc>
            <a:spcBef>
              <a:spcPct val="0"/>
            </a:spcBef>
            <a:spcAft>
              <a:spcPct val="35000"/>
            </a:spcAft>
            <a:buNone/>
          </a:pPr>
          <a:r>
            <a:rPr lang="en-AU" sz="2200" kern="1200" dirty="0"/>
            <a:t>Assemble a catalogue of extragalactic candidates.</a:t>
          </a:r>
        </a:p>
      </dsp:txBody>
      <dsp:txXfrm>
        <a:off x="96941" y="94859"/>
        <a:ext cx="2856771" cy="1642958"/>
      </dsp:txXfrm>
    </dsp:sp>
    <dsp:sp modelId="{4D8CCFE9-9B82-4F3A-9C99-9AF87C4AD4DB}">
      <dsp:nvSpPr>
        <dsp:cNvPr id="0" name=""/>
        <dsp:cNvSpPr/>
      </dsp:nvSpPr>
      <dsp:spPr>
        <a:xfrm>
          <a:off x="6773265"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7089488" y="912848"/>
        <a:ext cx="34897" cy="6979"/>
      </dsp:txXfrm>
    </dsp:sp>
    <dsp:sp modelId="{1A40C117-2280-4101-9D0C-9DABCE2EE639}">
      <dsp:nvSpPr>
        <dsp:cNvPr id="0" name=""/>
        <dsp:cNvSpPr/>
      </dsp:nvSpPr>
      <dsp:spPr>
        <a:xfrm>
          <a:off x="3740534"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464" tIns="156464" rIns="156464" bIns="156464" numCol="1" spcCol="1270" anchor="ctr" anchorCtr="0">
          <a:noAutofit/>
        </a:bodyPr>
        <a:lstStyle/>
        <a:p>
          <a:pPr marL="0" lvl="0" indent="0" algn="ctr" defTabSz="977900">
            <a:lnSpc>
              <a:spcPct val="90000"/>
            </a:lnSpc>
            <a:spcBef>
              <a:spcPct val="0"/>
            </a:spcBef>
            <a:spcAft>
              <a:spcPct val="35000"/>
            </a:spcAft>
            <a:buNone/>
          </a:pPr>
          <a:r>
            <a:rPr lang="en-AU" sz="2200" kern="1200" dirty="0"/>
            <a:t>Use ML classifiers to find potential SNe Ia.</a:t>
          </a:r>
        </a:p>
      </dsp:txBody>
      <dsp:txXfrm>
        <a:off x="3829414" y="94859"/>
        <a:ext cx="2856771" cy="1642958"/>
      </dsp:txXfrm>
    </dsp:sp>
    <dsp:sp modelId="{A2659614-86EE-4EB4-A23D-9C1FE1C4179C}">
      <dsp:nvSpPr>
        <dsp:cNvPr id="0" name=""/>
        <dsp:cNvSpPr/>
      </dsp:nvSpPr>
      <dsp:spPr>
        <a:xfrm>
          <a:off x="1525326" y="1824897"/>
          <a:ext cx="7464946" cy="667342"/>
        </a:xfrm>
        <a:custGeom>
          <a:avLst/>
          <a:gdLst/>
          <a:ahLst/>
          <a:cxnLst/>
          <a:rect l="0" t="0" r="0" b="0"/>
          <a:pathLst>
            <a:path>
              <a:moveTo>
                <a:pt x="7464946" y="0"/>
              </a:moveTo>
              <a:lnTo>
                <a:pt x="7464946" y="350771"/>
              </a:lnTo>
              <a:lnTo>
                <a:pt x="0" y="350771"/>
              </a:lnTo>
              <a:lnTo>
                <a:pt x="0" y="667342"/>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5070362" y="2155079"/>
        <a:ext cx="374875" cy="6979"/>
      </dsp:txXfrm>
    </dsp:sp>
    <dsp:sp modelId="{815D38E9-4F26-4A10-BA9C-8FA2879C977A}">
      <dsp:nvSpPr>
        <dsp:cNvPr id="0" name=""/>
        <dsp:cNvSpPr/>
      </dsp:nvSpPr>
      <dsp:spPr>
        <a:xfrm>
          <a:off x="7473007" y="5979"/>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464" tIns="156464" rIns="156464" bIns="156464" numCol="1" spcCol="1270" anchor="ctr" anchorCtr="0">
          <a:noAutofit/>
        </a:bodyPr>
        <a:lstStyle/>
        <a:p>
          <a:pPr marL="0" lvl="0" indent="0" algn="ctr" defTabSz="977900">
            <a:lnSpc>
              <a:spcPct val="90000"/>
            </a:lnSpc>
            <a:spcBef>
              <a:spcPct val="0"/>
            </a:spcBef>
            <a:spcAft>
              <a:spcPct val="35000"/>
            </a:spcAft>
            <a:buNone/>
          </a:pPr>
          <a:r>
            <a:rPr lang="en-AU" sz="2200" kern="1200" dirty="0"/>
            <a:t>Use SALT to fit observed light curves (LC) to determine </a:t>
          </a:r>
          <a14:m xmlns:a14="http://schemas.microsoft.com/office/drawing/2010/main">
            <m:oMath xmlns:m="http://schemas.openxmlformats.org/officeDocument/2006/math">
              <m:sSub>
                <m:sSubPr>
                  <m:ctrlPr>
                    <a:rPr lang="en-AU" sz="2200" i="1" kern="1200" dirty="0" smtClean="0">
                      <a:latin typeface="Cambria Math" panose="02040503050406030204" pitchFamily="18" charset="0"/>
                    </a:rPr>
                  </m:ctrlPr>
                </m:sSubPr>
                <m:e>
                  <m:r>
                    <a:rPr lang="en-AU" sz="2200" i="1" kern="1200" dirty="0">
                      <a:latin typeface="Cambria Math" panose="02040503050406030204" pitchFamily="18" charset="0"/>
                    </a:rPr>
                    <m:t>𝑥</m:t>
                  </m:r>
                </m:e>
                <m:sub>
                  <m:r>
                    <a:rPr lang="en-AU" sz="2200" i="1" kern="1200" dirty="0">
                      <a:latin typeface="Cambria Math" panose="02040503050406030204" pitchFamily="18" charset="0"/>
                    </a:rPr>
                    <m:t>1</m:t>
                  </m:r>
                </m:sub>
              </m:sSub>
            </m:oMath>
          </a14:m>
          <a:r>
            <a:rPr lang="en-AU" sz="2200" kern="1200" dirty="0"/>
            <a:t>and </a:t>
          </a:r>
          <a14:m xmlns:a14="http://schemas.microsoft.com/office/drawing/2010/main">
            <m:oMath xmlns:m="http://schemas.openxmlformats.org/officeDocument/2006/math">
              <m:r>
                <a:rPr lang="en-AU" sz="2200" i="1" kern="1200" dirty="0" smtClean="0">
                  <a:latin typeface="Cambria Math" panose="02040503050406030204" pitchFamily="18" charset="0"/>
                </a:rPr>
                <m:t>𝑐</m:t>
              </m:r>
            </m:oMath>
          </a14:m>
          <a:r>
            <a:rPr lang="en-AU" sz="2200" kern="1200" dirty="0"/>
            <a:t>.</a:t>
          </a:r>
        </a:p>
      </dsp:txBody>
      <dsp:txXfrm>
        <a:off x="7561887" y="94859"/>
        <a:ext cx="2856771" cy="1642958"/>
      </dsp:txXfrm>
    </dsp:sp>
    <dsp:sp modelId="{40B29009-8A4A-4EC6-855E-B01E3FEA3A2D}">
      <dsp:nvSpPr>
        <dsp:cNvPr id="0" name=""/>
        <dsp:cNvSpPr/>
      </dsp:nvSpPr>
      <dsp:spPr>
        <a:xfrm>
          <a:off x="3040792" y="3389279"/>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AU" sz="500" kern="1200" dirty="0"/>
        </a:p>
      </dsp:txBody>
      <dsp:txXfrm>
        <a:off x="3357014" y="3431509"/>
        <a:ext cx="34897" cy="6979"/>
      </dsp:txXfrm>
    </dsp:sp>
    <dsp:sp modelId="{229C6DD4-FA44-411D-BF48-21607E061436}">
      <dsp:nvSpPr>
        <dsp:cNvPr id="0" name=""/>
        <dsp:cNvSpPr/>
      </dsp:nvSpPr>
      <dsp:spPr>
        <a:xfrm>
          <a:off x="8061" y="2524640"/>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464" tIns="156464" rIns="156464" bIns="156464" numCol="1" spcCol="1270" anchor="ctr" anchorCtr="0">
          <a:noAutofit/>
        </a:bodyPr>
        <a:lstStyle/>
        <a:p>
          <a:pPr marL="0" lvl="0" indent="0" algn="ctr" defTabSz="977900">
            <a:lnSpc>
              <a:spcPct val="90000"/>
            </a:lnSpc>
            <a:spcBef>
              <a:spcPct val="0"/>
            </a:spcBef>
            <a:spcAft>
              <a:spcPct val="35000"/>
            </a:spcAft>
            <a:buNone/>
          </a:pPr>
          <a:r>
            <a:rPr lang="en-AU" sz="2200" kern="1200" dirty="0"/>
            <a:t>Search for excess flux by finding residuals between fits and observed LC. </a:t>
          </a:r>
        </a:p>
      </dsp:txBody>
      <dsp:txXfrm>
        <a:off x="96941" y="2613520"/>
        <a:ext cx="2856771" cy="1642958"/>
      </dsp:txXfrm>
    </dsp:sp>
    <dsp:sp modelId="{900E731E-5052-4889-BD0F-F401FCFE6128}">
      <dsp:nvSpPr>
        <dsp:cNvPr id="0" name=""/>
        <dsp:cNvSpPr/>
      </dsp:nvSpPr>
      <dsp:spPr>
        <a:xfrm>
          <a:off x="3740534" y="2524640"/>
          <a:ext cx="3034531" cy="1820718"/>
        </a:xfrm>
        <a:prstGeom prst="roundRect">
          <a:avLst/>
        </a:prstGeom>
        <a:solidFill>
          <a:srgbClr val="231F2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464" tIns="156464" rIns="156464" bIns="156464" numCol="1" spcCol="1270" anchor="ctr" anchorCtr="0">
          <a:noAutofit/>
        </a:bodyPr>
        <a:lstStyle/>
        <a:p>
          <a:pPr marL="0" lvl="0" indent="0" algn="ctr" defTabSz="977900">
            <a:lnSpc>
              <a:spcPct val="90000"/>
            </a:lnSpc>
            <a:spcBef>
              <a:spcPct val="0"/>
            </a:spcBef>
            <a:spcAft>
              <a:spcPct val="35000"/>
            </a:spcAft>
            <a:buNone/>
          </a:pPr>
          <a:r>
            <a:rPr lang="en-AU" sz="2200" kern="1200" dirty="0"/>
            <a:t>Correlate SN properties with the host galaxy properties.</a:t>
          </a:r>
        </a:p>
      </dsp:txBody>
      <dsp:txXfrm>
        <a:off x="3829414" y="2613520"/>
        <a:ext cx="2856771" cy="1642958"/>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AU" dirty="0"/>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CA1E58A6-B5FA-4B3B-BC1A-ECF1AECB335E}" type="datetimeFigureOut">
              <a:rPr lang="en-AU" smtClean="0"/>
              <a:t>12/05/2026</a:t>
            </a:fld>
            <a:endParaRPr lang="en-AU" dirty="0"/>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AU" dirty="0"/>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AU" dirty="0"/>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8C14253-CF00-411E-A6A8-E54749F369DE}" type="slidenum">
              <a:rPr lang="en-AU" smtClean="0"/>
              <a:t>‹#›</a:t>
            </a:fld>
            <a:endParaRPr lang="en-AU" dirty="0"/>
          </a:p>
        </p:txBody>
      </p:sp>
    </p:spTree>
    <p:extLst>
      <p:ext uri="{BB962C8B-B14F-4D97-AF65-F5344CB8AC3E}">
        <p14:creationId xmlns:p14="http://schemas.microsoft.com/office/powerpoint/2010/main" val="18548060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Introduce yourself and welcome everyone to the presentation of the current literature and proposed method for a study of Early Excess SNe Ia and their Host galaxy properties.</a:t>
            </a:r>
          </a:p>
        </p:txBody>
      </p:sp>
      <p:sp>
        <p:nvSpPr>
          <p:cNvPr id="4" name="Slide Number Placeholder 3"/>
          <p:cNvSpPr>
            <a:spLocks noGrp="1"/>
          </p:cNvSpPr>
          <p:nvPr>
            <p:ph type="sldNum" sz="quarter" idx="5"/>
          </p:nvPr>
        </p:nvSpPr>
        <p:spPr/>
        <p:txBody>
          <a:bodyPr/>
          <a:lstStyle/>
          <a:p>
            <a:fld id="{98C14253-CF00-411E-A6A8-E54749F369DE}" type="slidenum">
              <a:rPr lang="en-AU" smtClean="0"/>
              <a:t>1</a:t>
            </a:fld>
            <a:endParaRPr lang="en-AU" dirty="0"/>
          </a:p>
        </p:txBody>
      </p:sp>
    </p:spTree>
    <p:extLst>
      <p:ext uri="{BB962C8B-B14F-4D97-AF65-F5344CB8AC3E}">
        <p14:creationId xmlns:p14="http://schemas.microsoft.com/office/powerpoint/2010/main" val="2608199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new technology that will enable this study is the Vera C. Rubin Observatory located in Chile, with an 8.36 metre aperture and filters that span 320 to 1084 nm this enables deep observations like never before. </a:t>
            </a:r>
          </a:p>
          <a:p>
            <a:endParaRPr lang="en-AU" dirty="0"/>
          </a:p>
          <a:p>
            <a:r>
              <a:rPr lang="en-AU" dirty="0"/>
              <a:t>Along with the relatively large aperture of Rubin the strategy of the survey that Rubin will operate under will produce a staggering number of transient alerts in the southern hemisphere of the sky, this means that Rubin is in a unique position to find transients. The main survey, the wide fast deep survey, will have a cadence for each pointing of approximately 3 days across all filters. The smaller surveys such as the deep drilling fields will have a much higher cadence of approximately less than a day. This will result in the SN Ia data unlike previous surveys.    </a:t>
            </a:r>
          </a:p>
        </p:txBody>
      </p:sp>
      <p:sp>
        <p:nvSpPr>
          <p:cNvPr id="4" name="Slide Number Placeholder 3"/>
          <p:cNvSpPr>
            <a:spLocks noGrp="1"/>
          </p:cNvSpPr>
          <p:nvPr>
            <p:ph type="sldNum" sz="quarter" idx="5"/>
          </p:nvPr>
        </p:nvSpPr>
        <p:spPr/>
        <p:txBody>
          <a:bodyPr/>
          <a:lstStyle/>
          <a:p>
            <a:fld id="{98C14253-CF00-411E-A6A8-E54749F369DE}" type="slidenum">
              <a:rPr lang="en-AU" smtClean="0"/>
              <a:t>2</a:t>
            </a:fld>
            <a:endParaRPr lang="en-AU" dirty="0"/>
          </a:p>
        </p:txBody>
      </p:sp>
    </p:spTree>
    <p:extLst>
      <p:ext uri="{BB962C8B-B14F-4D97-AF65-F5344CB8AC3E}">
        <p14:creationId xmlns:p14="http://schemas.microsoft.com/office/powerpoint/2010/main" val="28073441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So what is a type Ia supernova? There are two main ideas proposed that have been successful in modelling and explaining explosion mechanisms the first being the single degenerate scenario where the primary start has become a white dwarf. This white dwarf then accretes mass from its main sequence companion star, accreting enough mass beyond the Chandrashekar limit which triggers fusion of the carbon in the core triggering this thermal runaway event that produces a shockwave in the white dwarf that rips it. On the right is the double degenerate scenario where a binary white dwarf system eventually merges triggering the same thermal runaway burning of carbon that produces the shockwaves that produce the elements that decay into the light that we observe.  </a:t>
            </a:r>
          </a:p>
        </p:txBody>
      </p:sp>
      <p:sp>
        <p:nvSpPr>
          <p:cNvPr id="4" name="Slide Number Placeholder 3"/>
          <p:cNvSpPr>
            <a:spLocks noGrp="1"/>
          </p:cNvSpPr>
          <p:nvPr>
            <p:ph type="sldNum" sz="quarter" idx="5"/>
          </p:nvPr>
        </p:nvSpPr>
        <p:spPr/>
        <p:txBody>
          <a:bodyPr/>
          <a:lstStyle/>
          <a:p>
            <a:fld id="{98C14253-CF00-411E-A6A8-E54749F369DE}" type="slidenum">
              <a:rPr lang="en-AU" smtClean="0"/>
              <a:t>3</a:t>
            </a:fld>
            <a:endParaRPr lang="en-AU" dirty="0"/>
          </a:p>
        </p:txBody>
      </p:sp>
    </p:spTree>
    <p:extLst>
      <p:ext uri="{BB962C8B-B14F-4D97-AF65-F5344CB8AC3E}">
        <p14:creationId xmlns:p14="http://schemas.microsoft.com/office/powerpoint/2010/main" val="3609648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We are interested in these types of supernova because of the unique thermonuclear explosion that happens at the Chandrashekar mass limit. This means it produces roughly the same amount of nickel-56 and then cobalt-56 which produces the photons that we observe with our telescopes. Because of this typical peak flux, luminosity or magnitude these types of supernova can be standardised. This means that we adjust the light curve by correcting for the colour of the SNe Ia which is due to the occlusion due to dust and other small variations that will vary the properties of the progenitor such as the temperature and metallicity. The stretch parameter is how we adjust light curves that are broader and take longer to fade. Empirical fitting of the light curves with models that adjust the masses distributions of nickel – 56 after the supernova suggest that the stretch is primarily due to varying masses and distributions.    </a:t>
            </a:r>
          </a:p>
        </p:txBody>
      </p:sp>
      <p:sp>
        <p:nvSpPr>
          <p:cNvPr id="4" name="Slide Number Placeholder 3"/>
          <p:cNvSpPr>
            <a:spLocks noGrp="1"/>
          </p:cNvSpPr>
          <p:nvPr>
            <p:ph type="sldNum" sz="quarter" idx="5"/>
          </p:nvPr>
        </p:nvSpPr>
        <p:spPr/>
        <p:txBody>
          <a:bodyPr/>
          <a:lstStyle/>
          <a:p>
            <a:fld id="{98C14253-CF00-411E-A6A8-E54749F369DE}" type="slidenum">
              <a:rPr lang="en-AU" smtClean="0"/>
              <a:t>4</a:t>
            </a:fld>
            <a:endParaRPr lang="en-AU" dirty="0"/>
          </a:p>
        </p:txBody>
      </p:sp>
    </p:spTree>
    <p:extLst>
      <p:ext uri="{BB962C8B-B14F-4D97-AF65-F5344CB8AC3E}">
        <p14:creationId xmlns:p14="http://schemas.microsoft.com/office/powerpoint/2010/main" val="180043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A rare subtype of SNe Ia are these type Ias that have an excess in their fluxes or magnitudes early in the evolution of the light curve. The plot shows the evolution of the light curve for SN 2012cg which was the first normal SNe Ia that had this excess light in that’s highlighted in the red ellipse. The comparison to SN 2011fe is there as SN 2011fe is one of the earliest caught supernovas thus having early light curve data that can be compared. The population of discovered early excess SNe Ia is very limited at this time, but recently estimates have shown pushed for higher cadences in observations could improve the discoveries of the early excess.</a:t>
            </a:r>
          </a:p>
        </p:txBody>
      </p:sp>
      <p:sp>
        <p:nvSpPr>
          <p:cNvPr id="4" name="Slide Number Placeholder 3"/>
          <p:cNvSpPr>
            <a:spLocks noGrp="1"/>
          </p:cNvSpPr>
          <p:nvPr>
            <p:ph type="sldNum" sz="quarter" idx="5"/>
          </p:nvPr>
        </p:nvSpPr>
        <p:spPr/>
        <p:txBody>
          <a:bodyPr/>
          <a:lstStyle/>
          <a:p>
            <a:fld id="{98C14253-CF00-411E-A6A8-E54749F369DE}" type="slidenum">
              <a:rPr lang="en-AU" smtClean="0"/>
              <a:t>5</a:t>
            </a:fld>
            <a:endParaRPr lang="en-AU" dirty="0"/>
          </a:p>
        </p:txBody>
      </p:sp>
    </p:spTree>
    <p:extLst>
      <p:ext uri="{BB962C8B-B14F-4D97-AF65-F5344CB8AC3E}">
        <p14:creationId xmlns:p14="http://schemas.microsoft.com/office/powerpoint/2010/main" val="2317708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To improve standardisation of the light curves of type Ia supernovae, population studies are done to see how the difference between the predicted peak magnitude of a supernova varies with the predicted brightness given a particular cosmology. In this figure from Toy et al we see the difference in the observed brightness of the supernova and the brightness calculated in a standard cosmology, as a function of the separation from the centre of the host galaxy. These correlation studies with populations of supernovae are found to determine what properties of the host environment affect the difference in the observed and predicted peak magnitudes because if an intrinsic property of the host environment is affecting the observed brightness that isn’t being corrected for it can provide more insight on the physics that affect SNe Ia data used in cosmology.  </a:t>
            </a:r>
          </a:p>
        </p:txBody>
      </p:sp>
      <p:sp>
        <p:nvSpPr>
          <p:cNvPr id="4" name="Slide Number Placeholder 3"/>
          <p:cNvSpPr>
            <a:spLocks noGrp="1"/>
          </p:cNvSpPr>
          <p:nvPr>
            <p:ph type="sldNum" sz="quarter" idx="5"/>
          </p:nvPr>
        </p:nvSpPr>
        <p:spPr/>
        <p:txBody>
          <a:bodyPr/>
          <a:lstStyle/>
          <a:p>
            <a:fld id="{98C14253-CF00-411E-A6A8-E54749F369DE}" type="slidenum">
              <a:rPr lang="en-AU" smtClean="0"/>
              <a:t>6</a:t>
            </a:fld>
            <a:endParaRPr lang="en-AU" dirty="0"/>
          </a:p>
        </p:txBody>
      </p:sp>
    </p:spTree>
    <p:extLst>
      <p:ext uri="{BB962C8B-B14F-4D97-AF65-F5344CB8AC3E}">
        <p14:creationId xmlns:p14="http://schemas.microsoft.com/office/powerpoint/2010/main" val="338965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plan is to use the high cadence of the Rubin observatory through the LSST survey to find more early excess supernovae assign host’s to these supernovae and then correlate them with their host’s properties. But first we actually need to find the supernovae, for this the Fink broker will be used to find extragalactic candidates by removing any alerts that pass that could be confused for SNe like variable stars and AGNs. Having a galactic latitude cut off which eliminates any objects that could be found within our galaxy, this ensures that objects that pass the filter are extra-galactic and we only want new candidates which will also eliminate objects that are clearly not a new supernova. Following the construction of a catalogue of extragalactic candidates we will then classify these objects by using the EarlySNIa classifier to determine if these objects have been identified as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8</a:t>
            </a:fld>
            <a:endParaRPr lang="en-AU" dirty="0"/>
          </a:p>
        </p:txBody>
      </p:sp>
    </p:spTree>
    <p:extLst>
      <p:ext uri="{BB962C8B-B14F-4D97-AF65-F5344CB8AC3E}">
        <p14:creationId xmlns:p14="http://schemas.microsoft.com/office/powerpoint/2010/main" val="32588206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Now with a sample of SNe Ia we can use the normalised DLR method mentioned in slide 5 to associate host galaxies with the SNe Ia. Then using the photometry of the host galaxy without the supernova we can use fits to the galaxy spectral energy distribution templates to estimate the star formation rate, the stellar mass and the global colour of the galaxy. </a:t>
            </a:r>
          </a:p>
        </p:txBody>
      </p:sp>
      <p:sp>
        <p:nvSpPr>
          <p:cNvPr id="4" name="Slide Number Placeholder 3"/>
          <p:cNvSpPr>
            <a:spLocks noGrp="1"/>
          </p:cNvSpPr>
          <p:nvPr>
            <p:ph type="sldNum" sz="quarter" idx="5"/>
          </p:nvPr>
        </p:nvSpPr>
        <p:spPr/>
        <p:txBody>
          <a:bodyPr/>
          <a:lstStyle/>
          <a:p>
            <a:fld id="{98C14253-CF00-411E-A6A8-E54749F369DE}" type="slidenum">
              <a:rPr lang="en-AU" smtClean="0"/>
              <a:t>9</a:t>
            </a:fld>
            <a:endParaRPr lang="en-AU" dirty="0"/>
          </a:p>
        </p:txBody>
      </p:sp>
    </p:spTree>
    <p:extLst>
      <p:ext uri="{BB962C8B-B14F-4D97-AF65-F5344CB8AC3E}">
        <p14:creationId xmlns:p14="http://schemas.microsoft.com/office/powerpoint/2010/main" val="19168753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Finally, we will use the empirical light fitting model for SNe Ia called SALT to derive the colour and stretch parameters for the SNe Ia in our sample, we will use these colour and stretch parameters to classify our SNe Ia in our sample even further into blue and red. Now to find early excess flux SNe Ia the method followed by Deckers et al., 2022 will be used. Deckers finds the residuals in the observed light curve and the fitted light curve within 6 days of the peak flux, identifying positive residuals in the early curve at this stage in its evolution as an early excess. If early excess flux are found how they correlate with the host galaxy properties will be determined which given a significant sample size would be the first of its kind with these early excess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10</a:t>
            </a:fld>
            <a:endParaRPr lang="en-AU" dirty="0"/>
          </a:p>
        </p:txBody>
      </p:sp>
    </p:spTree>
    <p:extLst>
      <p:ext uri="{BB962C8B-B14F-4D97-AF65-F5344CB8AC3E}">
        <p14:creationId xmlns:p14="http://schemas.microsoft.com/office/powerpoint/2010/main" val="3584606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FDFF1C0A-DBEE-4FE2-852B-82F11989E8A8}" type="datetime1">
              <a:rPr lang="en-AU" smtClean="0"/>
              <a:t>12/05/2026</a:t>
            </a:fld>
            <a:endParaRPr lang="en-AU" dirty="0"/>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22904B64-59A1-43FD-A621-718A7387472C}" type="datetime1">
              <a:rPr lang="en-AU" smtClean="0"/>
              <a:t>12/05/2026</a:t>
            </a:fld>
            <a:endParaRPr lang="en-AU" dirty="0"/>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99326B86-071E-4515-930A-F55E3C3EE194}" type="datetime1">
              <a:rPr lang="en-AU" smtClean="0"/>
              <a:t>12/05/2026</a:t>
            </a:fld>
            <a:endParaRPr lang="en-AU" dirty="0"/>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CDC87059-F666-41C9-8FAB-AA5146F3FF07}" type="datetime1">
              <a:rPr lang="en-AU" smtClean="0"/>
              <a:t>12/05/2026</a:t>
            </a:fld>
            <a:endParaRPr lang="en-AU" dirty="0"/>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4931922F-AC76-4557-B850-17936BEC57CD}" type="datetime1">
              <a:rPr lang="en-AU" smtClean="0"/>
              <a:t>12/05/2026</a:t>
            </a:fld>
            <a:endParaRPr lang="en-AU" dirty="0"/>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dirty="0"/>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5FD4AD57-261B-4308-8154-628BF8DC3A87}" type="datetime1">
              <a:rPr lang="en-AU" smtClean="0"/>
              <a:t>12/05/2026</a:t>
            </a:fld>
            <a:endParaRPr lang="en-AU" dirty="0"/>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dirty="0"/>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511D5AC2-A68E-45A5-B4B8-629D21A8D68D}" type="datetime1">
              <a:rPr lang="en-AU" smtClean="0"/>
              <a:t>12/05/2026</a:t>
            </a:fld>
            <a:endParaRPr lang="en-AU" dirty="0"/>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dirty="0"/>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11A0A4F9-681A-41D6-8425-C45A9FA1042F}" type="datetime1">
              <a:rPr lang="en-AU" smtClean="0"/>
              <a:t>12/05/2026</a:t>
            </a:fld>
            <a:endParaRPr lang="en-AU" dirty="0"/>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dirty="0"/>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6DD43FD3-C9E7-4676-B279-9A8841C441C7}" type="datetime1">
              <a:rPr lang="en-AU" smtClean="0"/>
              <a:t>12/05/2026</a:t>
            </a:fld>
            <a:endParaRPr lang="en-AU" dirty="0"/>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0B756B61-0096-4C58-ACC2-A1879528B12C}" type="datetime1">
              <a:rPr lang="en-AU" smtClean="0"/>
              <a:t>12/05/2026</a:t>
            </a:fld>
            <a:endParaRPr lang="en-AU" dirty="0"/>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7FD94802-E000-4AA6-AAA6-10910B20F9C7}" type="datetime1">
              <a:rPr lang="en-AU" smtClean="0"/>
              <a:t>12/05/2026</a:t>
            </a:fld>
            <a:endParaRPr lang="en-AU" dirty="0"/>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770AA3F-019E-456E-8699-AA2A3442A186}" type="datetime1">
              <a:rPr lang="en-AU" smtClean="0"/>
              <a:t>12/05/2026</a:t>
            </a:fld>
            <a:endParaRPr lang="en-AU" dirty="0"/>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dirty="0"/>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dirty="0"/>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jp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1.xml"/><Relationship Id="rId5" Type="http://schemas.openxmlformats.org/officeDocument/2006/relationships/diagramQuickStyle" Target="../diagrams/quickStyle1.xml"/><Relationship Id="rId10"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lack and white abstract digital illustration features a wavy black shape occupying the bottom right corner with small white stars and circular elements scattered within it. The rest of the space is blank white, creating a stark contrast and emphasizing the cosmic or space-themed design.&#10;&#10;AI-generated content may be incorrect.">
            <a:extLst>
              <a:ext uri="{FF2B5EF4-FFF2-40B4-BE49-F238E27FC236}">
                <a16:creationId xmlns:a16="http://schemas.microsoft.com/office/drawing/2014/main" id="{4B62EB1F-E0B3-9602-7525-1B122AC2946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p:txBody>
          <a:bodyPr/>
          <a:lstStyle/>
          <a:p>
            <a:r>
              <a:rPr lang="en-AU" dirty="0"/>
              <a:t>A Review of Early Excess Flux SNe Ia and Their Hosts   </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p:txBody>
          <a:bodyPr/>
          <a:lstStyle/>
          <a:p>
            <a:r>
              <a:rPr lang="en-AU" dirty="0"/>
              <a:t>Riley Webster and Anais Möller</a:t>
            </a:r>
          </a:p>
          <a:p>
            <a:r>
              <a:rPr lang="en-AU" dirty="0"/>
              <a:t>Honours Project A</a:t>
            </a:r>
          </a:p>
          <a:p>
            <a:r>
              <a:rPr lang="en-AU" dirty="0"/>
              <a:t>Semester 1, 2026 </a:t>
            </a:r>
          </a:p>
        </p:txBody>
      </p:sp>
    </p:spTree>
    <p:extLst>
      <p:ext uri="{BB962C8B-B14F-4D97-AF65-F5344CB8AC3E}">
        <p14:creationId xmlns:p14="http://schemas.microsoft.com/office/powerpoint/2010/main" val="163145139"/>
      </p:ext>
    </p:extLst>
  </p:cSld>
  <p:clrMapOvr>
    <a:masterClrMapping/>
  </p:clrMapOvr>
  <mc:AlternateContent xmlns:mc="http://schemas.openxmlformats.org/markup-compatibility/2006" xmlns:p14="http://schemas.microsoft.com/office/powerpoint/2010/main">
    <mc:Choice Requires="p14">
      <p:transition spd="slow" p14:dur="2000" advTm="10715"/>
    </mc:Choice>
    <mc:Fallback xmlns="">
      <p:transition spd="slow" advTm="1071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6EEB9-0E96-B71E-0C10-36510AE026A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Rubin and LSST</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838200" y="1825625"/>
            <a:ext cx="5056414" cy="4351338"/>
          </a:xfrm>
        </p:spPr>
        <p:txBody>
          <a:bodyPr>
            <a:normAutofit/>
          </a:bodyPr>
          <a:lstStyle/>
          <a:p>
            <a:r>
              <a:rPr lang="en-AU" dirty="0"/>
              <a:t>Rubin telescope</a:t>
            </a:r>
          </a:p>
          <a:p>
            <a:pPr lvl="1"/>
            <a:r>
              <a:rPr lang="en-AU" dirty="0"/>
              <a:t>8.36 metre aperture</a:t>
            </a:r>
          </a:p>
          <a:p>
            <a:pPr lvl="1"/>
            <a:r>
              <a:rPr lang="en-AU" dirty="0"/>
              <a:t>320.5 – 1084.5 nm</a:t>
            </a:r>
          </a:p>
          <a:p>
            <a:r>
              <a:rPr lang="en-AU" dirty="0"/>
              <a:t>LSST</a:t>
            </a:r>
          </a:p>
          <a:p>
            <a:pPr lvl="1"/>
            <a:r>
              <a:rPr lang="en-AU" dirty="0"/>
              <a:t>Observe the southern skies.</a:t>
            </a:r>
          </a:p>
          <a:p>
            <a:pPr lvl="1"/>
            <a:r>
              <a:rPr lang="en-AU" dirty="0"/>
              <a:t>Produces alerts when a change in the sky is detected.</a:t>
            </a:r>
          </a:p>
          <a:p>
            <a:pPr lvl="1"/>
            <a:r>
              <a:rPr lang="en-AU" dirty="0"/>
              <a:t>Produce 10 million alerts per night, for 10 years.</a:t>
            </a:r>
          </a:p>
          <a:p>
            <a:endParaRPr lang="en-AU" dirty="0"/>
          </a:p>
          <a:p>
            <a:endParaRPr lang="en-AU" dirty="0"/>
          </a:p>
          <a:p>
            <a:endParaRPr lang="en-AU" dirty="0"/>
          </a:p>
          <a:p>
            <a:endParaRPr lang="en-AU" dirty="0"/>
          </a:p>
          <a:p>
            <a:endParaRPr lang="en-AU" dirty="0"/>
          </a:p>
        </p:txBody>
      </p:sp>
      <p:pic>
        <p:nvPicPr>
          <p:cNvPr id="8" name="Picture 7" descr="Photograph of a night sky with colorful star trails captured above a large observatory building on a rocky hill. Star trails create curved, streaked patterns in shades of blue, purple, and white, indicating long-exposure photography tracking Earth's rotation.">
            <a:extLst>
              <a:ext uri="{FF2B5EF4-FFF2-40B4-BE49-F238E27FC236}">
                <a16:creationId xmlns:a16="http://schemas.microsoft.com/office/drawing/2014/main" id="{C75D2F58-A7DC-DC31-6926-E1EBF57980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09837" y="454969"/>
            <a:ext cx="4925246" cy="328514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1" name="TextBox 10">
            <a:extLst>
              <a:ext uri="{FF2B5EF4-FFF2-40B4-BE49-F238E27FC236}">
                <a16:creationId xmlns:a16="http://schemas.microsoft.com/office/drawing/2014/main" id="{91F87463-4370-B4F5-82EC-5A5B25200CA3}"/>
              </a:ext>
            </a:extLst>
          </p:cNvPr>
          <p:cNvSpPr txBox="1"/>
          <p:nvPr/>
        </p:nvSpPr>
        <p:spPr>
          <a:xfrm>
            <a:off x="6909837" y="3740118"/>
            <a:ext cx="6137500" cy="369332"/>
          </a:xfrm>
          <a:prstGeom prst="rect">
            <a:avLst/>
          </a:prstGeom>
          <a:noFill/>
        </p:spPr>
        <p:txBody>
          <a:bodyPr wrap="square">
            <a:spAutoFit/>
          </a:bodyPr>
          <a:lstStyle/>
          <a:p>
            <a:r>
              <a:rPr lang="en-US" dirty="0"/>
              <a:t>(</a:t>
            </a:r>
            <a:r>
              <a:rPr lang="en-US" i="1" dirty="0"/>
              <a:t>Vera C. Rubin Press Release</a:t>
            </a:r>
            <a:r>
              <a:rPr lang="en-US" dirty="0"/>
              <a:t>)</a:t>
            </a:r>
            <a:endParaRPr lang="en-AU" dirty="0"/>
          </a:p>
        </p:txBody>
      </p:sp>
      <p:sp>
        <p:nvSpPr>
          <p:cNvPr id="13" name="TextBox 12">
            <a:extLst>
              <a:ext uri="{FF2B5EF4-FFF2-40B4-BE49-F238E27FC236}">
                <a16:creationId xmlns:a16="http://schemas.microsoft.com/office/drawing/2014/main" id="{084EF079-0519-A5D9-553D-186230724062}"/>
              </a:ext>
            </a:extLst>
          </p:cNvPr>
          <p:cNvSpPr txBox="1"/>
          <p:nvPr/>
        </p:nvSpPr>
        <p:spPr>
          <a:xfrm>
            <a:off x="191861" y="6335814"/>
            <a:ext cx="308098" cy="369332"/>
          </a:xfrm>
          <a:prstGeom prst="rect">
            <a:avLst/>
          </a:prstGeom>
          <a:noFill/>
        </p:spPr>
        <p:txBody>
          <a:bodyPr wrap="none" rtlCol="0">
            <a:spAutoFit/>
          </a:bodyPr>
          <a:lstStyle/>
          <a:p>
            <a:r>
              <a:rPr lang="en-AU" dirty="0"/>
              <a:t>1</a:t>
            </a:r>
          </a:p>
        </p:txBody>
      </p:sp>
      <p:sp>
        <p:nvSpPr>
          <p:cNvPr id="5" name="TextBox 4">
            <a:extLst>
              <a:ext uri="{FF2B5EF4-FFF2-40B4-BE49-F238E27FC236}">
                <a16:creationId xmlns:a16="http://schemas.microsoft.com/office/drawing/2014/main" id="{76F50DD4-50EA-40E7-86D5-BB0A359BFA7F}"/>
              </a:ext>
            </a:extLst>
          </p:cNvPr>
          <p:cNvSpPr txBox="1"/>
          <p:nvPr/>
        </p:nvSpPr>
        <p:spPr>
          <a:xfrm>
            <a:off x="4269923" y="1825625"/>
            <a:ext cx="2282997" cy="1477328"/>
          </a:xfrm>
          <a:prstGeom prst="rect">
            <a:avLst/>
          </a:prstGeom>
          <a:noFill/>
        </p:spPr>
        <p:txBody>
          <a:bodyPr wrap="square" rtlCol="0">
            <a:spAutoFit/>
          </a:bodyPr>
          <a:lstStyle/>
          <a:p>
            <a:r>
              <a:rPr lang="en-AU" dirty="0"/>
              <a:t>(Bianco</a:t>
            </a:r>
          </a:p>
          <a:p>
            <a:r>
              <a:rPr lang="en-AU" dirty="0"/>
              <a:t>et al., 2022) &amp; </a:t>
            </a:r>
          </a:p>
          <a:p>
            <a:r>
              <a:rPr lang="en-US" dirty="0"/>
              <a:t>(</a:t>
            </a:r>
            <a:r>
              <a:rPr lang="en-US" i="1" dirty="0"/>
              <a:t>Vera C. Rubin Observatory Survey Strategy</a:t>
            </a:r>
            <a:r>
              <a:rPr lang="en-US" dirty="0"/>
              <a:t>, n.d.)</a:t>
            </a:r>
            <a:endParaRPr lang="en-AU" dirty="0"/>
          </a:p>
        </p:txBody>
      </p:sp>
    </p:spTree>
    <p:extLst>
      <p:ext uri="{BB962C8B-B14F-4D97-AF65-F5344CB8AC3E}">
        <p14:creationId xmlns:p14="http://schemas.microsoft.com/office/powerpoint/2010/main" val="2985705474"/>
      </p:ext>
    </p:extLst>
  </p:cSld>
  <p:clrMapOvr>
    <a:masterClrMapping/>
  </p:clrMapOvr>
  <mc:AlternateContent xmlns:mc="http://schemas.openxmlformats.org/markup-compatibility/2006" xmlns:p14="http://schemas.microsoft.com/office/powerpoint/2010/main">
    <mc:Choice Requires="p14">
      <p:transition spd="slow" p14:dur="2000" advTm="90378"/>
    </mc:Choice>
    <mc:Fallback xmlns="">
      <p:transition spd="slow" advTm="90378"/>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40D70-0B87-C718-C1F3-DBAEDA575E7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A4E71-8744-2022-9278-0C2494916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79E3798-863F-D885-70AC-276D7107990C}"/>
              </a:ext>
            </a:extLst>
          </p:cNvPr>
          <p:cNvSpPr>
            <a:spLocks noGrp="1"/>
          </p:cNvSpPr>
          <p:nvPr>
            <p:ph type="title"/>
          </p:nvPr>
        </p:nvSpPr>
        <p:spPr/>
        <p:txBody>
          <a:bodyPr/>
          <a:lstStyle/>
          <a:p>
            <a:r>
              <a:rPr lang="en-AU" dirty="0"/>
              <a:t>What are SN Ia?</a:t>
            </a:r>
          </a:p>
        </p:txBody>
      </p:sp>
      <p:sp>
        <p:nvSpPr>
          <p:cNvPr id="3" name="Content Placeholder 2">
            <a:extLst>
              <a:ext uri="{FF2B5EF4-FFF2-40B4-BE49-F238E27FC236}">
                <a16:creationId xmlns:a16="http://schemas.microsoft.com/office/drawing/2014/main" id="{D5FC0C8F-ED85-53D4-6C92-BCEC969B49A1}"/>
              </a:ext>
            </a:extLst>
          </p:cNvPr>
          <p:cNvSpPr>
            <a:spLocks noGrp="1"/>
          </p:cNvSpPr>
          <p:nvPr>
            <p:ph idx="1"/>
          </p:nvPr>
        </p:nvSpPr>
        <p:spPr>
          <a:xfrm>
            <a:off x="838200" y="1825625"/>
            <a:ext cx="9787128" cy="4351338"/>
          </a:xfrm>
        </p:spPr>
        <p:txBody>
          <a:bodyPr>
            <a:normAutofit/>
          </a:bodyPr>
          <a:lstStyle/>
          <a:p>
            <a:r>
              <a:rPr lang="en-AU" dirty="0"/>
              <a:t>The explosion of a carbon-oxygen white dwarf </a:t>
            </a:r>
          </a:p>
        </p:txBody>
      </p:sp>
      <p:pic>
        <p:nvPicPr>
          <p:cNvPr id="7" name="Picture 6" descr="The singel degenerate SNe Ia case ">
            <a:extLst>
              <a:ext uri="{FF2B5EF4-FFF2-40B4-BE49-F238E27FC236}">
                <a16:creationId xmlns:a16="http://schemas.microsoft.com/office/drawing/2014/main" id="{01EBE7C4-380F-2218-8852-1D66F8B826C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2952908"/>
            <a:ext cx="5019582" cy="264287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1" name="Picture 10" descr="The double degenerate SNe Ia case">
            <a:extLst>
              <a:ext uri="{FF2B5EF4-FFF2-40B4-BE49-F238E27FC236}">
                <a16:creationId xmlns:a16="http://schemas.microsoft.com/office/drawing/2014/main" id="{962BFC33-D111-E9FF-33B4-BC6275A9A9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4273" y="2952908"/>
            <a:ext cx="5099527" cy="26797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3" name="TextBox 12">
            <a:extLst>
              <a:ext uri="{FF2B5EF4-FFF2-40B4-BE49-F238E27FC236}">
                <a16:creationId xmlns:a16="http://schemas.microsoft.com/office/drawing/2014/main" id="{4B657402-F4AB-F510-FFAB-F326178340DC}"/>
              </a:ext>
            </a:extLst>
          </p:cNvPr>
          <p:cNvSpPr txBox="1"/>
          <p:nvPr/>
        </p:nvSpPr>
        <p:spPr>
          <a:xfrm>
            <a:off x="838200" y="5632645"/>
            <a:ext cx="6137500" cy="369332"/>
          </a:xfrm>
          <a:prstGeom prst="rect">
            <a:avLst/>
          </a:prstGeom>
          <a:noFill/>
        </p:spPr>
        <p:txBody>
          <a:bodyPr wrap="square">
            <a:spAutoFit/>
          </a:bodyPr>
          <a:lstStyle/>
          <a:p>
            <a:r>
              <a:rPr lang="en-US" dirty="0"/>
              <a:t>(</a:t>
            </a:r>
            <a:r>
              <a:rPr lang="en-US" i="1" dirty="0"/>
              <a:t>NASA Image and Video Library</a:t>
            </a:r>
            <a:r>
              <a:rPr lang="en-US" dirty="0"/>
              <a:t>)</a:t>
            </a:r>
            <a:endParaRPr lang="en-AU" dirty="0"/>
          </a:p>
        </p:txBody>
      </p:sp>
      <p:sp>
        <p:nvSpPr>
          <p:cNvPr id="15" name="TextBox 14">
            <a:extLst>
              <a:ext uri="{FF2B5EF4-FFF2-40B4-BE49-F238E27FC236}">
                <a16:creationId xmlns:a16="http://schemas.microsoft.com/office/drawing/2014/main" id="{C7C16CC8-A628-4A09-A9AA-48BFE6708A7A}"/>
              </a:ext>
            </a:extLst>
          </p:cNvPr>
          <p:cNvSpPr txBox="1"/>
          <p:nvPr/>
        </p:nvSpPr>
        <p:spPr>
          <a:xfrm>
            <a:off x="191861" y="6335814"/>
            <a:ext cx="308098" cy="369332"/>
          </a:xfrm>
          <a:prstGeom prst="rect">
            <a:avLst/>
          </a:prstGeom>
          <a:noFill/>
        </p:spPr>
        <p:txBody>
          <a:bodyPr wrap="none" rtlCol="0">
            <a:spAutoFit/>
          </a:bodyPr>
          <a:lstStyle/>
          <a:p>
            <a:r>
              <a:rPr lang="en-AU" dirty="0"/>
              <a:t>2</a:t>
            </a:r>
          </a:p>
        </p:txBody>
      </p:sp>
    </p:spTree>
    <p:extLst>
      <p:ext uri="{BB962C8B-B14F-4D97-AF65-F5344CB8AC3E}">
        <p14:creationId xmlns:p14="http://schemas.microsoft.com/office/powerpoint/2010/main" val="3620831151"/>
      </p:ext>
    </p:extLst>
  </p:cSld>
  <p:clrMapOvr>
    <a:masterClrMapping/>
  </p:clrMapOvr>
  <mc:AlternateContent xmlns:mc="http://schemas.openxmlformats.org/markup-compatibility/2006" xmlns:p14="http://schemas.microsoft.com/office/powerpoint/2010/main">
    <mc:Choice Requires="p14">
      <p:transition spd="slow" p14:dur="2000" advTm="115202"/>
    </mc:Choice>
    <mc:Fallback xmlns="">
      <p:transition spd="slow" advTm="115202"/>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C1BE-A888-BAA9-4DD2-8F7B94A3FC9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4F08E1A-6A47-E455-29A2-A2716FE6014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extBox 13">
            <a:extLst>
              <a:ext uri="{FF2B5EF4-FFF2-40B4-BE49-F238E27FC236}">
                <a16:creationId xmlns:a16="http://schemas.microsoft.com/office/drawing/2014/main" id="{F906453D-F20E-2620-BDDE-EF745CAC0B37}"/>
              </a:ext>
            </a:extLst>
          </p:cNvPr>
          <p:cNvSpPr txBox="1"/>
          <p:nvPr/>
        </p:nvSpPr>
        <p:spPr>
          <a:xfrm>
            <a:off x="191861" y="6335814"/>
            <a:ext cx="308098" cy="369332"/>
          </a:xfrm>
          <a:prstGeom prst="rect">
            <a:avLst/>
          </a:prstGeom>
          <a:noFill/>
        </p:spPr>
        <p:txBody>
          <a:bodyPr wrap="none" rtlCol="0">
            <a:spAutoFit/>
          </a:bodyPr>
          <a:lstStyle/>
          <a:p>
            <a:r>
              <a:rPr lang="en-AU" dirty="0"/>
              <a:t>3</a:t>
            </a:r>
          </a:p>
        </p:txBody>
      </p:sp>
      <p:sp>
        <p:nvSpPr>
          <p:cNvPr id="2" name="Title 1">
            <a:extLst>
              <a:ext uri="{FF2B5EF4-FFF2-40B4-BE49-F238E27FC236}">
                <a16:creationId xmlns:a16="http://schemas.microsoft.com/office/drawing/2014/main" id="{4164BBA5-5CBC-84F5-E30F-9007B07E9DCF}"/>
              </a:ext>
            </a:extLst>
          </p:cNvPr>
          <p:cNvSpPr>
            <a:spLocks noGrp="1"/>
          </p:cNvSpPr>
          <p:nvPr>
            <p:ph type="title"/>
          </p:nvPr>
        </p:nvSpPr>
        <p:spPr/>
        <p:txBody>
          <a:bodyPr/>
          <a:lstStyle/>
          <a:p>
            <a:r>
              <a:rPr lang="en-AU" dirty="0"/>
              <a:t>SNe Ia – Why?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7D1FA77-E156-B226-EA4E-58E475A1FC85}"/>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14:m>
                  <m:oMath xmlns:m="http://schemas.openxmlformats.org/officeDocument/2006/math">
                    <m:sSub>
                      <m:sSubPr>
                        <m:ctrlPr>
                          <a:rPr lang="en-AU" i="1" dirty="0" smtClean="0">
                            <a:latin typeface="Cambria Math" panose="02040503050406030204" pitchFamily="18" charset="0"/>
                          </a:rPr>
                        </m:ctrlPr>
                      </m:sSubPr>
                      <m:e>
                        <m:r>
                          <a:rPr lang="en-AU" i="1" dirty="0" smtClean="0">
                            <a:latin typeface="Cambria Math" panose="02040503050406030204" pitchFamily="18" charset="0"/>
                          </a:rPr>
                          <m:t>𝜇</m:t>
                        </m:r>
                      </m:e>
                      <m:sub>
                        <m:r>
                          <a:rPr lang="en-AU" i="1" dirty="0" err="1">
                            <a:latin typeface="Cambria Math" panose="02040503050406030204" pitchFamily="18" charset="0"/>
                          </a:rPr>
                          <m:t>𝑜𝑏𝑠</m:t>
                        </m:r>
                      </m:sub>
                    </m:sSub>
                    <m:r>
                      <a:rPr lang="en-AU" i="1" dirty="0">
                        <a:latin typeface="Cambria Math" panose="02040503050406030204" pitchFamily="18" charset="0"/>
                      </a:rPr>
                      <m:t>=</m:t>
                    </m:r>
                    <m:sSubSup>
                      <m:sSubSupPr>
                        <m:ctrlPr>
                          <a:rPr lang="en-AU" i="1" dirty="0" smtClean="0">
                            <a:latin typeface="Cambria Math" panose="02040503050406030204" pitchFamily="18" charset="0"/>
                          </a:rPr>
                        </m:ctrlPr>
                      </m:sSubSupPr>
                      <m:e>
                        <m:r>
                          <a:rPr lang="en-AU" i="1" dirty="0">
                            <a:latin typeface="Cambria Math" panose="02040503050406030204" pitchFamily="18" charset="0"/>
                          </a:rPr>
                          <m:t>𝑚</m:t>
                        </m:r>
                      </m:e>
                      <m:sub>
                        <m:r>
                          <a:rPr lang="en-AU" i="1" dirty="0">
                            <a:latin typeface="Cambria Math" panose="02040503050406030204" pitchFamily="18" charset="0"/>
                          </a:rPr>
                          <m:t>𝐵</m:t>
                        </m:r>
                      </m:sub>
                      <m:sup>
                        <m:r>
                          <a:rPr lang="en-AU" i="1" dirty="0">
                            <a:latin typeface="Cambria Math" panose="02040503050406030204" pitchFamily="18" charset="0"/>
                          </a:rPr>
                          <m:t>∗</m:t>
                        </m:r>
                      </m:sup>
                    </m:sSubSup>
                    <m:r>
                      <a:rPr lang="en-AU" i="1" dirty="0">
                        <a:latin typeface="Cambria Math" panose="02040503050406030204" pitchFamily="18" charset="0"/>
                      </a:rPr>
                      <m:t>−</m:t>
                    </m:r>
                    <m:sSub>
                      <m:sSubPr>
                        <m:ctrlPr>
                          <a:rPr lang="en-AU" i="1" dirty="0">
                            <a:latin typeface="Cambria Math" panose="02040503050406030204" pitchFamily="18" charset="0"/>
                          </a:rPr>
                        </m:ctrlPr>
                      </m:sSubPr>
                      <m:e>
                        <m:r>
                          <a:rPr lang="en-AU" i="1" dirty="0">
                            <a:latin typeface="Cambria Math" panose="02040503050406030204" pitchFamily="18" charset="0"/>
                          </a:rPr>
                          <m:t>𝑀</m:t>
                        </m:r>
                      </m:e>
                      <m:sub>
                        <m:r>
                          <a:rPr lang="en-AU" i="1" dirty="0">
                            <a:latin typeface="Cambria Math" panose="02040503050406030204" pitchFamily="18" charset="0"/>
                          </a:rPr>
                          <m:t>𝐵</m:t>
                        </m:r>
                      </m:sub>
                    </m:sSub>
                    <m:r>
                      <a:rPr lang="en-AU" i="1" dirty="0">
                        <a:latin typeface="Cambria Math" panose="02040503050406030204" pitchFamily="18" charset="0"/>
                      </a:rPr>
                      <m:t>+</m:t>
                    </m:r>
                    <m:r>
                      <a:rPr lang="en-AU" i="1" dirty="0">
                        <a:latin typeface="Cambria Math" panose="02040503050406030204" pitchFamily="18" charset="0"/>
                      </a:rPr>
                      <m:t>𝛼</m:t>
                    </m:r>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r>
                      <a:rPr lang="en-AU" i="1" dirty="0">
                        <a:latin typeface="Cambria Math" panose="02040503050406030204" pitchFamily="18" charset="0"/>
                      </a:rPr>
                      <m:t>−</m:t>
                    </m:r>
                    <m:r>
                      <a:rPr lang="en-AU" i="1" dirty="0">
                        <a:latin typeface="Cambria Math" panose="02040503050406030204" pitchFamily="18" charset="0"/>
                      </a:rPr>
                      <m:t>𝛽</m:t>
                    </m:r>
                    <m:r>
                      <a:rPr lang="en-AU" i="1" dirty="0">
                        <a:latin typeface="Cambria Math" panose="02040503050406030204" pitchFamily="18" charset="0"/>
                      </a:rPr>
                      <m:t>𝑐</m:t>
                    </m:r>
                  </m:oMath>
                </a14:m>
                <a:endParaRPr lang="en-AU" dirty="0"/>
              </a:p>
              <a:p>
                <a:endParaRPr lang="en-AU" dirty="0"/>
              </a:p>
              <a:p>
                <a:r>
                  <a:rPr lang="en-AU" dirty="0"/>
                  <a:t>SALT is used to fit </a:t>
                </a:r>
                <a14:m>
                  <m:oMath xmlns:m="http://schemas.openxmlformats.org/officeDocument/2006/math">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and </a:t>
                </a:r>
                <a14:m>
                  <m:oMath xmlns:m="http://schemas.openxmlformats.org/officeDocument/2006/math">
                    <m:r>
                      <a:rPr lang="en-AU" i="1" dirty="0">
                        <a:latin typeface="Cambria Math" panose="02040503050406030204" pitchFamily="18" charset="0"/>
                      </a:rPr>
                      <m:t>𝑐</m:t>
                    </m:r>
                  </m:oMath>
                </a14:m>
                <a:endParaRPr lang="en-AU" dirty="0"/>
              </a:p>
              <a:p>
                <a:endParaRPr lang="en-AU" dirty="0"/>
              </a:p>
              <a:p>
                <a:endParaRPr lang="en-AU" dirty="0"/>
              </a:p>
            </p:txBody>
          </p:sp>
        </mc:Choice>
        <mc:Fallback xmlns="">
          <p:sp>
            <p:nvSpPr>
              <p:cNvPr id="3" name="Content Placeholder 2">
                <a:extLst>
                  <a:ext uri="{FF2B5EF4-FFF2-40B4-BE49-F238E27FC236}">
                    <a16:creationId xmlns:a16="http://schemas.microsoft.com/office/drawing/2014/main" id="{F7D1FA77-E156-B226-EA4E-58E475A1FC85}"/>
                  </a:ext>
                </a:extLst>
              </p:cNvPr>
              <p:cNvSpPr>
                <a:spLocks noGrp="1" noRot="1" noChangeAspect="1" noMove="1" noResize="1" noEditPoints="1" noAdjustHandles="1" noChangeArrowheads="1" noChangeShapeType="1" noTextEdit="1"/>
              </p:cNvSpPr>
              <p:nvPr>
                <p:ph idx="1"/>
              </p:nvPr>
            </p:nvSpPr>
            <p:spPr>
              <a:xfrm>
                <a:off x="838200" y="1825625"/>
                <a:ext cx="9787128" cy="4351338"/>
              </a:xfrm>
              <a:blipFill>
                <a:blip r:embed="rId4"/>
                <a:stretch>
                  <a:fillRect l="-1121" t="-2381"/>
                </a:stretch>
              </a:blipFill>
            </p:spPr>
            <p:txBody>
              <a:bodyPr/>
              <a:lstStyle/>
              <a:p>
                <a:r>
                  <a:rPr lang="en-AU">
                    <a:noFill/>
                  </a:rPr>
                  <a:t> </a:t>
                </a:r>
              </a:p>
            </p:txBody>
          </p:sp>
        </mc:Fallback>
      </mc:AlternateContent>
      <p:pic>
        <p:nvPicPr>
          <p:cNvPr id="15" name="Picture 14" descr="A plot of the light curve of SN 2026ACD from ZTF from Fink in magnitude space showing days from the time of the peak magnitude">
            <a:extLst>
              <a:ext uri="{FF2B5EF4-FFF2-40B4-BE49-F238E27FC236}">
                <a16:creationId xmlns:a16="http://schemas.microsoft.com/office/drawing/2014/main" id="{D6EB6B43-E8CF-BA61-4B7C-135746FF8E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91325" y="1752695"/>
            <a:ext cx="4216287" cy="4227324"/>
          </a:xfrm>
          <a:prstGeom prst="rect">
            <a:avLst/>
          </a:prstGeom>
        </p:spPr>
      </p:pic>
      <p:sp>
        <p:nvSpPr>
          <p:cNvPr id="16" name="TextBox 15">
            <a:extLst>
              <a:ext uri="{FF2B5EF4-FFF2-40B4-BE49-F238E27FC236}">
                <a16:creationId xmlns:a16="http://schemas.microsoft.com/office/drawing/2014/main" id="{9052922D-F902-B5DE-700A-12A7E23F7AE3}"/>
              </a:ext>
            </a:extLst>
          </p:cNvPr>
          <p:cNvSpPr txBox="1"/>
          <p:nvPr/>
        </p:nvSpPr>
        <p:spPr>
          <a:xfrm>
            <a:off x="7941792" y="1456293"/>
            <a:ext cx="1515351" cy="369332"/>
          </a:xfrm>
          <a:prstGeom prst="rect">
            <a:avLst/>
          </a:prstGeom>
          <a:noFill/>
        </p:spPr>
        <p:txBody>
          <a:bodyPr wrap="none" rtlCol="0">
            <a:spAutoFit/>
          </a:bodyPr>
          <a:lstStyle/>
          <a:p>
            <a:r>
              <a:rPr lang="en-AU" dirty="0"/>
              <a:t>SN 2026ACD</a:t>
            </a:r>
          </a:p>
        </p:txBody>
      </p:sp>
      <p:sp>
        <p:nvSpPr>
          <p:cNvPr id="17" name="TextBox 16">
            <a:extLst>
              <a:ext uri="{FF2B5EF4-FFF2-40B4-BE49-F238E27FC236}">
                <a16:creationId xmlns:a16="http://schemas.microsoft.com/office/drawing/2014/main" id="{12E8E573-82C3-BDB6-C475-309028695D20}"/>
              </a:ext>
            </a:extLst>
          </p:cNvPr>
          <p:cNvSpPr txBox="1"/>
          <p:nvPr/>
        </p:nvSpPr>
        <p:spPr>
          <a:xfrm>
            <a:off x="3291034" y="5689483"/>
            <a:ext cx="2352465" cy="646331"/>
          </a:xfrm>
          <a:prstGeom prst="rect">
            <a:avLst/>
          </a:prstGeom>
          <a:noFill/>
        </p:spPr>
        <p:txBody>
          <a:bodyPr wrap="square" rtlCol="0">
            <a:spAutoFit/>
          </a:bodyPr>
          <a:lstStyle/>
          <a:p>
            <a:r>
              <a:rPr lang="en-AU" dirty="0"/>
              <a:t>Light curve obtained from the Fink broker.</a:t>
            </a:r>
          </a:p>
        </p:txBody>
      </p:sp>
      <p:cxnSp>
        <p:nvCxnSpPr>
          <p:cNvPr id="19" name="Straight Arrow Connector 18">
            <a:extLst>
              <a:ext uri="{FF2B5EF4-FFF2-40B4-BE49-F238E27FC236}">
                <a16:creationId xmlns:a16="http://schemas.microsoft.com/office/drawing/2014/main" id="{9BBB27BD-F92E-40BA-429F-8B63C9705562}"/>
              </a:ext>
            </a:extLst>
          </p:cNvPr>
          <p:cNvCxnSpPr>
            <a:cxnSpLocks/>
            <a:stCxn id="17" idx="3"/>
          </p:cNvCxnSpPr>
          <p:nvPr/>
        </p:nvCxnSpPr>
        <p:spPr>
          <a:xfrm flipV="1">
            <a:off x="5643499" y="5167297"/>
            <a:ext cx="947826" cy="845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5149833"/>
      </p:ext>
    </p:extLst>
  </p:cSld>
  <p:clrMapOvr>
    <a:masterClrMapping/>
  </p:clrMapOvr>
  <mc:AlternateContent xmlns:mc="http://schemas.openxmlformats.org/markup-compatibility/2006" xmlns:p14="http://schemas.microsoft.com/office/powerpoint/2010/main">
    <mc:Choice Requires="p14">
      <p:transition spd="slow" p14:dur="2000" advTm="130133"/>
    </mc:Choice>
    <mc:Fallback xmlns="">
      <p:transition spd="slow" advTm="130133"/>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4E09F2-D5A3-5470-58F4-227C9880BE9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Early Excess Flux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838200" y="1825625"/>
            <a:ext cx="5343144" cy="4351338"/>
          </a:xfrm>
        </p:spPr>
        <p:txBody>
          <a:bodyPr>
            <a:normAutofit/>
          </a:bodyPr>
          <a:lstStyle/>
          <a:p>
            <a:r>
              <a:rPr lang="en-AU" dirty="0"/>
              <a:t>In some cases, observation of SNe Ia are early and produce a bump in the light curve.</a:t>
            </a:r>
          </a:p>
          <a:p>
            <a:endParaRPr lang="en-AU" dirty="0"/>
          </a:p>
          <a:p>
            <a:r>
              <a:rPr lang="en-AU" dirty="0"/>
              <a:t>Various factors have been proposed</a:t>
            </a:r>
          </a:p>
          <a:p>
            <a:pPr lvl="1"/>
            <a:r>
              <a:rPr lang="en-AU" dirty="0"/>
              <a:t>Companion interaction </a:t>
            </a:r>
            <a:r>
              <a:rPr lang="en-AU" sz="1800" dirty="0"/>
              <a:t>(Burke et al., 2022) and (Lim et al., 2023)</a:t>
            </a:r>
            <a:r>
              <a:rPr lang="en-AU" dirty="0"/>
              <a:t> </a:t>
            </a:r>
          </a:p>
          <a:p>
            <a:pPr lvl="1"/>
            <a:r>
              <a:rPr lang="en-AU" dirty="0"/>
              <a:t>Clumping of nickel 56 and interactions with CSM </a:t>
            </a:r>
            <a:r>
              <a:rPr lang="en-AU" sz="1800" dirty="0"/>
              <a:t>(Deckers et al., 2022)</a:t>
            </a:r>
            <a:endParaRPr lang="en-AU" dirty="0"/>
          </a:p>
        </p:txBody>
      </p:sp>
      <p:sp>
        <p:nvSpPr>
          <p:cNvPr id="9" name="TextBox 8">
            <a:extLst>
              <a:ext uri="{FF2B5EF4-FFF2-40B4-BE49-F238E27FC236}">
                <a16:creationId xmlns:a16="http://schemas.microsoft.com/office/drawing/2014/main" id="{78D4041E-EF53-343E-CED9-A6E511D87581}"/>
              </a:ext>
            </a:extLst>
          </p:cNvPr>
          <p:cNvSpPr txBox="1"/>
          <p:nvPr/>
        </p:nvSpPr>
        <p:spPr>
          <a:xfrm>
            <a:off x="6181344" y="4572602"/>
            <a:ext cx="6167628" cy="369332"/>
          </a:xfrm>
          <a:prstGeom prst="rect">
            <a:avLst/>
          </a:prstGeom>
          <a:noFill/>
        </p:spPr>
        <p:txBody>
          <a:bodyPr wrap="square">
            <a:spAutoFit/>
          </a:bodyPr>
          <a:lstStyle/>
          <a:p>
            <a:r>
              <a:rPr lang="en-AU" dirty="0"/>
              <a:t>(Marion et al., 2016)</a:t>
            </a:r>
          </a:p>
        </p:txBody>
      </p:sp>
      <p:pic>
        <p:nvPicPr>
          <p:cNvPr id="7" name="Picture 6">
            <a:extLst>
              <a:ext uri="{FF2B5EF4-FFF2-40B4-BE49-F238E27FC236}">
                <a16:creationId xmlns:a16="http://schemas.microsoft.com/office/drawing/2014/main" id="{B93FB9DA-FEC2-4227-049F-B71B2E632C75}"/>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974317" y="681037"/>
            <a:ext cx="5889323" cy="37603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0" name="TextBox 9">
            <a:extLst>
              <a:ext uri="{FF2B5EF4-FFF2-40B4-BE49-F238E27FC236}">
                <a16:creationId xmlns:a16="http://schemas.microsoft.com/office/drawing/2014/main" id="{537B5E11-47A6-553F-4456-47232A0A53C5}"/>
              </a:ext>
            </a:extLst>
          </p:cNvPr>
          <p:cNvSpPr txBox="1"/>
          <p:nvPr/>
        </p:nvSpPr>
        <p:spPr>
          <a:xfrm>
            <a:off x="191861" y="6335814"/>
            <a:ext cx="308098" cy="369332"/>
          </a:xfrm>
          <a:prstGeom prst="rect">
            <a:avLst/>
          </a:prstGeom>
          <a:noFill/>
        </p:spPr>
        <p:txBody>
          <a:bodyPr wrap="none" rtlCol="0">
            <a:spAutoFit/>
          </a:bodyPr>
          <a:lstStyle/>
          <a:p>
            <a:r>
              <a:rPr lang="en-AU" dirty="0"/>
              <a:t>4</a:t>
            </a:r>
          </a:p>
        </p:txBody>
      </p:sp>
      <p:sp>
        <p:nvSpPr>
          <p:cNvPr id="8" name="Oval 7">
            <a:extLst>
              <a:ext uri="{FF2B5EF4-FFF2-40B4-BE49-F238E27FC236}">
                <a16:creationId xmlns:a16="http://schemas.microsoft.com/office/drawing/2014/main" id="{7C33EBE4-4839-94D7-A47F-84723FDFC834}"/>
              </a:ext>
              <a:ext uri="{C183D7F6-B498-43B3-948B-1728B52AA6E4}">
                <adec:decorative xmlns:adec="http://schemas.microsoft.com/office/drawing/2017/decorative" val="1"/>
              </a:ext>
            </a:extLst>
          </p:cNvPr>
          <p:cNvSpPr/>
          <p:nvPr/>
        </p:nvSpPr>
        <p:spPr>
          <a:xfrm>
            <a:off x="7504524" y="2610269"/>
            <a:ext cx="725075" cy="114427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spTree>
    <p:extLst>
      <p:ext uri="{BB962C8B-B14F-4D97-AF65-F5344CB8AC3E}">
        <p14:creationId xmlns:p14="http://schemas.microsoft.com/office/powerpoint/2010/main" val="2452326653"/>
      </p:ext>
    </p:extLst>
  </p:cSld>
  <p:clrMapOvr>
    <a:masterClrMapping/>
  </p:clrMapOvr>
  <mc:AlternateContent xmlns:mc="http://schemas.openxmlformats.org/markup-compatibility/2006" xmlns:p14="http://schemas.microsoft.com/office/powerpoint/2010/main">
    <mc:Choice Requires="p14">
      <p:transition spd="slow" p14:dur="2000" advTm="2918"/>
    </mc:Choice>
    <mc:Fallback xmlns="">
      <p:transition spd="slow" advTm="2918"/>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C67840-4287-4411-DE2F-52855A7481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94253"/>
          </a:xfrm>
          <a:prstGeom prst="rect">
            <a:avLst/>
          </a:prstGeom>
        </p:spPr>
      </p:pic>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6096000" y="1907374"/>
                <a:ext cx="5257800" cy="4351338"/>
              </a:xfrm>
            </p:spPr>
            <p:txBody>
              <a:bodyPr/>
              <a:lstStyle/>
              <a:p>
                <a14:m>
                  <m:oMath xmlns:m="http://schemas.openxmlformats.org/officeDocument/2006/math">
                    <m:r>
                      <m:rPr>
                        <m:sty m:val="p"/>
                      </m:rPr>
                      <a:rPr lang="en-AU">
                        <a:latin typeface="Cambria Math" panose="02040503050406030204" pitchFamily="18" charset="0"/>
                      </a:rPr>
                      <m:t>Hubble</m:t>
                    </m:r>
                    <m:r>
                      <a:rPr lang="en-AU">
                        <a:latin typeface="Cambria Math" panose="02040503050406030204" pitchFamily="18" charset="0"/>
                      </a:rPr>
                      <m:t> </m:t>
                    </m:r>
                    <m:r>
                      <m:rPr>
                        <m:sty m:val="p"/>
                      </m:rPr>
                      <a:rPr lang="en-AU">
                        <a:latin typeface="Cambria Math" panose="02040503050406030204" pitchFamily="18" charset="0"/>
                      </a:rPr>
                      <m:t>residual</m:t>
                    </m:r>
                    <m:r>
                      <a:rPr lang="pl-PL" i="1">
                        <a:latin typeface="Cambria Math" panose="02040503050406030204" pitchFamily="18" charset="0"/>
                      </a:rPr>
                      <m:t>=</m:t>
                    </m:r>
                    <m:sSub>
                      <m:sSubPr>
                        <m:ctrlPr>
                          <a:rPr lang="pl-PL" i="1">
                            <a:latin typeface="Cambria Math" panose="02040503050406030204" pitchFamily="18" charset="0"/>
                          </a:rPr>
                        </m:ctrlPr>
                      </m:sSubPr>
                      <m:e>
                        <m:r>
                          <a:rPr lang="pl-PL" i="1">
                            <a:latin typeface="Cambria Math" panose="02040503050406030204" pitchFamily="18" charset="0"/>
                          </a:rPr>
                          <m:t>𝜇</m:t>
                        </m:r>
                      </m:e>
                      <m:sub>
                        <m:r>
                          <a:rPr lang="pl-PL" i="1">
                            <a:latin typeface="Cambria Math" panose="02040503050406030204" pitchFamily="18" charset="0"/>
                          </a:rPr>
                          <m:t>𝑜𝑏𝑠</m:t>
                        </m:r>
                      </m:sub>
                    </m:sSub>
                    <m:r>
                      <a:rPr lang="pl-PL" i="1">
                        <a:latin typeface="Cambria Math" panose="02040503050406030204" pitchFamily="18" charset="0"/>
                      </a:rPr>
                      <m:t>−</m:t>
                    </m:r>
                    <m:sSub>
                      <m:sSubPr>
                        <m:ctrlPr>
                          <a:rPr lang="pl-PL" i="1">
                            <a:latin typeface="Cambria Math" panose="02040503050406030204" pitchFamily="18" charset="0"/>
                          </a:rPr>
                        </m:ctrlPr>
                      </m:sSubPr>
                      <m:e>
                        <m:r>
                          <a:rPr lang="pl-PL" i="1">
                            <a:latin typeface="Cambria Math" panose="02040503050406030204" pitchFamily="18" charset="0"/>
                          </a:rPr>
                          <m:t>𝜇</m:t>
                        </m:r>
                      </m:e>
                      <m:sub>
                        <m:r>
                          <a:rPr lang="pl-PL" i="1">
                            <a:latin typeface="Cambria Math" panose="02040503050406030204" pitchFamily="18" charset="0"/>
                          </a:rPr>
                          <m:t>𝑐𝑜𝑠</m:t>
                        </m:r>
                      </m:sub>
                    </m:sSub>
                    <m:r>
                      <a:rPr lang="pl-PL" i="1">
                        <a:latin typeface="Cambria Math" panose="02040503050406030204" pitchFamily="18" charset="0"/>
                      </a:rPr>
                      <m:t> </m:t>
                    </m:r>
                  </m:oMath>
                </a14:m>
                <a:endParaRPr lang="en-AU" dirty="0"/>
              </a:p>
              <a:p>
                <a:r>
                  <a:rPr lang="en-AU" dirty="0"/>
                  <a:t>Properties</a:t>
                </a:r>
              </a:p>
              <a:p>
                <a:pPr lvl="1"/>
                <a:r>
                  <a:rPr lang="en-AU" dirty="0"/>
                  <a:t>Mass</a:t>
                </a:r>
              </a:p>
              <a:p>
                <a:pPr lvl="1"/>
                <a:r>
                  <a:rPr lang="en-AU" dirty="0"/>
                  <a:t>Distance</a:t>
                </a:r>
              </a:p>
              <a:p>
                <a:pPr lvl="1"/>
                <a:r>
                  <a:rPr lang="en-AU" dirty="0"/>
                  <a:t>Star Formation Rate</a:t>
                </a:r>
              </a:p>
            </p:txBody>
          </p:sp>
        </mc:Choice>
        <mc:Fallback xmlns="">
          <p:sp>
            <p:nvSpPr>
              <p:cNvPr id="3" name="Content Placeholder 2">
                <a:extLst>
                  <a:ext uri="{FF2B5EF4-FFF2-40B4-BE49-F238E27FC236}">
                    <a16:creationId xmlns:a16="http://schemas.microsoft.com/office/drawing/2014/main" id="{6688A419-F0FC-D06B-A5A1-742608EC3F53}"/>
                  </a:ext>
                </a:extLst>
              </p:cNvPr>
              <p:cNvSpPr>
                <a:spLocks noGrp="1" noRot="1" noChangeAspect="1" noMove="1" noResize="1" noEditPoints="1" noAdjustHandles="1" noChangeArrowheads="1" noChangeShapeType="1" noTextEdit="1"/>
              </p:cNvSpPr>
              <p:nvPr>
                <p:ph idx="1"/>
              </p:nvPr>
            </p:nvSpPr>
            <p:spPr>
              <a:xfrm>
                <a:off x="6096000" y="1907374"/>
                <a:ext cx="5257800" cy="4351338"/>
              </a:xfrm>
              <a:blipFill>
                <a:blip r:embed="rId4"/>
                <a:stretch>
                  <a:fillRect l="-2086"/>
                </a:stretch>
              </a:blipFill>
            </p:spPr>
            <p:txBody>
              <a:bodyPr/>
              <a:lstStyle/>
              <a:p>
                <a:r>
                  <a:rPr lang="en-AU">
                    <a:noFill/>
                  </a:rPr>
                  <a:t> </a:t>
                </a:r>
              </a:p>
            </p:txBody>
          </p:sp>
        </mc:Fallback>
      </mc:AlternateContent>
      <p:sp>
        <p:nvSpPr>
          <p:cNvPr id="10" name="TextBox 9">
            <a:extLst>
              <a:ext uri="{FF2B5EF4-FFF2-40B4-BE49-F238E27FC236}">
                <a16:creationId xmlns:a16="http://schemas.microsoft.com/office/drawing/2014/main" id="{D1ED9F07-AD21-C725-AFF0-8BEEEAFA43A5}"/>
              </a:ext>
            </a:extLst>
          </p:cNvPr>
          <p:cNvSpPr txBox="1"/>
          <p:nvPr/>
        </p:nvSpPr>
        <p:spPr>
          <a:xfrm>
            <a:off x="191861" y="6335814"/>
            <a:ext cx="308098" cy="369332"/>
          </a:xfrm>
          <a:prstGeom prst="rect">
            <a:avLst/>
          </a:prstGeom>
          <a:noFill/>
        </p:spPr>
        <p:txBody>
          <a:bodyPr wrap="none" rtlCol="0">
            <a:spAutoFit/>
          </a:bodyPr>
          <a:lstStyle/>
          <a:p>
            <a:r>
              <a:rPr lang="en-AU" dirty="0"/>
              <a:t>5</a:t>
            </a:r>
          </a:p>
        </p:txBody>
      </p:sp>
      <p:pic>
        <p:nvPicPr>
          <p:cNvPr id="13" name="Picture 12" descr="An image of NGC 4414 with two different supernovae happening in it across time. This is to show how we study the effects of the environment on how SNe evolve.">
            <a:extLst>
              <a:ext uri="{FF2B5EF4-FFF2-40B4-BE49-F238E27FC236}">
                <a16:creationId xmlns:a16="http://schemas.microsoft.com/office/drawing/2014/main" id="{6ACB94EF-5F8C-837D-AEBE-A4F8B590DF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35732" y="1879873"/>
            <a:ext cx="4406341" cy="4406341"/>
          </a:xfrm>
          <a:prstGeom prst="rect">
            <a:avLst/>
          </a:prstGeom>
        </p:spPr>
      </p:pic>
      <p:sp>
        <p:nvSpPr>
          <p:cNvPr id="15" name="TextBox 14">
            <a:extLst>
              <a:ext uri="{FF2B5EF4-FFF2-40B4-BE49-F238E27FC236}">
                <a16:creationId xmlns:a16="http://schemas.microsoft.com/office/drawing/2014/main" id="{A92BF14C-2039-9D98-209A-BFD986CBD0A8}"/>
              </a:ext>
            </a:extLst>
          </p:cNvPr>
          <p:cNvSpPr txBox="1"/>
          <p:nvPr/>
        </p:nvSpPr>
        <p:spPr>
          <a:xfrm>
            <a:off x="1235732" y="6335814"/>
            <a:ext cx="6112784" cy="369332"/>
          </a:xfrm>
          <a:prstGeom prst="rect">
            <a:avLst/>
          </a:prstGeom>
          <a:noFill/>
        </p:spPr>
        <p:txBody>
          <a:bodyPr wrap="square">
            <a:spAutoFit/>
          </a:bodyPr>
          <a:lstStyle/>
          <a:p>
            <a:r>
              <a:rPr lang="it-IT" dirty="0"/>
              <a:t>(</a:t>
            </a:r>
            <a:r>
              <a:rPr lang="it-IT" i="1" dirty="0"/>
              <a:t>Supernovae in NGC 4414</a:t>
            </a:r>
            <a:r>
              <a:rPr lang="it-IT" dirty="0"/>
              <a:t>, n.d.)</a:t>
            </a:r>
            <a:endParaRPr lang="en-AU" dirty="0"/>
          </a:p>
        </p:txBody>
      </p:sp>
    </p:spTree>
    <p:extLst>
      <p:ext uri="{BB962C8B-B14F-4D97-AF65-F5344CB8AC3E}">
        <p14:creationId xmlns:p14="http://schemas.microsoft.com/office/powerpoint/2010/main" val="3741420523"/>
      </p:ext>
    </p:extLst>
  </p:cSld>
  <p:clrMapOvr>
    <a:masterClrMapping/>
  </p:clrMapOvr>
  <mc:AlternateContent xmlns:mc="http://schemas.openxmlformats.org/markup-compatibility/2006" xmlns:p14="http://schemas.microsoft.com/office/powerpoint/2010/main">
    <mc:Choice Requires="p14">
      <p:transition spd="slow" p14:dur="2000" advTm="108817"/>
    </mc:Choice>
    <mc:Fallback xmlns="">
      <p:transition spd="slow" advTm="10881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B429E62-55AB-AD1B-7588-5747C76AE989}"/>
              </a:ext>
              <a:ext uri="{C183D7F6-B498-43B3-948B-1728B52AA6E4}">
                <adec:decorative xmlns:adec="http://schemas.microsoft.com/office/drawing/2017/decorative" val="1"/>
              </a:ext>
            </a:extLst>
          </p:cNvPr>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81E3B4D-C3C1-B1F4-6540-9647F2F42A01}"/>
              </a:ext>
            </a:extLst>
          </p:cNvPr>
          <p:cNvSpPr>
            <a:spLocks noGrp="1"/>
          </p:cNvSpPr>
          <p:nvPr>
            <p:ph type="title"/>
          </p:nvPr>
        </p:nvSpPr>
        <p:spPr/>
        <p:txBody>
          <a:bodyPr/>
          <a:lstStyle/>
          <a:p>
            <a:r>
              <a:rPr lang="en-AU" dirty="0"/>
              <a:t>Proposed Method</a:t>
            </a:r>
          </a:p>
        </p:txBody>
      </p:sp>
      <mc:AlternateContent xmlns:mc="http://schemas.openxmlformats.org/markup-compatibility/2006" xmlns:a14="http://schemas.microsoft.com/office/drawing/2010/main">
        <mc:Choice Requires="a14">
          <p:graphicFrame>
            <p:nvGraphicFramePr>
              <p:cNvPr id="4" name="Content Placeholder 3" descr="Flowchart of the general method and approach taken to the Honours project.&#10;">
                <a:extLst>
                  <a:ext uri="{FF2B5EF4-FFF2-40B4-BE49-F238E27FC236}">
                    <a16:creationId xmlns:a16="http://schemas.microsoft.com/office/drawing/2014/main" id="{2F20189F-B025-704A-F194-7DEA1AF1CB02}"/>
                  </a:ext>
                </a:extLst>
              </p:cNvPr>
              <p:cNvGraphicFramePr>
                <a:graphicFrameLocks noGrp="1"/>
              </p:cNvGraphicFramePr>
              <p:nvPr>
                <p:ph idx="1"/>
                <p:extLst>
                  <p:ext uri="{D42A27DB-BD31-4B8C-83A1-F6EECF244321}">
                    <p14:modId xmlns:p14="http://schemas.microsoft.com/office/powerpoint/2010/main" val="5467459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Content Placeholder 3" descr="Flowchart of the general method and approach taken to the Honours project.&#10;">
                <a:extLst>
                  <a:ext uri="{FF2B5EF4-FFF2-40B4-BE49-F238E27FC236}">
                    <a16:creationId xmlns:a16="http://schemas.microsoft.com/office/drawing/2014/main" id="{2F20189F-B025-704A-F194-7DEA1AF1CB02}"/>
                  </a:ext>
                </a:extLst>
              </p:cNvPr>
              <p:cNvGraphicFramePr>
                <a:graphicFrameLocks noGrp="1"/>
              </p:cNvGraphicFramePr>
              <p:nvPr>
                <p:ph idx="1"/>
                <p:extLst>
                  <p:ext uri="{D42A27DB-BD31-4B8C-83A1-F6EECF244321}">
                    <p14:modId xmlns:p14="http://schemas.microsoft.com/office/powerpoint/2010/main" val="5467459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spTree>
    <p:extLst>
      <p:ext uri="{BB962C8B-B14F-4D97-AF65-F5344CB8AC3E}">
        <p14:creationId xmlns:p14="http://schemas.microsoft.com/office/powerpoint/2010/main" val="2169916331"/>
      </p:ext>
    </p:extLst>
  </p:cSld>
  <p:clrMapOvr>
    <a:masterClrMapping/>
  </p:clrMapOvr>
  <mc:AlternateContent xmlns:mc="http://schemas.openxmlformats.org/markup-compatibility/2006" xmlns:p14="http://schemas.microsoft.com/office/powerpoint/2010/main">
    <mc:Choice Requires="p14">
      <p:transition spd="slow" p14:dur="2000" advTm="13894"/>
    </mc:Choice>
    <mc:Fallback xmlns="">
      <p:transition spd="slow" advTm="13894"/>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Finding SNe Ia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6315872" cy="2081723"/>
              </a:xfrm>
            </p:spPr>
            <p:txBody>
              <a:bodyPr>
                <a:normAutofit/>
              </a:bodyPr>
              <a:lstStyle/>
              <a:p>
                <a:r>
                  <a:rPr lang="en-AU" dirty="0"/>
                  <a:t>Construct a catalogue of extragalactic candidates</a:t>
                </a:r>
              </a:p>
              <a:p>
                <a:pPr lvl="1"/>
                <a:r>
                  <a:rPr lang="en-AU" dirty="0"/>
                  <a:t>Excluding alerts from known objects</a:t>
                </a:r>
              </a:p>
              <a:p>
                <a:pPr lvl="1"/>
                <a:r>
                  <a:rPr lang="en-AU" dirty="0"/>
                  <a:t>Galactic latitude cuts </a:t>
                </a:r>
                <a14:m>
                  <m:oMath xmlns:m="http://schemas.openxmlformats.org/officeDocument/2006/math">
                    <m:r>
                      <a:rPr lang="en-AU" b="0" i="0" dirty="0" smtClean="0">
                        <a:latin typeface="Cambria Math" panose="02040503050406030204" pitchFamily="18" charset="0"/>
                      </a:rPr>
                      <m:t>(</m:t>
                    </m:r>
                    <m:r>
                      <a:rPr lang="en-AU" i="1" dirty="0">
                        <a:latin typeface="Cambria Math" panose="02040503050406030204" pitchFamily="18" charset="0"/>
                      </a:rPr>
                      <m:t>|</m:t>
                    </m:r>
                    <m:r>
                      <a:rPr lang="en-AU" i="1" smtClean="0">
                        <a:latin typeface="Cambria Math" panose="02040503050406030204" pitchFamily="18" charset="0"/>
                      </a:rPr>
                      <m:t>𝑏</m:t>
                    </m:r>
                    <m:r>
                      <a:rPr lang="en-AU" i="1" smtClean="0">
                        <a:latin typeface="Cambria Math" panose="02040503050406030204" pitchFamily="18" charset="0"/>
                      </a:rPr>
                      <m:t>|&lt;20°)</m:t>
                    </m:r>
                  </m:oMath>
                </a14:m>
                <a:endParaRPr lang="en-AU" dirty="0"/>
              </a:p>
              <a:p>
                <a:pPr lvl="1"/>
                <a:r>
                  <a:rPr lang="en-AU" dirty="0"/>
                  <a:t>Detection is less than 150 days old.</a:t>
                </a:r>
              </a:p>
              <a:p>
                <a:pPr marL="457200" lvl="1" indent="0">
                  <a:buNone/>
                </a:pPr>
                <a:endParaRPr lang="en-AU" dirty="0"/>
              </a:p>
            </p:txBody>
          </p:sp>
        </mc:Choice>
        <mc:Fallback xmlns="">
          <p:sp>
            <p:nvSpPr>
              <p:cNvPr id="3" name="Content Placeholder 2">
                <a:extLst>
                  <a:ext uri="{FF2B5EF4-FFF2-40B4-BE49-F238E27FC236}">
                    <a16:creationId xmlns:a16="http://schemas.microsoft.com/office/drawing/2014/main" id="{0DE6BE5B-DA27-4C06-E559-3561B9464E7E}"/>
                  </a:ext>
                </a:extLst>
              </p:cNvPr>
              <p:cNvSpPr>
                <a:spLocks noGrp="1" noRot="1" noChangeAspect="1" noMove="1" noResize="1" noEditPoints="1" noAdjustHandles="1" noChangeArrowheads="1" noChangeShapeType="1" noTextEdit="1"/>
              </p:cNvSpPr>
              <p:nvPr>
                <p:ph idx="1"/>
              </p:nvPr>
            </p:nvSpPr>
            <p:spPr>
              <a:xfrm>
                <a:off x="838200" y="1825625"/>
                <a:ext cx="6315872" cy="2081723"/>
              </a:xfrm>
              <a:blipFill>
                <a:blip r:embed="rId4"/>
                <a:stretch>
                  <a:fillRect l="-1737" t="-4971" r="-386" b="-4678"/>
                </a:stretch>
              </a:blipFill>
            </p:spPr>
            <p:txBody>
              <a:bodyPr/>
              <a:lstStyle/>
              <a:p>
                <a:r>
                  <a:rPr lang="en-AU">
                    <a:noFill/>
                  </a:rPr>
                  <a:t> </a:t>
                </a:r>
              </a:p>
            </p:txBody>
          </p:sp>
        </mc:Fallback>
      </mc:AlternateContent>
      <p:sp>
        <p:nvSpPr>
          <p:cNvPr id="5" name="Content Placeholder 2">
            <a:extLst>
              <a:ext uri="{FF2B5EF4-FFF2-40B4-BE49-F238E27FC236}">
                <a16:creationId xmlns:a16="http://schemas.microsoft.com/office/drawing/2014/main" id="{1D2428A4-33D8-3B2A-EC0C-D5B3E2DA39AB}"/>
              </a:ext>
            </a:extLst>
          </p:cNvPr>
          <p:cNvSpPr txBox="1">
            <a:spLocks/>
          </p:cNvSpPr>
          <p:nvPr/>
        </p:nvSpPr>
        <p:spPr>
          <a:xfrm>
            <a:off x="838200" y="4341812"/>
            <a:ext cx="6315872" cy="20817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Use the machine learning classifiers within fink to find SNe Ia candidates.</a:t>
            </a:r>
          </a:p>
        </p:txBody>
      </p:sp>
    </p:spTree>
    <p:extLst>
      <p:ext uri="{BB962C8B-B14F-4D97-AF65-F5344CB8AC3E}">
        <p14:creationId xmlns:p14="http://schemas.microsoft.com/office/powerpoint/2010/main" val="2898617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C30746-EDE1-558E-B8A0-EB4F30C639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838B81B-16EF-32C2-9AD9-40DDEF066725}"/>
              </a:ext>
            </a:extLst>
          </p:cNvPr>
          <p:cNvSpPr>
            <a:spLocks noGrp="1"/>
          </p:cNvSpPr>
          <p:nvPr>
            <p:ph type="title"/>
          </p:nvPr>
        </p:nvSpPr>
        <p:spPr/>
        <p:txBody>
          <a:bodyPr/>
          <a:lstStyle/>
          <a:p>
            <a:r>
              <a:rPr lang="en-AU" dirty="0"/>
              <a:t>Host Galaxy Properties</a:t>
            </a:r>
          </a:p>
        </p:txBody>
      </p:sp>
      <p:sp>
        <p:nvSpPr>
          <p:cNvPr id="5" name="Content Placeholder 2">
            <a:extLst>
              <a:ext uri="{FF2B5EF4-FFF2-40B4-BE49-F238E27FC236}">
                <a16:creationId xmlns:a16="http://schemas.microsoft.com/office/drawing/2014/main" id="{CD963945-D928-4C40-AFD9-EF4F18DD0EBF}"/>
              </a:ext>
            </a:extLst>
          </p:cNvPr>
          <p:cNvSpPr>
            <a:spLocks noGrp="1"/>
          </p:cNvSpPr>
          <p:nvPr>
            <p:ph idx="1"/>
          </p:nvPr>
        </p:nvSpPr>
        <p:spPr>
          <a:xfrm>
            <a:off x="838200" y="1825625"/>
            <a:ext cx="5257800" cy="4351338"/>
          </a:xfrm>
        </p:spPr>
        <p:txBody>
          <a:bodyPr>
            <a:normAutofit/>
          </a:bodyPr>
          <a:lstStyle/>
          <a:p>
            <a:r>
              <a:rPr lang="en-AU" dirty="0"/>
              <a:t>Use template fits to estimate the following host properties.</a:t>
            </a:r>
          </a:p>
          <a:p>
            <a:pPr lvl="1"/>
            <a:r>
              <a:rPr lang="en-AU" dirty="0"/>
              <a:t>SFR</a:t>
            </a:r>
          </a:p>
          <a:p>
            <a:pPr lvl="1"/>
            <a:r>
              <a:rPr lang="en-AU" dirty="0"/>
              <a:t>Stellar Mass</a:t>
            </a:r>
          </a:p>
          <a:p>
            <a:pPr lvl="1"/>
            <a:r>
              <a:rPr lang="en-AU" dirty="0"/>
              <a:t>Colour</a:t>
            </a:r>
          </a:p>
          <a:p>
            <a:endParaRPr lang="en-AU" dirty="0"/>
          </a:p>
          <a:p>
            <a:r>
              <a:rPr lang="en-AU" dirty="0"/>
              <a:t>Use the position of the SNe Ia to determine the DLR.</a:t>
            </a:r>
          </a:p>
        </p:txBody>
      </p:sp>
    </p:spTree>
    <p:extLst>
      <p:ext uri="{BB962C8B-B14F-4D97-AF65-F5344CB8AC3E}">
        <p14:creationId xmlns:p14="http://schemas.microsoft.com/office/powerpoint/2010/main" val="4054569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9C14099-4909-B2F6-6B98-D56DD6C8EB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4E74744-A3E4-3B34-BBF5-7F6E0556C141}"/>
              </a:ext>
            </a:extLst>
          </p:cNvPr>
          <p:cNvSpPr>
            <a:spLocks noGrp="1"/>
          </p:cNvSpPr>
          <p:nvPr>
            <p:ph type="title"/>
          </p:nvPr>
        </p:nvSpPr>
        <p:spPr/>
        <p:txBody>
          <a:bodyPr/>
          <a:lstStyle/>
          <a:p>
            <a:r>
              <a:rPr lang="en-AU" dirty="0"/>
              <a:t>What’s Next</a:t>
            </a:r>
          </a:p>
        </p:txBody>
      </p:sp>
      <p:sp>
        <p:nvSpPr>
          <p:cNvPr id="3" name="Content Placeholder 2">
            <a:extLst>
              <a:ext uri="{FF2B5EF4-FFF2-40B4-BE49-F238E27FC236}">
                <a16:creationId xmlns:a16="http://schemas.microsoft.com/office/drawing/2014/main" id="{5FF50A3F-6108-80E6-975C-8C3F7E2CAB75}"/>
              </a:ext>
            </a:extLst>
          </p:cNvPr>
          <p:cNvSpPr>
            <a:spLocks noGrp="1"/>
          </p:cNvSpPr>
          <p:nvPr>
            <p:ph idx="1"/>
          </p:nvPr>
        </p:nvSpPr>
        <p:spPr>
          <a:xfrm>
            <a:off x="838201" y="1825625"/>
            <a:ext cx="6659880" cy="1562086"/>
          </a:xfrm>
        </p:spPr>
        <p:txBody>
          <a:bodyPr>
            <a:normAutofit lnSpcReduction="10000"/>
          </a:bodyPr>
          <a:lstStyle/>
          <a:p>
            <a:r>
              <a:rPr lang="en-AU" dirty="0"/>
              <a:t>Use SALT modelled light curves to find flux residuals in the SNe Ia.</a:t>
            </a:r>
          </a:p>
          <a:p>
            <a:pPr lvl="1"/>
            <a:r>
              <a:rPr lang="en-AU" dirty="0"/>
              <a:t>This may give us a sample of early excess flux SNe Ia. </a:t>
            </a:r>
          </a:p>
        </p:txBody>
      </p:sp>
      <p:sp>
        <p:nvSpPr>
          <p:cNvPr id="5" name="Content Placeholder 2">
            <a:extLst>
              <a:ext uri="{FF2B5EF4-FFF2-40B4-BE49-F238E27FC236}">
                <a16:creationId xmlns:a16="http://schemas.microsoft.com/office/drawing/2014/main" id="{1ECA814F-0D56-F3B5-043C-67AC0C9286EC}"/>
              </a:ext>
            </a:extLst>
          </p:cNvPr>
          <p:cNvSpPr txBox="1">
            <a:spLocks/>
          </p:cNvSpPr>
          <p:nvPr/>
        </p:nvSpPr>
        <p:spPr>
          <a:xfrm>
            <a:off x="838201" y="3339555"/>
            <a:ext cx="6833616" cy="156208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If sample size is significant, the correlations with the host galaxy properties of the early excess flux can be found!</a:t>
            </a:r>
          </a:p>
        </p:txBody>
      </p:sp>
    </p:spTree>
    <p:extLst>
      <p:ext uri="{BB962C8B-B14F-4D97-AF65-F5344CB8AC3E}">
        <p14:creationId xmlns:p14="http://schemas.microsoft.com/office/powerpoint/2010/main" val="3856569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1808</TotalTime>
  <Words>1536</Words>
  <Application>Microsoft Office PowerPoint</Application>
  <PresentationFormat>Widescreen</PresentationFormat>
  <Paragraphs>92</Paragraphs>
  <Slides>10</Slides>
  <Notes>9</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Cambria Math</vt:lpstr>
      <vt:lpstr>Office Theme</vt:lpstr>
      <vt:lpstr>A Review of Early Excess Flux SNe Ia and Their Hosts   </vt:lpstr>
      <vt:lpstr>Rubin and LSST</vt:lpstr>
      <vt:lpstr>What are SN Ia?</vt:lpstr>
      <vt:lpstr>SNe Ia – Why?</vt:lpstr>
      <vt:lpstr>Early Excess Flux </vt:lpstr>
      <vt:lpstr>Host Galaxy Environments</vt:lpstr>
      <vt:lpstr>Proposed Method</vt:lpstr>
      <vt:lpstr>Finding SNe Ia</vt:lpstr>
      <vt:lpstr>Host Galaxy Properties</vt:lpstr>
      <vt:lpstr>What’s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20</cp:revision>
  <dcterms:created xsi:type="dcterms:W3CDTF">2026-03-25T22:35:59Z</dcterms:created>
  <dcterms:modified xsi:type="dcterms:W3CDTF">2026-05-12T10:48:59Z</dcterms:modified>
</cp:coreProperties>
</file>