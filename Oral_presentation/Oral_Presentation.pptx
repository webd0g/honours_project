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6" r:id="rId4"/>
    <p:sldId id="265" r:id="rId5"/>
    <p:sldId id="259" r:id="rId6"/>
    <p:sldId id="260" r:id="rId7"/>
    <p:sldId id="264" r:id="rId8"/>
    <p:sldId id="267" r:id="rId9"/>
    <p:sldId id="268" r:id="rId10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4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CA1E58A6-B5FA-4B3B-BC1A-ECF1AECB335E}" type="datetimeFigureOut">
              <a:rPr lang="en-AU" smtClean="0"/>
              <a:t>1/05/2026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98C14253-CF00-411E-A6A8-E54749F369D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4806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635B6-31F2-960A-42FA-61BD198D4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F7D207-138F-C426-B22A-B815CD3BA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B377C2-C234-7C6A-4CDF-D1255E6B9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F1C0A-DBEE-4FE2-852B-82F11989E8A8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4120B-F243-F9C4-879D-327DB5CA9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72B7C-D18F-148B-CBA4-EE261CEEE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7776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B6F1C-B9EE-9AAB-2054-EBA31759D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94D2D-B19D-CDDE-C995-F951EE3F9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ECD94-BE54-D3DE-992D-0FFE9E770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04B64-59A1-43FD-A621-718A7387472C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1C3A5-2960-06B6-7573-3889EB31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9C7C9-09E5-F2C0-E97E-CCC3D64BE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256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6186-6F1A-99EE-ADF5-4F499936E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132D3-0529-1FBF-703D-FF9478B75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66D73-0E24-C7D5-8856-56AF162C1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26B86-071E-4515-930A-F55E3C3EE194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DF6D9E-B93F-63E4-B39D-2A12E0C8A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61F7E-E78A-3C49-80C5-62F48D4D1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48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6BD9-1822-126B-B266-CB1B0464C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2214C-0B52-E77D-6BEC-EEC667BFC6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60CE6-BAC4-D6C1-7901-794FA70AF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23F7B-F619-887A-A18E-9CC269BE4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87059-F666-41C9-8FAB-AA5146F3FF07}" type="datetime1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BD043F-FFC8-B4C6-8ED9-4A8A3015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2B86F-1247-5D5C-C9CA-5653B639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012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21133-AB13-E9E7-808D-3D705D56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0BF3E2-983C-C45E-3CB2-47980AE18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6CC56C-E0CB-744E-E859-1ACFFCCA68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0E473F-E587-4044-AB41-41EFA20542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BFB72-4A4A-153E-5146-C30C47705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299B49-6D45-6D15-6190-728DD825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1922F-AC76-4557-B850-17936BEC57CD}" type="datetime1">
              <a:rPr lang="en-AU" smtClean="0"/>
              <a:t>1/05/2026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B8C701-F93B-E63A-18DA-BA18679A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F8C8B-A57F-A63A-941B-A4E8D347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750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9AABC-D11A-DFA7-8796-6E8DC089B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26FD5-10DE-E6DD-3EB8-C23F5C6A4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4AD57-261B-4308-8154-628BF8DC3A87}" type="datetime1">
              <a:rPr lang="en-AU" smtClean="0"/>
              <a:t>1/05/2026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F3B265-8380-1305-E4BD-F05777A93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FB644D-F1BA-F0D8-C3D5-F47F03885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177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B5F694-DEDC-A6C3-B403-25B9BF7C4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D5AC2-A68E-45A5-B4B8-629D21A8D68D}" type="datetime1">
              <a:rPr lang="en-AU" smtClean="0"/>
              <a:t>1/05/2026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0C155F-11BF-C294-4AA1-CC98003D2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35453-864F-C5F2-17C1-88BB33121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0002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026E7-F638-853C-7B65-43C4C02E2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8A88F-A1B1-8911-58C2-7D7BA923C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06E63-5820-BEFD-8484-AD29D6EFD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CB61FE-C571-A57A-BED6-D5BA55F11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0A4F9-681A-41D6-8425-C45A9FA1042F}" type="datetime1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6B788-D65D-63EA-B174-929D9DE13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A4CCE-A6DA-D66C-38CA-A4A89C4FC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1891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C8CC8-65D3-08AC-79F6-9D995130D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68FB15-8AFE-5F07-0D1C-B7642CFF00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A248E3-01DC-B6EB-903D-CD402022C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5E98BE-1CB0-C582-8A3C-622335CF6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43FD3-C9E7-4676-B279-9A8841C441C7}" type="datetime1">
              <a:rPr lang="en-AU" smtClean="0"/>
              <a:t>1/05/2026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6B040-E069-9C70-953E-F45D558C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5786D-C758-2AD7-D361-4A9000683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3598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00C52-07F1-8200-D0DC-898C13A8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294D7-E230-3511-1212-23AD212F4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862FF-BC9D-3384-9D1D-622A13C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56B61-0096-4C58-ACC2-A1879528B12C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585956-FF6D-5D2C-2529-D3698A295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E4E19-AFC2-FE11-FF15-FA9F1F50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87089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AC15E6-4447-CCE9-50C3-FD076437A6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3E827B-74E7-483A-E75D-64595C9E0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BFEF0-3D59-D67A-A243-438EED7C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94802-E000-4AA6-AAA6-10910B20F9C7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7E762-A489-F28C-1E57-5C796BEAB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26DDE-6841-48E5-4573-D9B40B55C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915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24BE47-DB8E-699C-2763-F77EB3E3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DF0D2-48E4-CF2D-3AD3-0F9CB81BF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67C5-EF88-D7EB-D84D-2E36F75497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70AA3F-019E-456E-8699-AA2A3442A186}" type="datetime1">
              <a:rPr lang="en-AU" smtClean="0"/>
              <a:t>1/05/2026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7054A-7FD5-EC61-9A9A-9EC742589D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B3C53-E4AE-E227-D4FE-3E8ABBD7EC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045542-16FA-4226-AEB4-61E47D0A368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678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abstract digital illustration features a wavy black shape occupying the bottom right corner with small white stars and circular elements scattered within it. The rest of the space is blank white, creating a stark contrast and emphasizing the cosmic or space-themed design.&#10;&#10;AI-generated content may be incorrect.">
            <a:extLst>
              <a:ext uri="{FF2B5EF4-FFF2-40B4-BE49-F238E27FC236}">
                <a16:creationId xmlns:a16="http://schemas.microsoft.com/office/drawing/2014/main" id="{4B62EB1F-E0B3-9602-7525-1B122AC294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5609F3-5AF0-589B-F696-0B21E04FE2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A Review of Early Excess Flux SNe Ia and Their Hosts  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C3DB3-E7FF-EFF5-24BF-8C42BBF42D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Riley Webster </a:t>
            </a:r>
            <a:r>
              <a:rPr lang="en-AU"/>
              <a:t>and Anais Möller</a:t>
            </a:r>
            <a:endParaRPr lang="en-AU" dirty="0"/>
          </a:p>
          <a:p>
            <a:r>
              <a:rPr lang="en-AU" dirty="0"/>
              <a:t>Honours Project A</a:t>
            </a:r>
          </a:p>
          <a:p>
            <a:r>
              <a:rPr lang="en-AU" dirty="0"/>
              <a:t>Semester 1, 2026 </a:t>
            </a:r>
          </a:p>
        </p:txBody>
      </p:sp>
    </p:spTree>
    <p:extLst>
      <p:ext uri="{BB962C8B-B14F-4D97-AF65-F5344CB8AC3E}">
        <p14:creationId xmlns:p14="http://schemas.microsoft.com/office/powerpoint/2010/main" val="163145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F6EEB9-0E96-B71E-0C10-36510AE02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89B038-8363-B96F-495F-88435C55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Rubin and LSST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E6B7E-5F4D-C790-CFFB-1CF279E0E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Rubin telescope</a:t>
            </a:r>
          </a:p>
          <a:p>
            <a:pPr lvl="1"/>
            <a:r>
              <a:rPr lang="en-AU" dirty="0"/>
              <a:t>8.36 metre aperture</a:t>
            </a:r>
          </a:p>
          <a:p>
            <a:pPr lvl="1"/>
            <a:r>
              <a:rPr lang="en-AU" dirty="0"/>
              <a:t>320.5 – 1084.5 nm</a:t>
            </a:r>
          </a:p>
          <a:p>
            <a:r>
              <a:rPr lang="en-AU" dirty="0"/>
              <a:t>LSST</a:t>
            </a:r>
          </a:p>
          <a:p>
            <a:pPr lvl="1"/>
            <a:r>
              <a:rPr lang="en-AU" dirty="0"/>
              <a:t>Observe the southern skies</a:t>
            </a:r>
          </a:p>
          <a:p>
            <a:pPr lvl="1"/>
            <a:r>
              <a:rPr lang="en-AU" dirty="0"/>
              <a:t>Produce 10 million alerts per night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pic>
        <p:nvPicPr>
          <p:cNvPr id="8" name="Picture 7" descr="Photograph of a night sky with colorful star trails captured above a large observatory building on a rocky hill. Star trails create curved, streaked patterns in shades of blue, purple, and white, indicating long-exposure photography tracking Earth's rotation.">
            <a:extLst>
              <a:ext uri="{FF2B5EF4-FFF2-40B4-BE49-F238E27FC236}">
                <a16:creationId xmlns:a16="http://schemas.microsoft.com/office/drawing/2014/main" id="{C75D2F58-A7DC-DC31-6926-E1EBF579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837" y="454969"/>
            <a:ext cx="4925246" cy="32851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F87463-4370-B4F5-82EC-5A5B25200CA3}"/>
              </a:ext>
            </a:extLst>
          </p:cNvPr>
          <p:cNvSpPr txBox="1"/>
          <p:nvPr/>
        </p:nvSpPr>
        <p:spPr>
          <a:xfrm>
            <a:off x="6909837" y="3740118"/>
            <a:ext cx="6137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i="1" dirty="0"/>
              <a:t>Vera C. Rubin Press Release</a:t>
            </a:r>
            <a:r>
              <a:rPr lang="en-US" dirty="0"/>
              <a:t>)</a:t>
            </a:r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4EF079-0519-A5D9-553D-186230724062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8570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40D70-0B87-C718-C1F3-DBAEDA575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3A4E71-8744-2022-9278-0C2494916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9E3798-863F-D885-70AC-276D71079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SN 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0C8F-ED85-53D4-6C92-BCEC969B49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The explosion of a carbon-oxygen white dwarf </a:t>
            </a:r>
          </a:p>
        </p:txBody>
      </p:sp>
      <p:pic>
        <p:nvPicPr>
          <p:cNvPr id="7" name="Picture 6" descr="The singel degenerate SNe Ia case ">
            <a:extLst>
              <a:ext uri="{FF2B5EF4-FFF2-40B4-BE49-F238E27FC236}">
                <a16:creationId xmlns:a16="http://schemas.microsoft.com/office/drawing/2014/main" id="{01EBE7C4-380F-2218-8852-1D66F8B826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52908"/>
            <a:ext cx="5019582" cy="264287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 descr="The double degenerate SNe Ia case">
            <a:extLst>
              <a:ext uri="{FF2B5EF4-FFF2-40B4-BE49-F238E27FC236}">
                <a16:creationId xmlns:a16="http://schemas.microsoft.com/office/drawing/2014/main" id="{962BFC33-D111-E9FF-33B4-BC6275A9A9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273" y="2952908"/>
            <a:ext cx="5099527" cy="26797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657402-F4AB-F510-FFAB-F326178340DC}"/>
              </a:ext>
            </a:extLst>
          </p:cNvPr>
          <p:cNvSpPr txBox="1"/>
          <p:nvPr/>
        </p:nvSpPr>
        <p:spPr>
          <a:xfrm>
            <a:off x="838200" y="5632645"/>
            <a:ext cx="6137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</a:t>
            </a:r>
            <a:r>
              <a:rPr lang="en-US" i="1" dirty="0"/>
              <a:t>NASA Image and Video Library</a:t>
            </a:r>
            <a:r>
              <a:rPr lang="en-US" dirty="0"/>
              <a:t>)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C16CC8-A628-4A09-A9AA-48BFE6708A7A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20831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C1BE-A888-BAA9-4DD2-8F7B94A3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F08E1A-6A47-E455-29A2-A2716FE60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64BBA5-5CBC-84F5-E30F-9007B07E9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SNe Ia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FA77-E156-B226-EA4E-58E475A1F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87128" cy="4351338"/>
          </a:xfrm>
        </p:spPr>
        <p:txBody>
          <a:bodyPr>
            <a:normAutofit/>
          </a:bodyPr>
          <a:lstStyle/>
          <a:p>
            <a:r>
              <a:rPr lang="en-AU" dirty="0"/>
              <a:t>SNe Ia are standardizable candles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endParaRPr lang="en-AU" dirty="0"/>
          </a:p>
        </p:txBody>
      </p:sp>
      <p:pic>
        <p:nvPicPr>
          <p:cNvPr id="10" name="Picture 9" descr="An Example light curve of SN 2011fe">
            <a:extLst>
              <a:ext uri="{FF2B5EF4-FFF2-40B4-BE49-F238E27FC236}">
                <a16:creationId xmlns:a16="http://schemas.microsoft.com/office/drawing/2014/main" id="{61AA9387-B3C7-E5C2-543E-8228625B6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560" y="2365295"/>
            <a:ext cx="4950879" cy="40206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6DD526-8938-C3DF-B2D7-128FAF5CF3DB}"/>
              </a:ext>
            </a:extLst>
          </p:cNvPr>
          <p:cNvSpPr txBox="1"/>
          <p:nvPr/>
        </p:nvSpPr>
        <p:spPr>
          <a:xfrm>
            <a:off x="3620560" y="6201289"/>
            <a:ext cx="6095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(Dado &amp; Dar, 2015.)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06453D-F20E-2620-BDDE-EF745CAC0B37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55149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4E09F2-D5A3-5470-58F4-227C9880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8C01F2-403E-1B28-A1A4-DB20333CC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Early Excess Flux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4F266-4C36-F74A-28E0-193391E8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43144" cy="4351338"/>
          </a:xfrm>
        </p:spPr>
        <p:txBody>
          <a:bodyPr>
            <a:normAutofit/>
          </a:bodyPr>
          <a:lstStyle/>
          <a:p>
            <a:r>
              <a:rPr lang="en-AU" dirty="0"/>
              <a:t>In some cases, observation of SNe Ia are early and produce a bump in the light curve.</a:t>
            </a:r>
          </a:p>
          <a:p>
            <a:endParaRPr lang="en-AU" dirty="0"/>
          </a:p>
          <a:p>
            <a:r>
              <a:rPr lang="en-AU" dirty="0"/>
              <a:t>Case studies have proposed companion interaction, clumping of nickel 56 and interactions with CSM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4041E-EF53-343E-CED9-A6E511D87581}"/>
              </a:ext>
            </a:extLst>
          </p:cNvPr>
          <p:cNvSpPr txBox="1"/>
          <p:nvPr/>
        </p:nvSpPr>
        <p:spPr>
          <a:xfrm>
            <a:off x="6181344" y="4572602"/>
            <a:ext cx="6167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(Marion et al., 2016)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93FB9DA-FEC2-4227-049F-B71B2E632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317" y="681037"/>
            <a:ext cx="5889323" cy="37603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7B5E11-47A6-553F-4456-47232A0A53C5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C33EBE4-4839-94D7-A47F-84723FDFC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04524" y="2610269"/>
            <a:ext cx="725075" cy="11442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2326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C67840-4287-4411-DE2F-52855A748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6254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8C63AB-6315-7F38-6415-DAAEFC8D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Host Galaxy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A419-F0FC-D06B-A5A1-742608EC3F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AU" dirty="0"/>
              <a:t>To improve standardisation, we search for correlations with Host galaxy properties.</a:t>
            </a:r>
          </a:p>
          <a:p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F0B274-435A-24DB-2506-66435BFEC1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590" y="1603439"/>
            <a:ext cx="3623346" cy="338526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436A99-0494-8D69-F8B9-65F64C56A78B}"/>
              </a:ext>
            </a:extLst>
          </p:cNvPr>
          <p:cNvSpPr txBox="1"/>
          <p:nvPr/>
        </p:nvSpPr>
        <p:spPr>
          <a:xfrm>
            <a:off x="6513590" y="4988701"/>
            <a:ext cx="6136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(Toy et al., 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D9F07-AD21-C725-AFF0-8BEEEAFA43A5}"/>
              </a:ext>
            </a:extLst>
          </p:cNvPr>
          <p:cNvSpPr txBox="1"/>
          <p:nvPr/>
        </p:nvSpPr>
        <p:spPr>
          <a:xfrm>
            <a:off x="191861" y="633581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41420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F574DC-4061-64A8-AC59-2B0A2C2A1F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D5E06E-FEB0-5583-C474-C6291C4A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Finding SNe 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E6BE5B-DA27-4C06-E559-3561B9464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15872" cy="4351338"/>
              </a:xfrm>
            </p:spPr>
            <p:txBody>
              <a:bodyPr>
                <a:normAutofit/>
              </a:bodyPr>
              <a:lstStyle/>
              <a:p>
                <a:r>
                  <a:rPr lang="en-AU" dirty="0"/>
                  <a:t>Use Fink </a:t>
                </a:r>
                <a:r>
                  <a:rPr lang="en-AU" dirty="0" err="1"/>
                  <a:t>SuperNNova</a:t>
                </a:r>
                <a:r>
                  <a:rPr lang="en-AU" dirty="0"/>
                  <a:t> and </a:t>
                </a:r>
                <a:r>
                  <a:rPr lang="en-AU" dirty="0" err="1"/>
                  <a:t>earlySNIa</a:t>
                </a:r>
                <a:r>
                  <a:rPr lang="en-AU" dirty="0"/>
                  <a:t> classifiers to identify SNe Ia candidates.</a:t>
                </a:r>
              </a:p>
              <a:p>
                <a:pPr lvl="1"/>
                <a:r>
                  <a:rPr lang="en-AU" dirty="0"/>
                  <a:t>Through cross matching with galaxy catalogues</a:t>
                </a:r>
              </a:p>
              <a:p>
                <a:pPr lvl="1"/>
                <a:r>
                  <a:rPr lang="en-AU" dirty="0"/>
                  <a:t>Galactic latitude cuts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AU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AU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AU" i="1">
                        <a:latin typeface="Cambria Math" panose="02040503050406030204" pitchFamily="18" charset="0"/>
                      </a:rPr>
                      <m:t>&gt;20°</m:t>
                    </m:r>
                  </m:oMath>
                </a14:m>
                <a:endParaRPr lang="en-AU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E6BE5B-DA27-4C06-E559-3561B9464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15872" cy="4351338"/>
              </a:xfrm>
              <a:blipFill>
                <a:blip r:embed="rId3"/>
                <a:stretch>
                  <a:fillRect l="-1737" t="-238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86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30746-EDE1-558E-B8A0-EB4F30C63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38B81B-16EF-32C2-9AD9-40DDEF066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Host Galaxy Properties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D963945-D928-4C40-AFD9-EF4F18DD0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110472" cy="4351338"/>
          </a:xfrm>
        </p:spPr>
        <p:txBody>
          <a:bodyPr>
            <a:normAutofit/>
          </a:bodyPr>
          <a:lstStyle/>
          <a:p>
            <a:r>
              <a:rPr lang="en-AU" dirty="0"/>
              <a:t>Use fits of the host galaxy fluxes in the g and r bands of the Vera C. Rubin telescope to determine the following properties.</a:t>
            </a:r>
          </a:p>
          <a:p>
            <a:pPr lvl="1"/>
            <a:r>
              <a:rPr lang="en-AU" dirty="0"/>
              <a:t>SFR</a:t>
            </a:r>
          </a:p>
          <a:p>
            <a:pPr lvl="1"/>
            <a:r>
              <a:rPr lang="en-AU" dirty="0"/>
              <a:t>Stellar Mass</a:t>
            </a:r>
          </a:p>
          <a:p>
            <a:pPr lvl="1"/>
            <a:r>
              <a:rPr lang="en-AU" dirty="0"/>
              <a:t>Colour</a:t>
            </a:r>
          </a:p>
          <a:p>
            <a:r>
              <a:rPr lang="en-AU" dirty="0"/>
              <a:t>Use the position of the SNe Ia to determine the DLR.</a:t>
            </a:r>
          </a:p>
        </p:txBody>
      </p:sp>
    </p:spTree>
    <p:extLst>
      <p:ext uri="{BB962C8B-B14F-4D97-AF65-F5344CB8AC3E}">
        <p14:creationId xmlns:p14="http://schemas.microsoft.com/office/powerpoint/2010/main" val="4054569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9C14099-4909-B2F6-6B98-D56DD6C8E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E74744-A3E4-3B34-BBF5-7F6E0556C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What’s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50A3F-6108-80E6-975C-8C3F7E2CA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624027" cy="1562086"/>
          </a:xfrm>
        </p:spPr>
        <p:txBody>
          <a:bodyPr/>
          <a:lstStyle/>
          <a:p>
            <a:r>
              <a:rPr lang="en-AU" dirty="0"/>
              <a:t>Use SALT modelled light curves to find flux residuals in the SNe Ia.</a:t>
            </a:r>
          </a:p>
          <a:p>
            <a:pPr lvl="1"/>
            <a:r>
              <a:rPr lang="en-AU" dirty="0"/>
              <a:t>This may give us a sample of early excess flux SNe Ia.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CA814F-0D56-F3B5-043C-67AC0C9286EC}"/>
              </a:ext>
            </a:extLst>
          </p:cNvPr>
          <p:cNvSpPr txBox="1">
            <a:spLocks/>
          </p:cNvSpPr>
          <p:nvPr/>
        </p:nvSpPr>
        <p:spPr>
          <a:xfrm>
            <a:off x="838200" y="3339555"/>
            <a:ext cx="8624027" cy="15620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If sample size is significant, the correlations with the host galaxy properties of the early excess flux can be found!</a:t>
            </a:r>
          </a:p>
        </p:txBody>
      </p:sp>
    </p:spTree>
    <p:extLst>
      <p:ext uri="{BB962C8B-B14F-4D97-AF65-F5344CB8AC3E}">
        <p14:creationId xmlns:p14="http://schemas.microsoft.com/office/powerpoint/2010/main" val="3856569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</TotalTime>
  <Words>288</Words>
  <Application>Microsoft Office PowerPoint</Application>
  <PresentationFormat>Widescreen</PresentationFormat>
  <Paragraphs>53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A Review of Early Excess Flux SNe Ia and Their Hosts   </vt:lpstr>
      <vt:lpstr>Rubin and LSST</vt:lpstr>
      <vt:lpstr>What are SN Ia?</vt:lpstr>
      <vt:lpstr>SNe Ia – Why?</vt:lpstr>
      <vt:lpstr>Early Excess Flux </vt:lpstr>
      <vt:lpstr>Host Galaxy Environments</vt:lpstr>
      <vt:lpstr>Finding SNe Ia</vt:lpstr>
      <vt:lpstr>Host Galaxy Properties</vt:lpstr>
      <vt:lpstr>What’s 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Riley Webster</dc:creator>
  <cp:lastModifiedBy>Riley Webster</cp:lastModifiedBy>
  <cp:revision>16</cp:revision>
  <dcterms:created xsi:type="dcterms:W3CDTF">2026-03-25T22:35:59Z</dcterms:created>
  <dcterms:modified xsi:type="dcterms:W3CDTF">2026-05-01T06:31:11Z</dcterms:modified>
</cp:coreProperties>
</file>