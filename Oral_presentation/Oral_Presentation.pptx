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66" r:id="rId4"/>
    <p:sldId id="265" r:id="rId5"/>
    <p:sldId id="259" r:id="rId6"/>
    <p:sldId id="260" r:id="rId7"/>
    <p:sldId id="269" r:id="rId8"/>
    <p:sldId id="271" r:id="rId9"/>
    <p:sldId id="270" r:id="rId10"/>
    <p:sldId id="264" r:id="rId11"/>
    <p:sldId id="267" r:id="rId12"/>
    <p:sldId id="268" r:id="rId13"/>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1F20"/>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58" d="100"/>
          <a:sy n="158" d="100"/>
        </p:scale>
        <p:origin x="412" y="104"/>
      </p:cViewPr>
      <p:guideLst/>
    </p:cSldViewPr>
  </p:slideViewPr>
  <p:notesTextViewPr>
    <p:cViewPr>
      <p:scale>
        <a:sx n="3" d="2"/>
        <a:sy n="3" d="2"/>
      </p:scale>
      <p:origin x="0" y="-5"/>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AU" dirty="0"/>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CA1E58A6-B5FA-4B3B-BC1A-ECF1AECB335E}" type="datetimeFigureOut">
              <a:rPr lang="en-AU" smtClean="0"/>
              <a:t>10/06/2026</a:t>
            </a:fld>
            <a:endParaRPr lang="en-AU" dirty="0"/>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AU" dirty="0"/>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AU" dirty="0"/>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98C14253-CF00-411E-A6A8-E54749F369DE}" type="slidenum">
              <a:rPr lang="en-AU" smtClean="0"/>
              <a:t>‹#›</a:t>
            </a:fld>
            <a:endParaRPr lang="en-AU" dirty="0"/>
          </a:p>
        </p:txBody>
      </p:sp>
    </p:spTree>
    <p:extLst>
      <p:ext uri="{BB962C8B-B14F-4D97-AF65-F5344CB8AC3E}">
        <p14:creationId xmlns:p14="http://schemas.microsoft.com/office/powerpoint/2010/main" val="1854806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dirty="0"/>
          </a:p>
        </p:txBody>
      </p:sp>
      <p:sp>
        <p:nvSpPr>
          <p:cNvPr id="3" name="Notes Placeholder 2"/>
          <p:cNvSpPr>
            <a:spLocks noGrp="1"/>
          </p:cNvSpPr>
          <p:nvPr>
            <p:ph type="body" idx="1"/>
          </p:nvPr>
        </p:nvSpPr>
        <p:spPr/>
        <p:txBody>
          <a:bodyPr/>
          <a:lstStyle/>
          <a:p>
            <a:r>
              <a:rPr lang="en-AU" dirty="0"/>
              <a:t>Introduce yourself and welcome everyone to the presentation of the current literature and proposed method for a study of Early Excess SNe Ia and their Host galaxy properties.</a:t>
            </a:r>
          </a:p>
        </p:txBody>
      </p:sp>
      <p:sp>
        <p:nvSpPr>
          <p:cNvPr id="4" name="Slide Number Placeholder 3"/>
          <p:cNvSpPr>
            <a:spLocks noGrp="1"/>
          </p:cNvSpPr>
          <p:nvPr>
            <p:ph type="sldNum" sz="quarter" idx="5"/>
          </p:nvPr>
        </p:nvSpPr>
        <p:spPr/>
        <p:txBody>
          <a:bodyPr/>
          <a:lstStyle/>
          <a:p>
            <a:fld id="{98C14253-CF00-411E-A6A8-E54749F369DE}" type="slidenum">
              <a:rPr lang="en-AU" smtClean="0"/>
              <a:t>1</a:t>
            </a:fld>
            <a:endParaRPr lang="en-AU" dirty="0"/>
          </a:p>
        </p:txBody>
      </p:sp>
    </p:spTree>
    <p:extLst>
      <p:ext uri="{BB962C8B-B14F-4D97-AF65-F5344CB8AC3E}">
        <p14:creationId xmlns:p14="http://schemas.microsoft.com/office/powerpoint/2010/main" val="2608199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dirty="0"/>
          </a:p>
        </p:txBody>
      </p:sp>
      <p:sp>
        <p:nvSpPr>
          <p:cNvPr id="3" name="Notes Placeholder 2"/>
          <p:cNvSpPr>
            <a:spLocks noGrp="1"/>
          </p:cNvSpPr>
          <p:nvPr>
            <p:ph type="body" idx="1"/>
          </p:nvPr>
        </p:nvSpPr>
        <p:spPr/>
        <p:txBody>
          <a:bodyPr/>
          <a:lstStyle/>
          <a:p>
            <a:r>
              <a:rPr lang="en-AU" dirty="0"/>
              <a:t>The new technology that will enable this study is the Vera C. Rubin Observatory located in Chile, with an 8.36 metre aperture and filters that span 320 to 1084 nm this enables deep observations like never before. </a:t>
            </a:r>
          </a:p>
          <a:p>
            <a:endParaRPr lang="en-AU" dirty="0"/>
          </a:p>
          <a:p>
            <a:r>
              <a:rPr lang="en-AU" dirty="0"/>
              <a:t>Along with the relatively large aperture of Rubin the strategy of the survey that Rubin will operate under will produce a staggering number of transient alerts in the southern hemisphere of the sky, this means that Rubin is in a unique position to find transients. The main survey, the wide fast deep survey, will have a cadence for each pointing of approximately 3 days across all filters. The smaller surveys such as the deep drilling fields will have a much higher cadence of approximately less than a day. This will result in the SN Ia data unlike previous surveys.    </a:t>
            </a:r>
          </a:p>
        </p:txBody>
      </p:sp>
      <p:sp>
        <p:nvSpPr>
          <p:cNvPr id="4" name="Slide Number Placeholder 3"/>
          <p:cNvSpPr>
            <a:spLocks noGrp="1"/>
          </p:cNvSpPr>
          <p:nvPr>
            <p:ph type="sldNum" sz="quarter" idx="5"/>
          </p:nvPr>
        </p:nvSpPr>
        <p:spPr/>
        <p:txBody>
          <a:bodyPr/>
          <a:lstStyle/>
          <a:p>
            <a:fld id="{98C14253-CF00-411E-A6A8-E54749F369DE}" type="slidenum">
              <a:rPr lang="en-AU" smtClean="0"/>
              <a:t>2</a:t>
            </a:fld>
            <a:endParaRPr lang="en-AU" dirty="0"/>
          </a:p>
        </p:txBody>
      </p:sp>
    </p:spTree>
    <p:extLst>
      <p:ext uri="{BB962C8B-B14F-4D97-AF65-F5344CB8AC3E}">
        <p14:creationId xmlns:p14="http://schemas.microsoft.com/office/powerpoint/2010/main" val="28073441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dirty="0"/>
          </a:p>
        </p:txBody>
      </p:sp>
      <p:sp>
        <p:nvSpPr>
          <p:cNvPr id="3" name="Notes Placeholder 2"/>
          <p:cNvSpPr>
            <a:spLocks noGrp="1"/>
          </p:cNvSpPr>
          <p:nvPr>
            <p:ph type="body" idx="1"/>
          </p:nvPr>
        </p:nvSpPr>
        <p:spPr/>
        <p:txBody>
          <a:bodyPr/>
          <a:lstStyle/>
          <a:p>
            <a:r>
              <a:rPr lang="en-AU" dirty="0"/>
              <a:t>So what is a type Ia supernova? There are two main ideas proposed that have been successful in modelling and explaining explosion mechanisms the first being the single degenerate scenario where the primary start has become a white dwarf. This white dwarf then accretes mass from its main sequence companion star, accreting enough mass beyond the Chandrashekar limit which triggers fusion of the carbon in the core triggering this thermal runaway event that produces a shockwave in the white dwarf that rips it. On the right is the double degenerate scenario where a binary white dwarf system eventually merges triggering the same thermal runaway burning of carbon that produces the shockwaves that produce the elements that decay into the light that we observe.  </a:t>
            </a:r>
          </a:p>
        </p:txBody>
      </p:sp>
      <p:sp>
        <p:nvSpPr>
          <p:cNvPr id="4" name="Slide Number Placeholder 3"/>
          <p:cNvSpPr>
            <a:spLocks noGrp="1"/>
          </p:cNvSpPr>
          <p:nvPr>
            <p:ph type="sldNum" sz="quarter" idx="5"/>
          </p:nvPr>
        </p:nvSpPr>
        <p:spPr/>
        <p:txBody>
          <a:bodyPr/>
          <a:lstStyle/>
          <a:p>
            <a:fld id="{98C14253-CF00-411E-A6A8-E54749F369DE}" type="slidenum">
              <a:rPr lang="en-AU" smtClean="0"/>
              <a:t>3</a:t>
            </a:fld>
            <a:endParaRPr lang="en-AU" dirty="0"/>
          </a:p>
        </p:txBody>
      </p:sp>
    </p:spTree>
    <p:extLst>
      <p:ext uri="{BB962C8B-B14F-4D97-AF65-F5344CB8AC3E}">
        <p14:creationId xmlns:p14="http://schemas.microsoft.com/office/powerpoint/2010/main" val="36096486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dirty="0"/>
          </a:p>
        </p:txBody>
      </p:sp>
      <p:sp>
        <p:nvSpPr>
          <p:cNvPr id="3" name="Notes Placeholder 2"/>
          <p:cNvSpPr>
            <a:spLocks noGrp="1"/>
          </p:cNvSpPr>
          <p:nvPr>
            <p:ph type="body" idx="1"/>
          </p:nvPr>
        </p:nvSpPr>
        <p:spPr/>
        <p:txBody>
          <a:bodyPr/>
          <a:lstStyle/>
          <a:p>
            <a:r>
              <a:rPr lang="en-AU" dirty="0"/>
              <a:t>We are interested in these types of supernova because of the unique thermonuclear explosion that happens at the Chandrashekar mass limit. This means it produces roughly the same amount of nickel-56 and then cobalt-56 which produces the photons that we observe with our telescopes. Because of this typical peak flux, luminosity or magnitude these types of supernova can be standardised. This means that we adjust the light curve by correcting for the colour of the SNe Ia which is due to the occlusion due to dust and other small variations that will vary the properties of the progenitor such as the temperature and metallicity. The stretch parameter is how we adjust light curves that are broader and take longer to fade. Empirical fitting of the light curves with models that adjust the masses distributions of nickel – 56 after the supernova suggest that the stretch is primarily due to varying masses and distributions.    </a:t>
            </a:r>
          </a:p>
        </p:txBody>
      </p:sp>
      <p:sp>
        <p:nvSpPr>
          <p:cNvPr id="4" name="Slide Number Placeholder 3"/>
          <p:cNvSpPr>
            <a:spLocks noGrp="1"/>
          </p:cNvSpPr>
          <p:nvPr>
            <p:ph type="sldNum" sz="quarter" idx="5"/>
          </p:nvPr>
        </p:nvSpPr>
        <p:spPr/>
        <p:txBody>
          <a:bodyPr/>
          <a:lstStyle/>
          <a:p>
            <a:fld id="{98C14253-CF00-411E-A6A8-E54749F369DE}" type="slidenum">
              <a:rPr lang="en-AU" smtClean="0"/>
              <a:t>4</a:t>
            </a:fld>
            <a:endParaRPr lang="en-AU" dirty="0"/>
          </a:p>
        </p:txBody>
      </p:sp>
    </p:spTree>
    <p:extLst>
      <p:ext uri="{BB962C8B-B14F-4D97-AF65-F5344CB8AC3E}">
        <p14:creationId xmlns:p14="http://schemas.microsoft.com/office/powerpoint/2010/main" val="1800432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dirty="0"/>
          </a:p>
        </p:txBody>
      </p:sp>
      <p:sp>
        <p:nvSpPr>
          <p:cNvPr id="3" name="Notes Placeholder 2"/>
          <p:cNvSpPr>
            <a:spLocks noGrp="1"/>
          </p:cNvSpPr>
          <p:nvPr>
            <p:ph type="body" idx="1"/>
          </p:nvPr>
        </p:nvSpPr>
        <p:spPr/>
        <p:txBody>
          <a:bodyPr/>
          <a:lstStyle/>
          <a:p>
            <a:r>
              <a:rPr lang="en-AU" dirty="0"/>
              <a:t>A rare subtype of SNe Ia are these type Ias that have an excess in their fluxes or magnitudes early in the evolution of the light curve. The plot shows the evolution of the light curve for SN 2012cg which was the first normal SNe Ia that had this excess light in that’s highlighted in the red ellipse. The comparison to SN 2011fe is there as SN 2011fe is one of the earliest caught supernovas thus having early light curve data that can be compared. The population of discovered early excess SNe Ia is very limited at this time, but recently estimates have shown pushed for higher cadences in observations could improve the discoveries of the early excess.</a:t>
            </a:r>
          </a:p>
        </p:txBody>
      </p:sp>
      <p:sp>
        <p:nvSpPr>
          <p:cNvPr id="4" name="Slide Number Placeholder 3"/>
          <p:cNvSpPr>
            <a:spLocks noGrp="1"/>
          </p:cNvSpPr>
          <p:nvPr>
            <p:ph type="sldNum" sz="quarter" idx="5"/>
          </p:nvPr>
        </p:nvSpPr>
        <p:spPr/>
        <p:txBody>
          <a:bodyPr/>
          <a:lstStyle/>
          <a:p>
            <a:fld id="{98C14253-CF00-411E-A6A8-E54749F369DE}" type="slidenum">
              <a:rPr lang="en-AU" smtClean="0"/>
              <a:t>5</a:t>
            </a:fld>
            <a:endParaRPr lang="en-AU" dirty="0"/>
          </a:p>
        </p:txBody>
      </p:sp>
    </p:spTree>
    <p:extLst>
      <p:ext uri="{BB962C8B-B14F-4D97-AF65-F5344CB8AC3E}">
        <p14:creationId xmlns:p14="http://schemas.microsoft.com/office/powerpoint/2010/main" val="23177088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dirty="0"/>
          </a:p>
        </p:txBody>
      </p:sp>
      <p:sp>
        <p:nvSpPr>
          <p:cNvPr id="3" name="Notes Placeholder 2"/>
          <p:cNvSpPr>
            <a:spLocks noGrp="1"/>
          </p:cNvSpPr>
          <p:nvPr>
            <p:ph type="body" idx="1"/>
          </p:nvPr>
        </p:nvSpPr>
        <p:spPr/>
        <p:txBody>
          <a:bodyPr/>
          <a:lstStyle/>
          <a:p>
            <a:r>
              <a:rPr lang="en-AU" dirty="0"/>
              <a:t>To improve standardisation of the light curves of type Ia supernovae, population studies are done to see how the difference between the predicted peak magnitude of a supernova varies with the predicted brightness given a particular cosmology. In this figure from Toy et al we see the difference in the observed brightness of the supernova and the brightness calculated in a standard cosmology, as a function of the separation from the centre of the host galaxy. These correlation studies with populations of supernovae are found to determine what properties of the host environment affect the difference in the observed and predicted peak magnitudes because if an intrinsic property of the host environment is affecting the observed brightness that isn’t being corrected for it can provide more insight on the physics that affect SNe Ia data used in cosmology.  </a:t>
            </a:r>
          </a:p>
        </p:txBody>
      </p:sp>
      <p:sp>
        <p:nvSpPr>
          <p:cNvPr id="4" name="Slide Number Placeholder 3"/>
          <p:cNvSpPr>
            <a:spLocks noGrp="1"/>
          </p:cNvSpPr>
          <p:nvPr>
            <p:ph type="sldNum" sz="quarter" idx="5"/>
          </p:nvPr>
        </p:nvSpPr>
        <p:spPr/>
        <p:txBody>
          <a:bodyPr/>
          <a:lstStyle/>
          <a:p>
            <a:fld id="{98C14253-CF00-411E-A6A8-E54749F369DE}" type="slidenum">
              <a:rPr lang="en-AU" smtClean="0"/>
              <a:t>6</a:t>
            </a:fld>
            <a:endParaRPr lang="en-AU" dirty="0"/>
          </a:p>
        </p:txBody>
      </p:sp>
    </p:spTree>
    <p:extLst>
      <p:ext uri="{BB962C8B-B14F-4D97-AF65-F5344CB8AC3E}">
        <p14:creationId xmlns:p14="http://schemas.microsoft.com/office/powerpoint/2010/main" val="3389653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dirty="0"/>
          </a:p>
        </p:txBody>
      </p:sp>
      <p:sp>
        <p:nvSpPr>
          <p:cNvPr id="3" name="Notes Placeholder 2"/>
          <p:cNvSpPr>
            <a:spLocks noGrp="1"/>
          </p:cNvSpPr>
          <p:nvPr>
            <p:ph type="body" idx="1"/>
          </p:nvPr>
        </p:nvSpPr>
        <p:spPr/>
        <p:txBody>
          <a:bodyPr/>
          <a:lstStyle/>
          <a:p>
            <a:r>
              <a:rPr lang="en-AU" dirty="0"/>
              <a:t>The plan is to use the high cadence of the Rubin observatory through the LSST survey to find more early excess supernovae assign host’s to these supernovae and then correlate them with their host’s properties. But first we actually need to find the supernovae, for this the Fink broker will be used to find extragalactic candidates by removing any alerts that pass that could be confused for SNe like variable stars and AGNs. Having a galactic latitude cut off which eliminates any objects that could be found within our galaxy, this ensures that objects that pass the filter are extra-galactic and we only want new candidates which will also eliminate objects that are clearly not a new supernova. Following the construction of a catalogue of extragalactic candidates we will then classify these objects by using the EarlySNIa classifier to determine if these objects have been identified as SNe Ia.    </a:t>
            </a:r>
          </a:p>
        </p:txBody>
      </p:sp>
      <p:sp>
        <p:nvSpPr>
          <p:cNvPr id="4" name="Slide Number Placeholder 3"/>
          <p:cNvSpPr>
            <a:spLocks noGrp="1"/>
          </p:cNvSpPr>
          <p:nvPr>
            <p:ph type="sldNum" sz="quarter" idx="5"/>
          </p:nvPr>
        </p:nvSpPr>
        <p:spPr/>
        <p:txBody>
          <a:bodyPr/>
          <a:lstStyle/>
          <a:p>
            <a:fld id="{98C14253-CF00-411E-A6A8-E54749F369DE}" type="slidenum">
              <a:rPr lang="en-AU" smtClean="0"/>
              <a:t>10</a:t>
            </a:fld>
            <a:endParaRPr lang="en-AU" dirty="0"/>
          </a:p>
        </p:txBody>
      </p:sp>
    </p:spTree>
    <p:extLst>
      <p:ext uri="{BB962C8B-B14F-4D97-AF65-F5344CB8AC3E}">
        <p14:creationId xmlns:p14="http://schemas.microsoft.com/office/powerpoint/2010/main" val="32588206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dirty="0"/>
          </a:p>
        </p:txBody>
      </p:sp>
      <p:sp>
        <p:nvSpPr>
          <p:cNvPr id="3" name="Notes Placeholder 2"/>
          <p:cNvSpPr>
            <a:spLocks noGrp="1"/>
          </p:cNvSpPr>
          <p:nvPr>
            <p:ph type="body" idx="1"/>
          </p:nvPr>
        </p:nvSpPr>
        <p:spPr/>
        <p:txBody>
          <a:bodyPr/>
          <a:lstStyle/>
          <a:p>
            <a:r>
              <a:rPr lang="en-AU" dirty="0"/>
              <a:t>Now with a sample of SNe Ia we can use the normalised DLR method mentioned in slide 5 to associate host galaxies with the SNe Ia. Then using the photometry of the host galaxy without the supernova we can use fits to the galaxy spectral energy distribution templates to estimate the star formation rate, the stellar mass and the global colour of the galaxy. </a:t>
            </a:r>
          </a:p>
        </p:txBody>
      </p:sp>
      <p:sp>
        <p:nvSpPr>
          <p:cNvPr id="4" name="Slide Number Placeholder 3"/>
          <p:cNvSpPr>
            <a:spLocks noGrp="1"/>
          </p:cNvSpPr>
          <p:nvPr>
            <p:ph type="sldNum" sz="quarter" idx="5"/>
          </p:nvPr>
        </p:nvSpPr>
        <p:spPr/>
        <p:txBody>
          <a:bodyPr/>
          <a:lstStyle/>
          <a:p>
            <a:fld id="{98C14253-CF00-411E-A6A8-E54749F369DE}" type="slidenum">
              <a:rPr lang="en-AU" smtClean="0"/>
              <a:t>11</a:t>
            </a:fld>
            <a:endParaRPr lang="en-AU" dirty="0"/>
          </a:p>
        </p:txBody>
      </p:sp>
    </p:spTree>
    <p:extLst>
      <p:ext uri="{BB962C8B-B14F-4D97-AF65-F5344CB8AC3E}">
        <p14:creationId xmlns:p14="http://schemas.microsoft.com/office/powerpoint/2010/main" val="19168753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dirty="0"/>
          </a:p>
        </p:txBody>
      </p:sp>
      <p:sp>
        <p:nvSpPr>
          <p:cNvPr id="3" name="Notes Placeholder 2"/>
          <p:cNvSpPr>
            <a:spLocks noGrp="1"/>
          </p:cNvSpPr>
          <p:nvPr>
            <p:ph type="body" idx="1"/>
          </p:nvPr>
        </p:nvSpPr>
        <p:spPr/>
        <p:txBody>
          <a:bodyPr/>
          <a:lstStyle/>
          <a:p>
            <a:r>
              <a:rPr lang="en-AU" dirty="0"/>
              <a:t>Finally, we will use the empirical light fitting model for SNe Ia called SALT to derive the colour and stretch parameters for the SNe Ia in our sample, we will use these colour and stretch parameters to classify our SNe Ia in our sample even further into blue and red. Now to find early excess flux SNe Ia the method followed by Deckers et al., 2022 will be used. Deckers finds the residuals in the observed light curve and the fitted light curve within 6 days of the peak flux, identifying positive residuals in the early curve at this stage in its evolution as an early excess. If early excess flux are found how they correlate with the host galaxy properties will be determined which given a significant sample size would be the first of its kind with these early excess SNe Ia.  </a:t>
            </a:r>
          </a:p>
        </p:txBody>
      </p:sp>
      <p:sp>
        <p:nvSpPr>
          <p:cNvPr id="4" name="Slide Number Placeholder 3"/>
          <p:cNvSpPr>
            <a:spLocks noGrp="1"/>
          </p:cNvSpPr>
          <p:nvPr>
            <p:ph type="sldNum" sz="quarter" idx="5"/>
          </p:nvPr>
        </p:nvSpPr>
        <p:spPr/>
        <p:txBody>
          <a:bodyPr/>
          <a:lstStyle/>
          <a:p>
            <a:fld id="{98C14253-CF00-411E-A6A8-E54749F369DE}" type="slidenum">
              <a:rPr lang="en-AU" smtClean="0"/>
              <a:t>12</a:t>
            </a:fld>
            <a:endParaRPr lang="en-AU" dirty="0"/>
          </a:p>
        </p:txBody>
      </p:sp>
    </p:spTree>
    <p:extLst>
      <p:ext uri="{BB962C8B-B14F-4D97-AF65-F5344CB8AC3E}">
        <p14:creationId xmlns:p14="http://schemas.microsoft.com/office/powerpoint/2010/main" val="3584606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635B6-31F2-960A-42FA-61BD198D4A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2EF7D207-138F-C426-B22A-B815CD3BAB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45B377C2-C234-7C6A-4CDF-D1255E6B9A6B}"/>
              </a:ext>
            </a:extLst>
          </p:cNvPr>
          <p:cNvSpPr>
            <a:spLocks noGrp="1"/>
          </p:cNvSpPr>
          <p:nvPr>
            <p:ph type="dt" sz="half" idx="10"/>
          </p:nvPr>
        </p:nvSpPr>
        <p:spPr/>
        <p:txBody>
          <a:bodyPr/>
          <a:lstStyle/>
          <a:p>
            <a:fld id="{FDFF1C0A-DBEE-4FE2-852B-82F11989E8A8}" type="datetime1">
              <a:rPr lang="en-AU" smtClean="0"/>
              <a:t>10/06/2026</a:t>
            </a:fld>
            <a:endParaRPr lang="en-AU" dirty="0"/>
          </a:p>
        </p:txBody>
      </p:sp>
      <p:sp>
        <p:nvSpPr>
          <p:cNvPr id="5" name="Footer Placeholder 4">
            <a:extLst>
              <a:ext uri="{FF2B5EF4-FFF2-40B4-BE49-F238E27FC236}">
                <a16:creationId xmlns:a16="http://schemas.microsoft.com/office/drawing/2014/main" id="{23C4120B-F243-F9C4-879D-327DB5CA98EE}"/>
              </a:ext>
            </a:extLst>
          </p:cNvPr>
          <p:cNvSpPr>
            <a:spLocks noGrp="1"/>
          </p:cNvSpPr>
          <p:nvPr>
            <p:ph type="ftr" sz="quarter" idx="11"/>
          </p:nvPr>
        </p:nvSpPr>
        <p:spPr/>
        <p:txBody>
          <a:bodyPr/>
          <a:lstStyle/>
          <a:p>
            <a:endParaRPr lang="en-AU" dirty="0"/>
          </a:p>
        </p:txBody>
      </p:sp>
      <p:sp>
        <p:nvSpPr>
          <p:cNvPr id="6" name="Slide Number Placeholder 5">
            <a:extLst>
              <a:ext uri="{FF2B5EF4-FFF2-40B4-BE49-F238E27FC236}">
                <a16:creationId xmlns:a16="http://schemas.microsoft.com/office/drawing/2014/main" id="{E9B72B7C-D18F-148B-CBA4-EE261CEEE32E}"/>
              </a:ext>
            </a:extLst>
          </p:cNvPr>
          <p:cNvSpPr>
            <a:spLocks noGrp="1"/>
          </p:cNvSpPr>
          <p:nvPr>
            <p:ph type="sldNum" sz="quarter" idx="12"/>
          </p:nvPr>
        </p:nvSpPr>
        <p:spPr/>
        <p:txBody>
          <a:bodyPr/>
          <a:lstStyle/>
          <a:p>
            <a:fld id="{9C045542-16FA-4226-AEB4-61E47D0A3686}" type="slidenum">
              <a:rPr lang="en-AU" smtClean="0"/>
              <a:t>‹#›</a:t>
            </a:fld>
            <a:endParaRPr lang="en-AU" dirty="0"/>
          </a:p>
        </p:txBody>
      </p:sp>
    </p:spTree>
    <p:extLst>
      <p:ext uri="{BB962C8B-B14F-4D97-AF65-F5344CB8AC3E}">
        <p14:creationId xmlns:p14="http://schemas.microsoft.com/office/powerpoint/2010/main" val="2397776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B6F1C-B9EE-9AAB-2054-EBA31759DE4B}"/>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18D94D2D-B19D-CDDE-C995-F951EE3F91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2FECD94-BE54-D3DE-992D-0FFE9E770FC5}"/>
              </a:ext>
            </a:extLst>
          </p:cNvPr>
          <p:cNvSpPr>
            <a:spLocks noGrp="1"/>
          </p:cNvSpPr>
          <p:nvPr>
            <p:ph type="dt" sz="half" idx="10"/>
          </p:nvPr>
        </p:nvSpPr>
        <p:spPr/>
        <p:txBody>
          <a:bodyPr/>
          <a:lstStyle/>
          <a:p>
            <a:fld id="{22904B64-59A1-43FD-A621-718A7387472C}" type="datetime1">
              <a:rPr lang="en-AU" smtClean="0"/>
              <a:t>10/06/2026</a:t>
            </a:fld>
            <a:endParaRPr lang="en-AU" dirty="0"/>
          </a:p>
        </p:txBody>
      </p:sp>
      <p:sp>
        <p:nvSpPr>
          <p:cNvPr id="5" name="Footer Placeholder 4">
            <a:extLst>
              <a:ext uri="{FF2B5EF4-FFF2-40B4-BE49-F238E27FC236}">
                <a16:creationId xmlns:a16="http://schemas.microsoft.com/office/drawing/2014/main" id="{4791C3A5-2960-06B6-7573-3889EB31D98F}"/>
              </a:ext>
            </a:extLst>
          </p:cNvPr>
          <p:cNvSpPr>
            <a:spLocks noGrp="1"/>
          </p:cNvSpPr>
          <p:nvPr>
            <p:ph type="ftr" sz="quarter" idx="11"/>
          </p:nvPr>
        </p:nvSpPr>
        <p:spPr/>
        <p:txBody>
          <a:bodyPr/>
          <a:lstStyle/>
          <a:p>
            <a:endParaRPr lang="en-AU" dirty="0"/>
          </a:p>
        </p:txBody>
      </p:sp>
      <p:sp>
        <p:nvSpPr>
          <p:cNvPr id="6" name="Slide Number Placeholder 5">
            <a:extLst>
              <a:ext uri="{FF2B5EF4-FFF2-40B4-BE49-F238E27FC236}">
                <a16:creationId xmlns:a16="http://schemas.microsoft.com/office/drawing/2014/main" id="{2839C7C9-09E5-F2C0-E97E-CCC3D64BE465}"/>
              </a:ext>
            </a:extLst>
          </p:cNvPr>
          <p:cNvSpPr>
            <a:spLocks noGrp="1"/>
          </p:cNvSpPr>
          <p:nvPr>
            <p:ph type="sldNum" sz="quarter" idx="12"/>
          </p:nvPr>
        </p:nvSpPr>
        <p:spPr/>
        <p:txBody>
          <a:bodyPr/>
          <a:lstStyle/>
          <a:p>
            <a:fld id="{9C045542-16FA-4226-AEB4-61E47D0A3686}" type="slidenum">
              <a:rPr lang="en-AU" smtClean="0"/>
              <a:t>‹#›</a:t>
            </a:fld>
            <a:endParaRPr lang="en-AU" dirty="0"/>
          </a:p>
        </p:txBody>
      </p:sp>
    </p:spTree>
    <p:extLst>
      <p:ext uri="{BB962C8B-B14F-4D97-AF65-F5344CB8AC3E}">
        <p14:creationId xmlns:p14="http://schemas.microsoft.com/office/powerpoint/2010/main" val="3321256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6186-6F1A-99EE-ADF5-4F499936E1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6C6132D3-0529-1FBF-703D-FF9478B75C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B66D73-0E24-C7D5-8856-56AF162C1D00}"/>
              </a:ext>
            </a:extLst>
          </p:cNvPr>
          <p:cNvSpPr>
            <a:spLocks noGrp="1"/>
          </p:cNvSpPr>
          <p:nvPr>
            <p:ph type="dt" sz="half" idx="10"/>
          </p:nvPr>
        </p:nvSpPr>
        <p:spPr/>
        <p:txBody>
          <a:bodyPr/>
          <a:lstStyle/>
          <a:p>
            <a:fld id="{99326B86-071E-4515-930A-F55E3C3EE194}" type="datetime1">
              <a:rPr lang="en-AU" smtClean="0"/>
              <a:t>10/06/2026</a:t>
            </a:fld>
            <a:endParaRPr lang="en-AU" dirty="0"/>
          </a:p>
        </p:txBody>
      </p:sp>
      <p:sp>
        <p:nvSpPr>
          <p:cNvPr id="5" name="Footer Placeholder 4">
            <a:extLst>
              <a:ext uri="{FF2B5EF4-FFF2-40B4-BE49-F238E27FC236}">
                <a16:creationId xmlns:a16="http://schemas.microsoft.com/office/drawing/2014/main" id="{95DF6D9E-B93F-63E4-B39D-2A12E0C8A814}"/>
              </a:ext>
            </a:extLst>
          </p:cNvPr>
          <p:cNvSpPr>
            <a:spLocks noGrp="1"/>
          </p:cNvSpPr>
          <p:nvPr>
            <p:ph type="ftr" sz="quarter" idx="11"/>
          </p:nvPr>
        </p:nvSpPr>
        <p:spPr/>
        <p:txBody>
          <a:bodyPr/>
          <a:lstStyle/>
          <a:p>
            <a:endParaRPr lang="en-AU" dirty="0"/>
          </a:p>
        </p:txBody>
      </p:sp>
      <p:sp>
        <p:nvSpPr>
          <p:cNvPr id="6" name="Slide Number Placeholder 5">
            <a:extLst>
              <a:ext uri="{FF2B5EF4-FFF2-40B4-BE49-F238E27FC236}">
                <a16:creationId xmlns:a16="http://schemas.microsoft.com/office/drawing/2014/main" id="{01061F7E-E78A-3C49-80C5-62F48D4D1DA2}"/>
              </a:ext>
            </a:extLst>
          </p:cNvPr>
          <p:cNvSpPr>
            <a:spLocks noGrp="1"/>
          </p:cNvSpPr>
          <p:nvPr>
            <p:ph type="sldNum" sz="quarter" idx="12"/>
          </p:nvPr>
        </p:nvSpPr>
        <p:spPr/>
        <p:txBody>
          <a:bodyPr/>
          <a:lstStyle/>
          <a:p>
            <a:fld id="{9C045542-16FA-4226-AEB4-61E47D0A3686}" type="slidenum">
              <a:rPr lang="en-AU" smtClean="0"/>
              <a:t>‹#›</a:t>
            </a:fld>
            <a:endParaRPr lang="en-AU" dirty="0"/>
          </a:p>
        </p:txBody>
      </p:sp>
    </p:spTree>
    <p:extLst>
      <p:ext uri="{BB962C8B-B14F-4D97-AF65-F5344CB8AC3E}">
        <p14:creationId xmlns:p14="http://schemas.microsoft.com/office/powerpoint/2010/main" val="177486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F6BD9-1822-126B-B266-CB1B0464C649}"/>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E22214C-0B52-E77D-6BEC-EEC667BFC6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2EC60CE6-BAC4-D6C1-7901-794FA70AF9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F5223F7B-F619-887A-A18E-9CC269BE445C}"/>
              </a:ext>
            </a:extLst>
          </p:cNvPr>
          <p:cNvSpPr>
            <a:spLocks noGrp="1"/>
          </p:cNvSpPr>
          <p:nvPr>
            <p:ph type="dt" sz="half" idx="10"/>
          </p:nvPr>
        </p:nvSpPr>
        <p:spPr/>
        <p:txBody>
          <a:bodyPr/>
          <a:lstStyle/>
          <a:p>
            <a:fld id="{CDC87059-F666-41C9-8FAB-AA5146F3FF07}" type="datetime1">
              <a:rPr lang="en-AU" smtClean="0"/>
              <a:t>10/06/2026</a:t>
            </a:fld>
            <a:endParaRPr lang="en-AU" dirty="0"/>
          </a:p>
        </p:txBody>
      </p:sp>
      <p:sp>
        <p:nvSpPr>
          <p:cNvPr id="6" name="Footer Placeholder 5">
            <a:extLst>
              <a:ext uri="{FF2B5EF4-FFF2-40B4-BE49-F238E27FC236}">
                <a16:creationId xmlns:a16="http://schemas.microsoft.com/office/drawing/2014/main" id="{38BD043F-FFC8-B4C6-8ED9-4A8A30157209}"/>
              </a:ext>
            </a:extLst>
          </p:cNvPr>
          <p:cNvSpPr>
            <a:spLocks noGrp="1"/>
          </p:cNvSpPr>
          <p:nvPr>
            <p:ph type="ftr" sz="quarter" idx="11"/>
          </p:nvPr>
        </p:nvSpPr>
        <p:spPr/>
        <p:txBody>
          <a:bodyPr/>
          <a:lstStyle/>
          <a:p>
            <a:endParaRPr lang="en-AU" dirty="0"/>
          </a:p>
        </p:txBody>
      </p:sp>
      <p:sp>
        <p:nvSpPr>
          <p:cNvPr id="7" name="Slide Number Placeholder 6">
            <a:extLst>
              <a:ext uri="{FF2B5EF4-FFF2-40B4-BE49-F238E27FC236}">
                <a16:creationId xmlns:a16="http://schemas.microsoft.com/office/drawing/2014/main" id="{8A92B86F-1247-5D5C-C9CA-5653B6392198}"/>
              </a:ext>
            </a:extLst>
          </p:cNvPr>
          <p:cNvSpPr>
            <a:spLocks noGrp="1"/>
          </p:cNvSpPr>
          <p:nvPr>
            <p:ph type="sldNum" sz="quarter" idx="12"/>
          </p:nvPr>
        </p:nvSpPr>
        <p:spPr/>
        <p:txBody>
          <a:bodyPr/>
          <a:lstStyle/>
          <a:p>
            <a:fld id="{9C045542-16FA-4226-AEB4-61E47D0A3686}" type="slidenum">
              <a:rPr lang="en-AU" smtClean="0"/>
              <a:t>‹#›</a:t>
            </a:fld>
            <a:endParaRPr lang="en-AU" dirty="0"/>
          </a:p>
        </p:txBody>
      </p:sp>
    </p:spTree>
    <p:extLst>
      <p:ext uri="{BB962C8B-B14F-4D97-AF65-F5344CB8AC3E}">
        <p14:creationId xmlns:p14="http://schemas.microsoft.com/office/powerpoint/2010/main" val="150012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21133-AB13-E9E7-808D-3D705D5658D5}"/>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650BF3E2-983C-C45E-3CB2-47980AE185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6CC56C-E0CB-744E-E859-1ACFFCCA68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710E473F-E587-4044-AB41-41EFA20542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ABFB72-4A4A-153E-5146-C30C477050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AF299B49-6D45-6D15-6190-728DD825DC4C}"/>
              </a:ext>
            </a:extLst>
          </p:cNvPr>
          <p:cNvSpPr>
            <a:spLocks noGrp="1"/>
          </p:cNvSpPr>
          <p:nvPr>
            <p:ph type="dt" sz="half" idx="10"/>
          </p:nvPr>
        </p:nvSpPr>
        <p:spPr/>
        <p:txBody>
          <a:bodyPr/>
          <a:lstStyle/>
          <a:p>
            <a:fld id="{4931922F-AC76-4557-B850-17936BEC57CD}" type="datetime1">
              <a:rPr lang="en-AU" smtClean="0"/>
              <a:t>10/06/2026</a:t>
            </a:fld>
            <a:endParaRPr lang="en-AU" dirty="0"/>
          </a:p>
        </p:txBody>
      </p:sp>
      <p:sp>
        <p:nvSpPr>
          <p:cNvPr id="8" name="Footer Placeholder 7">
            <a:extLst>
              <a:ext uri="{FF2B5EF4-FFF2-40B4-BE49-F238E27FC236}">
                <a16:creationId xmlns:a16="http://schemas.microsoft.com/office/drawing/2014/main" id="{E4B8C701-F93B-E63A-18DA-BA18679AFC83}"/>
              </a:ext>
            </a:extLst>
          </p:cNvPr>
          <p:cNvSpPr>
            <a:spLocks noGrp="1"/>
          </p:cNvSpPr>
          <p:nvPr>
            <p:ph type="ftr" sz="quarter" idx="11"/>
          </p:nvPr>
        </p:nvSpPr>
        <p:spPr/>
        <p:txBody>
          <a:bodyPr/>
          <a:lstStyle/>
          <a:p>
            <a:endParaRPr lang="en-AU" dirty="0"/>
          </a:p>
        </p:txBody>
      </p:sp>
      <p:sp>
        <p:nvSpPr>
          <p:cNvPr id="9" name="Slide Number Placeholder 8">
            <a:extLst>
              <a:ext uri="{FF2B5EF4-FFF2-40B4-BE49-F238E27FC236}">
                <a16:creationId xmlns:a16="http://schemas.microsoft.com/office/drawing/2014/main" id="{846F8C8B-A57F-A63A-941B-A4E8D347B5F3}"/>
              </a:ext>
            </a:extLst>
          </p:cNvPr>
          <p:cNvSpPr>
            <a:spLocks noGrp="1"/>
          </p:cNvSpPr>
          <p:nvPr>
            <p:ph type="sldNum" sz="quarter" idx="12"/>
          </p:nvPr>
        </p:nvSpPr>
        <p:spPr/>
        <p:txBody>
          <a:bodyPr/>
          <a:lstStyle/>
          <a:p>
            <a:fld id="{9C045542-16FA-4226-AEB4-61E47D0A3686}" type="slidenum">
              <a:rPr lang="en-AU" smtClean="0"/>
              <a:t>‹#›</a:t>
            </a:fld>
            <a:endParaRPr lang="en-AU" dirty="0"/>
          </a:p>
        </p:txBody>
      </p:sp>
    </p:spTree>
    <p:extLst>
      <p:ext uri="{BB962C8B-B14F-4D97-AF65-F5344CB8AC3E}">
        <p14:creationId xmlns:p14="http://schemas.microsoft.com/office/powerpoint/2010/main" val="1117506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9AABC-D11A-DFA7-8796-6E8DC089B1F3}"/>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C8526FD5-10DE-E6DD-3EB8-C23F5C6A4A6A}"/>
              </a:ext>
            </a:extLst>
          </p:cNvPr>
          <p:cNvSpPr>
            <a:spLocks noGrp="1"/>
          </p:cNvSpPr>
          <p:nvPr>
            <p:ph type="dt" sz="half" idx="10"/>
          </p:nvPr>
        </p:nvSpPr>
        <p:spPr/>
        <p:txBody>
          <a:bodyPr/>
          <a:lstStyle/>
          <a:p>
            <a:fld id="{5FD4AD57-261B-4308-8154-628BF8DC3A87}" type="datetime1">
              <a:rPr lang="en-AU" smtClean="0"/>
              <a:t>10/06/2026</a:t>
            </a:fld>
            <a:endParaRPr lang="en-AU" dirty="0"/>
          </a:p>
        </p:txBody>
      </p:sp>
      <p:sp>
        <p:nvSpPr>
          <p:cNvPr id="4" name="Footer Placeholder 3">
            <a:extLst>
              <a:ext uri="{FF2B5EF4-FFF2-40B4-BE49-F238E27FC236}">
                <a16:creationId xmlns:a16="http://schemas.microsoft.com/office/drawing/2014/main" id="{8CF3B265-8380-1305-E4BD-F05777A93638}"/>
              </a:ext>
            </a:extLst>
          </p:cNvPr>
          <p:cNvSpPr>
            <a:spLocks noGrp="1"/>
          </p:cNvSpPr>
          <p:nvPr>
            <p:ph type="ftr" sz="quarter" idx="11"/>
          </p:nvPr>
        </p:nvSpPr>
        <p:spPr/>
        <p:txBody>
          <a:bodyPr/>
          <a:lstStyle/>
          <a:p>
            <a:endParaRPr lang="en-AU" dirty="0"/>
          </a:p>
        </p:txBody>
      </p:sp>
      <p:sp>
        <p:nvSpPr>
          <p:cNvPr id="5" name="Slide Number Placeholder 4">
            <a:extLst>
              <a:ext uri="{FF2B5EF4-FFF2-40B4-BE49-F238E27FC236}">
                <a16:creationId xmlns:a16="http://schemas.microsoft.com/office/drawing/2014/main" id="{EAFB644D-F1BA-F0D8-C3D5-F47F038859A7}"/>
              </a:ext>
            </a:extLst>
          </p:cNvPr>
          <p:cNvSpPr>
            <a:spLocks noGrp="1"/>
          </p:cNvSpPr>
          <p:nvPr>
            <p:ph type="sldNum" sz="quarter" idx="12"/>
          </p:nvPr>
        </p:nvSpPr>
        <p:spPr/>
        <p:txBody>
          <a:bodyPr/>
          <a:lstStyle/>
          <a:p>
            <a:fld id="{9C045542-16FA-4226-AEB4-61E47D0A3686}" type="slidenum">
              <a:rPr lang="en-AU" smtClean="0"/>
              <a:t>‹#›</a:t>
            </a:fld>
            <a:endParaRPr lang="en-AU" dirty="0"/>
          </a:p>
        </p:txBody>
      </p:sp>
    </p:spTree>
    <p:extLst>
      <p:ext uri="{BB962C8B-B14F-4D97-AF65-F5344CB8AC3E}">
        <p14:creationId xmlns:p14="http://schemas.microsoft.com/office/powerpoint/2010/main" val="25217712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B5F694-DEDC-A6C3-B403-25B9BF7C4D89}"/>
              </a:ext>
            </a:extLst>
          </p:cNvPr>
          <p:cNvSpPr>
            <a:spLocks noGrp="1"/>
          </p:cNvSpPr>
          <p:nvPr>
            <p:ph type="dt" sz="half" idx="10"/>
          </p:nvPr>
        </p:nvSpPr>
        <p:spPr/>
        <p:txBody>
          <a:bodyPr/>
          <a:lstStyle/>
          <a:p>
            <a:fld id="{511D5AC2-A68E-45A5-B4B8-629D21A8D68D}" type="datetime1">
              <a:rPr lang="en-AU" smtClean="0"/>
              <a:t>10/06/2026</a:t>
            </a:fld>
            <a:endParaRPr lang="en-AU" dirty="0"/>
          </a:p>
        </p:txBody>
      </p:sp>
      <p:sp>
        <p:nvSpPr>
          <p:cNvPr id="3" name="Footer Placeholder 2">
            <a:extLst>
              <a:ext uri="{FF2B5EF4-FFF2-40B4-BE49-F238E27FC236}">
                <a16:creationId xmlns:a16="http://schemas.microsoft.com/office/drawing/2014/main" id="{D10C155F-11BF-C294-4AA1-CC98003D2E8C}"/>
              </a:ext>
            </a:extLst>
          </p:cNvPr>
          <p:cNvSpPr>
            <a:spLocks noGrp="1"/>
          </p:cNvSpPr>
          <p:nvPr>
            <p:ph type="ftr" sz="quarter" idx="11"/>
          </p:nvPr>
        </p:nvSpPr>
        <p:spPr/>
        <p:txBody>
          <a:bodyPr/>
          <a:lstStyle/>
          <a:p>
            <a:endParaRPr lang="en-AU" dirty="0"/>
          </a:p>
        </p:txBody>
      </p:sp>
      <p:sp>
        <p:nvSpPr>
          <p:cNvPr id="4" name="Slide Number Placeholder 3">
            <a:extLst>
              <a:ext uri="{FF2B5EF4-FFF2-40B4-BE49-F238E27FC236}">
                <a16:creationId xmlns:a16="http://schemas.microsoft.com/office/drawing/2014/main" id="{48C35453-864F-C5F2-17C1-88BB33121274}"/>
              </a:ext>
            </a:extLst>
          </p:cNvPr>
          <p:cNvSpPr>
            <a:spLocks noGrp="1"/>
          </p:cNvSpPr>
          <p:nvPr>
            <p:ph type="sldNum" sz="quarter" idx="12"/>
          </p:nvPr>
        </p:nvSpPr>
        <p:spPr/>
        <p:txBody>
          <a:bodyPr/>
          <a:lstStyle/>
          <a:p>
            <a:fld id="{9C045542-16FA-4226-AEB4-61E47D0A3686}" type="slidenum">
              <a:rPr lang="en-AU" smtClean="0"/>
              <a:t>‹#›</a:t>
            </a:fld>
            <a:endParaRPr lang="en-AU" dirty="0"/>
          </a:p>
        </p:txBody>
      </p:sp>
    </p:spTree>
    <p:extLst>
      <p:ext uri="{BB962C8B-B14F-4D97-AF65-F5344CB8AC3E}">
        <p14:creationId xmlns:p14="http://schemas.microsoft.com/office/powerpoint/2010/main" val="1760002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026E7-F638-853C-7B65-43C4C02E2A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F9B8A88F-A1B1-8911-58C2-7D7BA923C7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43806E63-5820-BEFD-8484-AD29D6EFD4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CB61FE-C571-A57A-BED6-D5BA55F11BE2}"/>
              </a:ext>
            </a:extLst>
          </p:cNvPr>
          <p:cNvSpPr>
            <a:spLocks noGrp="1"/>
          </p:cNvSpPr>
          <p:nvPr>
            <p:ph type="dt" sz="half" idx="10"/>
          </p:nvPr>
        </p:nvSpPr>
        <p:spPr/>
        <p:txBody>
          <a:bodyPr/>
          <a:lstStyle/>
          <a:p>
            <a:fld id="{11A0A4F9-681A-41D6-8425-C45A9FA1042F}" type="datetime1">
              <a:rPr lang="en-AU" smtClean="0"/>
              <a:t>10/06/2026</a:t>
            </a:fld>
            <a:endParaRPr lang="en-AU" dirty="0"/>
          </a:p>
        </p:txBody>
      </p:sp>
      <p:sp>
        <p:nvSpPr>
          <p:cNvPr id="6" name="Footer Placeholder 5">
            <a:extLst>
              <a:ext uri="{FF2B5EF4-FFF2-40B4-BE49-F238E27FC236}">
                <a16:creationId xmlns:a16="http://schemas.microsoft.com/office/drawing/2014/main" id="{E3A6B788-D65D-63EA-B174-929D9DE13BBE}"/>
              </a:ext>
            </a:extLst>
          </p:cNvPr>
          <p:cNvSpPr>
            <a:spLocks noGrp="1"/>
          </p:cNvSpPr>
          <p:nvPr>
            <p:ph type="ftr" sz="quarter" idx="11"/>
          </p:nvPr>
        </p:nvSpPr>
        <p:spPr/>
        <p:txBody>
          <a:bodyPr/>
          <a:lstStyle/>
          <a:p>
            <a:endParaRPr lang="en-AU" dirty="0"/>
          </a:p>
        </p:txBody>
      </p:sp>
      <p:sp>
        <p:nvSpPr>
          <p:cNvPr id="7" name="Slide Number Placeholder 6">
            <a:extLst>
              <a:ext uri="{FF2B5EF4-FFF2-40B4-BE49-F238E27FC236}">
                <a16:creationId xmlns:a16="http://schemas.microsoft.com/office/drawing/2014/main" id="{00FA4CCE-A6DA-D66C-38CA-A4A89C4FCFE0}"/>
              </a:ext>
            </a:extLst>
          </p:cNvPr>
          <p:cNvSpPr>
            <a:spLocks noGrp="1"/>
          </p:cNvSpPr>
          <p:nvPr>
            <p:ph type="sldNum" sz="quarter" idx="12"/>
          </p:nvPr>
        </p:nvSpPr>
        <p:spPr/>
        <p:txBody>
          <a:bodyPr/>
          <a:lstStyle/>
          <a:p>
            <a:fld id="{9C045542-16FA-4226-AEB4-61E47D0A3686}" type="slidenum">
              <a:rPr lang="en-AU" smtClean="0"/>
              <a:t>‹#›</a:t>
            </a:fld>
            <a:endParaRPr lang="en-AU" dirty="0"/>
          </a:p>
        </p:txBody>
      </p:sp>
    </p:spTree>
    <p:extLst>
      <p:ext uri="{BB962C8B-B14F-4D97-AF65-F5344CB8AC3E}">
        <p14:creationId xmlns:p14="http://schemas.microsoft.com/office/powerpoint/2010/main" val="1411891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C8CC8-65D3-08AC-79F6-9D995130DC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E768FB15-8AFE-5F07-0D1C-B7642CFF00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a:extLst>
              <a:ext uri="{FF2B5EF4-FFF2-40B4-BE49-F238E27FC236}">
                <a16:creationId xmlns:a16="http://schemas.microsoft.com/office/drawing/2014/main" id="{9CA248E3-01DC-B6EB-903D-CD402022CD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5E98BE-1CB0-C582-8A3C-622335CF625F}"/>
              </a:ext>
            </a:extLst>
          </p:cNvPr>
          <p:cNvSpPr>
            <a:spLocks noGrp="1"/>
          </p:cNvSpPr>
          <p:nvPr>
            <p:ph type="dt" sz="half" idx="10"/>
          </p:nvPr>
        </p:nvSpPr>
        <p:spPr/>
        <p:txBody>
          <a:bodyPr/>
          <a:lstStyle/>
          <a:p>
            <a:fld id="{6DD43FD3-C9E7-4676-B279-9A8841C441C7}" type="datetime1">
              <a:rPr lang="en-AU" smtClean="0"/>
              <a:t>10/06/2026</a:t>
            </a:fld>
            <a:endParaRPr lang="en-AU" dirty="0"/>
          </a:p>
        </p:txBody>
      </p:sp>
      <p:sp>
        <p:nvSpPr>
          <p:cNvPr id="6" name="Footer Placeholder 5">
            <a:extLst>
              <a:ext uri="{FF2B5EF4-FFF2-40B4-BE49-F238E27FC236}">
                <a16:creationId xmlns:a16="http://schemas.microsoft.com/office/drawing/2014/main" id="{ACC6B040-E069-9C70-953E-F45D558C103A}"/>
              </a:ext>
            </a:extLst>
          </p:cNvPr>
          <p:cNvSpPr>
            <a:spLocks noGrp="1"/>
          </p:cNvSpPr>
          <p:nvPr>
            <p:ph type="ftr" sz="quarter" idx="11"/>
          </p:nvPr>
        </p:nvSpPr>
        <p:spPr/>
        <p:txBody>
          <a:bodyPr/>
          <a:lstStyle/>
          <a:p>
            <a:endParaRPr lang="en-AU" dirty="0"/>
          </a:p>
        </p:txBody>
      </p:sp>
      <p:sp>
        <p:nvSpPr>
          <p:cNvPr id="7" name="Slide Number Placeholder 6">
            <a:extLst>
              <a:ext uri="{FF2B5EF4-FFF2-40B4-BE49-F238E27FC236}">
                <a16:creationId xmlns:a16="http://schemas.microsoft.com/office/drawing/2014/main" id="{E065786D-C758-2AD7-D361-4A9000683986}"/>
              </a:ext>
            </a:extLst>
          </p:cNvPr>
          <p:cNvSpPr>
            <a:spLocks noGrp="1"/>
          </p:cNvSpPr>
          <p:nvPr>
            <p:ph type="sldNum" sz="quarter" idx="12"/>
          </p:nvPr>
        </p:nvSpPr>
        <p:spPr/>
        <p:txBody>
          <a:bodyPr/>
          <a:lstStyle/>
          <a:p>
            <a:fld id="{9C045542-16FA-4226-AEB4-61E47D0A3686}" type="slidenum">
              <a:rPr lang="en-AU" smtClean="0"/>
              <a:t>‹#›</a:t>
            </a:fld>
            <a:endParaRPr lang="en-AU" dirty="0"/>
          </a:p>
        </p:txBody>
      </p:sp>
    </p:spTree>
    <p:extLst>
      <p:ext uri="{BB962C8B-B14F-4D97-AF65-F5344CB8AC3E}">
        <p14:creationId xmlns:p14="http://schemas.microsoft.com/office/powerpoint/2010/main" val="2683598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00C52-07F1-8200-D0DC-898C13A8CEE8}"/>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69F294D7-E230-3511-1212-23AD212F4F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9C862FF-BC9D-3384-9D1D-622A13C067E2}"/>
              </a:ext>
            </a:extLst>
          </p:cNvPr>
          <p:cNvSpPr>
            <a:spLocks noGrp="1"/>
          </p:cNvSpPr>
          <p:nvPr>
            <p:ph type="dt" sz="half" idx="10"/>
          </p:nvPr>
        </p:nvSpPr>
        <p:spPr/>
        <p:txBody>
          <a:bodyPr/>
          <a:lstStyle/>
          <a:p>
            <a:fld id="{0B756B61-0096-4C58-ACC2-A1879528B12C}" type="datetime1">
              <a:rPr lang="en-AU" smtClean="0"/>
              <a:t>10/06/2026</a:t>
            </a:fld>
            <a:endParaRPr lang="en-AU" dirty="0"/>
          </a:p>
        </p:txBody>
      </p:sp>
      <p:sp>
        <p:nvSpPr>
          <p:cNvPr id="5" name="Footer Placeholder 4">
            <a:extLst>
              <a:ext uri="{FF2B5EF4-FFF2-40B4-BE49-F238E27FC236}">
                <a16:creationId xmlns:a16="http://schemas.microsoft.com/office/drawing/2014/main" id="{68585956-FF6D-5D2C-2529-D3698A2955ED}"/>
              </a:ext>
            </a:extLst>
          </p:cNvPr>
          <p:cNvSpPr>
            <a:spLocks noGrp="1"/>
          </p:cNvSpPr>
          <p:nvPr>
            <p:ph type="ftr" sz="quarter" idx="11"/>
          </p:nvPr>
        </p:nvSpPr>
        <p:spPr/>
        <p:txBody>
          <a:bodyPr/>
          <a:lstStyle/>
          <a:p>
            <a:endParaRPr lang="en-AU" dirty="0"/>
          </a:p>
        </p:txBody>
      </p:sp>
      <p:sp>
        <p:nvSpPr>
          <p:cNvPr id="6" name="Slide Number Placeholder 5">
            <a:extLst>
              <a:ext uri="{FF2B5EF4-FFF2-40B4-BE49-F238E27FC236}">
                <a16:creationId xmlns:a16="http://schemas.microsoft.com/office/drawing/2014/main" id="{961E4E19-AFC2-FE11-FF15-FA9F1F5018CB}"/>
              </a:ext>
            </a:extLst>
          </p:cNvPr>
          <p:cNvSpPr>
            <a:spLocks noGrp="1"/>
          </p:cNvSpPr>
          <p:nvPr>
            <p:ph type="sldNum" sz="quarter" idx="12"/>
          </p:nvPr>
        </p:nvSpPr>
        <p:spPr/>
        <p:txBody>
          <a:bodyPr/>
          <a:lstStyle/>
          <a:p>
            <a:fld id="{9C045542-16FA-4226-AEB4-61E47D0A3686}" type="slidenum">
              <a:rPr lang="en-AU" smtClean="0"/>
              <a:t>‹#›</a:t>
            </a:fld>
            <a:endParaRPr lang="en-AU" dirty="0"/>
          </a:p>
        </p:txBody>
      </p:sp>
    </p:spTree>
    <p:extLst>
      <p:ext uri="{BB962C8B-B14F-4D97-AF65-F5344CB8AC3E}">
        <p14:creationId xmlns:p14="http://schemas.microsoft.com/office/powerpoint/2010/main" val="24870896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AC15E6-4447-CCE9-50C3-FD076437A6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FC3E827B-74E7-483A-E75D-64595C9E06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55BFEF0-3D59-D67A-A243-438EED7C0B83}"/>
              </a:ext>
            </a:extLst>
          </p:cNvPr>
          <p:cNvSpPr>
            <a:spLocks noGrp="1"/>
          </p:cNvSpPr>
          <p:nvPr>
            <p:ph type="dt" sz="half" idx="10"/>
          </p:nvPr>
        </p:nvSpPr>
        <p:spPr/>
        <p:txBody>
          <a:bodyPr/>
          <a:lstStyle/>
          <a:p>
            <a:fld id="{7FD94802-E000-4AA6-AAA6-10910B20F9C7}" type="datetime1">
              <a:rPr lang="en-AU" smtClean="0"/>
              <a:t>10/06/2026</a:t>
            </a:fld>
            <a:endParaRPr lang="en-AU" dirty="0"/>
          </a:p>
        </p:txBody>
      </p:sp>
      <p:sp>
        <p:nvSpPr>
          <p:cNvPr id="5" name="Footer Placeholder 4">
            <a:extLst>
              <a:ext uri="{FF2B5EF4-FFF2-40B4-BE49-F238E27FC236}">
                <a16:creationId xmlns:a16="http://schemas.microsoft.com/office/drawing/2014/main" id="{EA47E762-A489-F28C-1E57-5C796BEAB4EA}"/>
              </a:ext>
            </a:extLst>
          </p:cNvPr>
          <p:cNvSpPr>
            <a:spLocks noGrp="1"/>
          </p:cNvSpPr>
          <p:nvPr>
            <p:ph type="ftr" sz="quarter" idx="11"/>
          </p:nvPr>
        </p:nvSpPr>
        <p:spPr/>
        <p:txBody>
          <a:bodyPr/>
          <a:lstStyle/>
          <a:p>
            <a:endParaRPr lang="en-AU" dirty="0"/>
          </a:p>
        </p:txBody>
      </p:sp>
      <p:sp>
        <p:nvSpPr>
          <p:cNvPr id="6" name="Slide Number Placeholder 5">
            <a:extLst>
              <a:ext uri="{FF2B5EF4-FFF2-40B4-BE49-F238E27FC236}">
                <a16:creationId xmlns:a16="http://schemas.microsoft.com/office/drawing/2014/main" id="{E2B26DDE-6841-48E5-4573-D9B40B55C497}"/>
              </a:ext>
            </a:extLst>
          </p:cNvPr>
          <p:cNvSpPr>
            <a:spLocks noGrp="1"/>
          </p:cNvSpPr>
          <p:nvPr>
            <p:ph type="sldNum" sz="quarter" idx="12"/>
          </p:nvPr>
        </p:nvSpPr>
        <p:spPr/>
        <p:txBody>
          <a:bodyPr/>
          <a:lstStyle/>
          <a:p>
            <a:fld id="{9C045542-16FA-4226-AEB4-61E47D0A3686}" type="slidenum">
              <a:rPr lang="en-AU" smtClean="0"/>
              <a:t>‹#›</a:t>
            </a:fld>
            <a:endParaRPr lang="en-AU" dirty="0"/>
          </a:p>
        </p:txBody>
      </p:sp>
    </p:spTree>
    <p:extLst>
      <p:ext uri="{BB962C8B-B14F-4D97-AF65-F5344CB8AC3E}">
        <p14:creationId xmlns:p14="http://schemas.microsoft.com/office/powerpoint/2010/main" val="3579157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24BE47-DB8E-699C-2763-F77EB3E352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34DF0D2-48E4-CF2D-3AD3-0F9CB81BFC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79B67C5-EF88-D7EB-D84D-2E36F75497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70AA3F-019E-456E-8699-AA2A3442A186}" type="datetime1">
              <a:rPr lang="en-AU" smtClean="0"/>
              <a:t>10/06/2026</a:t>
            </a:fld>
            <a:endParaRPr lang="en-AU" dirty="0"/>
          </a:p>
        </p:txBody>
      </p:sp>
      <p:sp>
        <p:nvSpPr>
          <p:cNvPr id="5" name="Footer Placeholder 4">
            <a:extLst>
              <a:ext uri="{FF2B5EF4-FFF2-40B4-BE49-F238E27FC236}">
                <a16:creationId xmlns:a16="http://schemas.microsoft.com/office/drawing/2014/main" id="{9737054A-7FD5-EC61-9A9A-9EC742589D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dirty="0"/>
          </a:p>
        </p:txBody>
      </p:sp>
      <p:sp>
        <p:nvSpPr>
          <p:cNvPr id="6" name="Slide Number Placeholder 5">
            <a:extLst>
              <a:ext uri="{FF2B5EF4-FFF2-40B4-BE49-F238E27FC236}">
                <a16:creationId xmlns:a16="http://schemas.microsoft.com/office/drawing/2014/main" id="{06BB3C53-E4AE-E227-D4FE-3E8ABBD7EC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C045542-16FA-4226-AEB4-61E47D0A3686}" type="slidenum">
              <a:rPr lang="en-AU" smtClean="0"/>
              <a:t>‹#›</a:t>
            </a:fld>
            <a:endParaRPr lang="en-AU" dirty="0"/>
          </a:p>
        </p:txBody>
      </p:sp>
    </p:spTree>
    <p:extLst>
      <p:ext uri="{BB962C8B-B14F-4D97-AF65-F5344CB8AC3E}">
        <p14:creationId xmlns:p14="http://schemas.microsoft.com/office/powerpoint/2010/main" val="22767821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609F3-5AF0-589B-F696-0B21E04FE20F}"/>
              </a:ext>
            </a:extLst>
          </p:cNvPr>
          <p:cNvSpPr>
            <a:spLocks noGrp="1"/>
          </p:cNvSpPr>
          <p:nvPr>
            <p:ph type="ctrTitle"/>
          </p:nvPr>
        </p:nvSpPr>
        <p:spPr>
          <a:xfrm>
            <a:off x="1524000" y="1738677"/>
            <a:ext cx="9144000" cy="2387600"/>
          </a:xfrm>
        </p:spPr>
        <p:txBody>
          <a:bodyPr>
            <a:normAutofit/>
          </a:bodyPr>
          <a:lstStyle/>
          <a:p>
            <a:r>
              <a:rPr lang="en-AU" dirty="0"/>
              <a:t>Hunting for Exploding Stars Using Vera C. Rubin</a:t>
            </a:r>
          </a:p>
        </p:txBody>
      </p:sp>
      <p:sp>
        <p:nvSpPr>
          <p:cNvPr id="3" name="Subtitle 2">
            <a:extLst>
              <a:ext uri="{FF2B5EF4-FFF2-40B4-BE49-F238E27FC236}">
                <a16:creationId xmlns:a16="http://schemas.microsoft.com/office/drawing/2014/main" id="{5E2C3DB3-E7FF-EFF5-24BF-8C42BBF42D8D}"/>
              </a:ext>
            </a:extLst>
          </p:cNvPr>
          <p:cNvSpPr>
            <a:spLocks noGrp="1"/>
          </p:cNvSpPr>
          <p:nvPr>
            <p:ph type="subTitle" idx="1"/>
          </p:nvPr>
        </p:nvSpPr>
        <p:spPr>
          <a:xfrm>
            <a:off x="1524000" y="4286831"/>
            <a:ext cx="9144000" cy="1655762"/>
          </a:xfrm>
        </p:spPr>
        <p:txBody>
          <a:bodyPr>
            <a:normAutofit fontScale="70000" lnSpcReduction="20000"/>
          </a:bodyPr>
          <a:lstStyle/>
          <a:p>
            <a:r>
              <a:rPr lang="en-AU" sz="3100" b="1" dirty="0"/>
              <a:t>Riley Webster</a:t>
            </a:r>
            <a:r>
              <a:rPr lang="en-AU" dirty="0"/>
              <a:t> </a:t>
            </a:r>
          </a:p>
          <a:p>
            <a:r>
              <a:rPr lang="en-AU" dirty="0"/>
              <a:t>&amp; Anais Möller</a:t>
            </a:r>
          </a:p>
          <a:p>
            <a:r>
              <a:rPr lang="en-US" dirty="0"/>
              <a:t>Centre for Astrophysics and Supercomputing, Swinburne University of Technology</a:t>
            </a:r>
            <a:endParaRPr lang="en-AU" dirty="0"/>
          </a:p>
          <a:p>
            <a:r>
              <a:rPr lang="en-AU" dirty="0"/>
              <a:t>Honours Project A</a:t>
            </a:r>
          </a:p>
          <a:p>
            <a:r>
              <a:rPr lang="en-AU" dirty="0"/>
              <a:t>Semester 1, 2026 </a:t>
            </a:r>
          </a:p>
        </p:txBody>
      </p:sp>
      <p:pic>
        <p:nvPicPr>
          <p:cNvPr id="8" name="Graphic 7">
            <a:extLst>
              <a:ext uri="{FF2B5EF4-FFF2-40B4-BE49-F238E27FC236}">
                <a16:creationId xmlns:a16="http://schemas.microsoft.com/office/drawing/2014/main" id="{2940E797-6902-2E2D-4EA8-033656AD8F1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78400" y="360000"/>
            <a:ext cx="2635200" cy="1414782"/>
          </a:xfrm>
          <a:prstGeom prst="rect">
            <a:avLst/>
          </a:prstGeom>
        </p:spPr>
      </p:pic>
      <p:pic>
        <p:nvPicPr>
          <p:cNvPr id="10" name="Picture 9">
            <a:extLst>
              <a:ext uri="{FF2B5EF4-FFF2-40B4-BE49-F238E27FC236}">
                <a16:creationId xmlns:a16="http://schemas.microsoft.com/office/drawing/2014/main" id="{3EEF620B-ABD6-E3D5-D342-915865DB514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98000" y="360000"/>
            <a:ext cx="2635200" cy="1442491"/>
          </a:xfrm>
          <a:prstGeom prst="rect">
            <a:avLst/>
          </a:prstGeom>
        </p:spPr>
      </p:pic>
      <p:pic>
        <p:nvPicPr>
          <p:cNvPr id="7" name="Picture 6">
            <a:extLst>
              <a:ext uri="{FF2B5EF4-FFF2-40B4-BE49-F238E27FC236}">
                <a16:creationId xmlns:a16="http://schemas.microsoft.com/office/drawing/2014/main" id="{98065712-F0F6-1FB2-08B4-FF5BDCDD5E25}"/>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0000" y="360000"/>
            <a:ext cx="2635200" cy="1328141"/>
          </a:xfrm>
          <a:prstGeom prst="rect">
            <a:avLst/>
          </a:prstGeom>
        </p:spPr>
      </p:pic>
    </p:spTree>
    <p:extLst>
      <p:ext uri="{BB962C8B-B14F-4D97-AF65-F5344CB8AC3E}">
        <p14:creationId xmlns:p14="http://schemas.microsoft.com/office/powerpoint/2010/main" val="163145139"/>
      </p:ext>
    </p:extLst>
  </p:cSld>
  <p:clrMapOvr>
    <a:masterClrMapping/>
  </p:clrMapOvr>
  <mc:AlternateContent xmlns:mc="http://schemas.openxmlformats.org/markup-compatibility/2006" xmlns:p14="http://schemas.microsoft.com/office/powerpoint/2010/main">
    <mc:Choice Requires="p14">
      <p:transition spd="med" p14:dur="700" advTm="10715">
        <p:fade/>
      </p:transition>
    </mc:Choice>
    <mc:Fallback xmlns="">
      <p:transition spd="med" advTm="10715">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9B038-8363-B96F-495F-88435C555673}"/>
              </a:ext>
            </a:extLst>
          </p:cNvPr>
          <p:cNvSpPr>
            <a:spLocks noGrp="1"/>
          </p:cNvSpPr>
          <p:nvPr>
            <p:ph type="title"/>
          </p:nvPr>
        </p:nvSpPr>
        <p:spPr/>
        <p:txBody>
          <a:bodyPr/>
          <a:lstStyle/>
          <a:p>
            <a:r>
              <a:rPr lang="en-AU" dirty="0"/>
              <a:t>Rubin, LSST and Fink</a:t>
            </a:r>
          </a:p>
        </p:txBody>
      </p:sp>
      <p:sp>
        <p:nvSpPr>
          <p:cNvPr id="3" name="Content Placeholder 2">
            <a:extLst>
              <a:ext uri="{FF2B5EF4-FFF2-40B4-BE49-F238E27FC236}">
                <a16:creationId xmlns:a16="http://schemas.microsoft.com/office/drawing/2014/main" id="{666E6B7E-5F4D-C790-CFFB-1CF279E0EF64}"/>
              </a:ext>
            </a:extLst>
          </p:cNvPr>
          <p:cNvSpPr>
            <a:spLocks noGrp="1"/>
          </p:cNvSpPr>
          <p:nvPr>
            <p:ph idx="1"/>
          </p:nvPr>
        </p:nvSpPr>
        <p:spPr>
          <a:xfrm>
            <a:off x="548641" y="1395857"/>
            <a:ext cx="6508756" cy="4351338"/>
          </a:xfrm>
        </p:spPr>
        <p:txBody>
          <a:bodyPr>
            <a:normAutofit/>
          </a:bodyPr>
          <a:lstStyle/>
          <a:p>
            <a:r>
              <a:rPr lang="en-AU" dirty="0"/>
              <a:t>Rubin Observatory</a:t>
            </a:r>
          </a:p>
          <a:p>
            <a:r>
              <a:rPr lang="en-AU" dirty="0"/>
              <a:t>8.5 metre aperture </a:t>
            </a:r>
            <a:r>
              <a:rPr lang="en-AU" sz="2200" dirty="0"/>
              <a:t>(Bianco et al., 2022)</a:t>
            </a:r>
          </a:p>
          <a:p>
            <a:r>
              <a:rPr lang="en-AU" dirty="0"/>
              <a:t>Near UV, visual and near IR coverage.</a:t>
            </a:r>
            <a:endParaRPr lang="en-US" dirty="0"/>
          </a:p>
          <a:p>
            <a:r>
              <a:rPr lang="en-AU" dirty="0"/>
              <a:t>Images the sky when a change is detected.</a:t>
            </a:r>
          </a:p>
          <a:p>
            <a:r>
              <a:rPr lang="en-AU" dirty="0"/>
              <a:t>Produce 10 million alerts per night, for 10 years. </a:t>
            </a:r>
          </a:p>
          <a:p>
            <a:r>
              <a:rPr lang="en-AU" dirty="0"/>
              <a:t>Fink </a:t>
            </a:r>
            <a:r>
              <a:rPr lang="en-AU" sz="2000" dirty="0"/>
              <a:t>(Möller et al., 2021)</a:t>
            </a:r>
            <a:endParaRPr lang="en-AU" dirty="0"/>
          </a:p>
          <a:p>
            <a:pPr lvl="1"/>
            <a:r>
              <a:rPr lang="en-AU" sz="2800" dirty="0"/>
              <a:t>Filter and classify the alerts. </a:t>
            </a:r>
          </a:p>
          <a:p>
            <a:pPr lvl="1"/>
            <a:endParaRPr lang="en-AU" dirty="0"/>
          </a:p>
          <a:p>
            <a:endParaRPr lang="en-AU" dirty="0"/>
          </a:p>
          <a:p>
            <a:endParaRPr lang="en-AU" dirty="0"/>
          </a:p>
          <a:p>
            <a:endParaRPr lang="en-AU" dirty="0"/>
          </a:p>
          <a:p>
            <a:endParaRPr lang="en-AU" dirty="0"/>
          </a:p>
          <a:p>
            <a:endParaRPr lang="en-AU" dirty="0"/>
          </a:p>
        </p:txBody>
      </p:sp>
      <p:grpSp>
        <p:nvGrpSpPr>
          <p:cNvPr id="4" name="Group 3">
            <a:extLst>
              <a:ext uri="{FF2B5EF4-FFF2-40B4-BE49-F238E27FC236}">
                <a16:creationId xmlns:a16="http://schemas.microsoft.com/office/drawing/2014/main" id="{36046C47-DC03-3061-D5FA-47E32B3FAD02}"/>
              </a:ext>
            </a:extLst>
          </p:cNvPr>
          <p:cNvGrpSpPr/>
          <p:nvPr/>
        </p:nvGrpSpPr>
        <p:grpSpPr>
          <a:xfrm>
            <a:off x="3456406" y="1775063"/>
            <a:ext cx="5585333" cy="3592926"/>
            <a:chOff x="3633377" y="2097543"/>
            <a:chExt cx="5585333" cy="3592926"/>
          </a:xfrm>
        </p:grpSpPr>
        <p:pic>
          <p:nvPicPr>
            <p:cNvPr id="8" name="Picture 7" descr="Photograph of a night sky with colorful star trails captured above a large observatory building on a rocky hill. Star trails create curved, streaked patterns in shades of blue, purple, and white, indicating long-exposure photography tracking Earth's rotation.">
              <a:extLst>
                <a:ext uri="{FF2B5EF4-FFF2-40B4-BE49-F238E27FC236}">
                  <a16:creationId xmlns:a16="http://schemas.microsoft.com/office/drawing/2014/main" id="{C75D2F58-A7DC-DC31-6926-E1EBF57980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3377" y="2097543"/>
              <a:ext cx="4925246" cy="328514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1" name="TextBox 10">
              <a:extLst>
                <a:ext uri="{FF2B5EF4-FFF2-40B4-BE49-F238E27FC236}">
                  <a16:creationId xmlns:a16="http://schemas.microsoft.com/office/drawing/2014/main" id="{91F87463-4370-B4F5-82EC-5A5B25200CA3}"/>
                </a:ext>
              </a:extLst>
            </p:cNvPr>
            <p:cNvSpPr txBox="1"/>
            <p:nvPr/>
          </p:nvSpPr>
          <p:spPr>
            <a:xfrm>
              <a:off x="6135461" y="5382692"/>
              <a:ext cx="3083249" cy="307777"/>
            </a:xfrm>
            <a:prstGeom prst="rect">
              <a:avLst/>
            </a:prstGeom>
            <a:noFill/>
          </p:spPr>
          <p:txBody>
            <a:bodyPr wrap="square">
              <a:spAutoFit/>
            </a:bodyPr>
            <a:lstStyle/>
            <a:p>
              <a:r>
                <a:rPr lang="en-US" sz="1400" i="1" dirty="0">
                  <a:solidFill>
                    <a:srgbClr val="595959"/>
                  </a:solidFill>
                </a:rPr>
                <a:t>(Vera C. Rubin Press Release)</a:t>
              </a:r>
              <a:endParaRPr lang="en-AU" sz="1400" i="1" dirty="0">
                <a:solidFill>
                  <a:srgbClr val="595959"/>
                </a:solidFill>
              </a:endParaRPr>
            </a:p>
          </p:txBody>
        </p:sp>
      </p:grpSp>
      <p:sp>
        <p:nvSpPr>
          <p:cNvPr id="13" name="TextBox 12">
            <a:extLst>
              <a:ext uri="{FF2B5EF4-FFF2-40B4-BE49-F238E27FC236}">
                <a16:creationId xmlns:a16="http://schemas.microsoft.com/office/drawing/2014/main" id="{084EF079-0519-A5D9-553D-186230724062}"/>
              </a:ext>
            </a:extLst>
          </p:cNvPr>
          <p:cNvSpPr txBox="1"/>
          <p:nvPr/>
        </p:nvSpPr>
        <p:spPr>
          <a:xfrm>
            <a:off x="11473200" y="6138000"/>
            <a:ext cx="360000" cy="360000"/>
          </a:xfrm>
          <a:prstGeom prst="rect">
            <a:avLst/>
          </a:prstGeom>
          <a:noFill/>
        </p:spPr>
        <p:txBody>
          <a:bodyPr wrap="none" rtlCol="0">
            <a:spAutoFit/>
          </a:bodyPr>
          <a:lstStyle/>
          <a:p>
            <a:r>
              <a:rPr lang="en-AU" dirty="0"/>
              <a:t>1</a:t>
            </a:r>
          </a:p>
        </p:txBody>
      </p:sp>
    </p:spTree>
    <p:extLst>
      <p:ext uri="{BB962C8B-B14F-4D97-AF65-F5344CB8AC3E}">
        <p14:creationId xmlns:p14="http://schemas.microsoft.com/office/powerpoint/2010/main" val="2985705474"/>
      </p:ext>
    </p:extLst>
  </p:cSld>
  <p:clrMapOvr>
    <a:masterClrMapping/>
  </p:clrMapOvr>
  <mc:AlternateContent xmlns:mc="http://schemas.openxmlformats.org/markup-compatibility/2006" xmlns:p14="http://schemas.microsoft.com/office/powerpoint/2010/main">
    <mc:Choice Requires="p14">
      <p:transition spd="med" p14:dur="700" advTm="90378">
        <p:fade/>
      </p:transition>
    </mc:Choice>
    <mc:Fallback xmlns="">
      <p:transition spd="med" advTm="9037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0 0 L 0.27813 -0.16644 " pathEditMode="relative" rAng="0" ptsTypes="AA">
                                      <p:cBhvr>
                                        <p:cTn id="11" dur="2000" fill="hold"/>
                                        <p:tgtEl>
                                          <p:spTgt spid="4"/>
                                        </p:tgtEl>
                                        <p:attrNameLst>
                                          <p:attrName>ppt_x</p:attrName>
                                          <p:attrName>ppt_y</p:attrName>
                                        </p:attrNameLst>
                                      </p:cBhvr>
                                      <p:rCtr x="13906" y="-8333"/>
                                    </p:animMotion>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fade">
                                      <p:cBhvr>
                                        <p:cTn id="16" dur="500"/>
                                        <p:tgtEl>
                                          <p:spTgt spid="3">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500"/>
                                        <p:tgtEl>
                                          <p:spTgt spid="3">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500"/>
                                        <p:tgtEl>
                                          <p:spTgt spid="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500"/>
                                        <p:tgtEl>
                                          <p:spTgt spid="3">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Effect transition="in" filter="fade">
                                      <p:cBhvr>
                                        <p:cTn id="36" dur="500"/>
                                        <p:tgtEl>
                                          <p:spTgt spid="3">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Effect transition="in" filter="fade">
                                      <p:cBhvr>
                                        <p:cTn id="41" dur="500"/>
                                        <p:tgtEl>
                                          <p:spTgt spid="3">
                                            <p:txEl>
                                              <p:pRg st="5" end="5"/>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
                                            <p:txEl>
                                              <p:pRg st="6" end="6"/>
                                            </p:txEl>
                                          </p:spTgt>
                                        </p:tgtEl>
                                        <p:attrNameLst>
                                          <p:attrName>style.visibility</p:attrName>
                                        </p:attrNameLst>
                                      </p:cBhvr>
                                      <p:to>
                                        <p:strVal val="visible"/>
                                      </p:to>
                                    </p:set>
                                    <p:animEffect transition="in" filter="fade">
                                      <p:cBhvr>
                                        <p:cTn id="4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40D70-0B87-C718-C1F3-DBAEDA575E75}"/>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7C16CC8-A628-4A09-A9AA-48BFE6708A7A}"/>
              </a:ext>
            </a:extLst>
          </p:cNvPr>
          <p:cNvSpPr txBox="1"/>
          <p:nvPr/>
        </p:nvSpPr>
        <p:spPr>
          <a:xfrm>
            <a:off x="11473200" y="6138000"/>
            <a:ext cx="360000" cy="360000"/>
          </a:xfrm>
          <a:prstGeom prst="rect">
            <a:avLst/>
          </a:prstGeom>
          <a:noFill/>
        </p:spPr>
        <p:txBody>
          <a:bodyPr wrap="none" rtlCol="0">
            <a:spAutoFit/>
          </a:bodyPr>
          <a:lstStyle/>
          <a:p>
            <a:r>
              <a:rPr lang="en-AU" dirty="0"/>
              <a:t>2</a:t>
            </a:r>
          </a:p>
        </p:txBody>
      </p:sp>
      <p:sp>
        <p:nvSpPr>
          <p:cNvPr id="2" name="Title 1">
            <a:extLst>
              <a:ext uri="{FF2B5EF4-FFF2-40B4-BE49-F238E27FC236}">
                <a16:creationId xmlns:a16="http://schemas.microsoft.com/office/drawing/2014/main" id="{379E3798-863F-D885-70AC-276D7107990C}"/>
              </a:ext>
            </a:extLst>
          </p:cNvPr>
          <p:cNvSpPr>
            <a:spLocks noGrp="1"/>
          </p:cNvSpPr>
          <p:nvPr>
            <p:ph type="title"/>
          </p:nvPr>
        </p:nvSpPr>
        <p:spPr/>
        <p:txBody>
          <a:bodyPr/>
          <a:lstStyle/>
          <a:p>
            <a:r>
              <a:rPr lang="en-AU" dirty="0"/>
              <a:t>What are SN Ia?</a:t>
            </a:r>
          </a:p>
        </p:txBody>
      </p:sp>
      <p:sp>
        <p:nvSpPr>
          <p:cNvPr id="3" name="Content Placeholder 2">
            <a:extLst>
              <a:ext uri="{FF2B5EF4-FFF2-40B4-BE49-F238E27FC236}">
                <a16:creationId xmlns:a16="http://schemas.microsoft.com/office/drawing/2014/main" id="{D5FC0C8F-ED85-53D4-6C92-BCEC969B49A1}"/>
              </a:ext>
            </a:extLst>
          </p:cNvPr>
          <p:cNvSpPr>
            <a:spLocks noGrp="1"/>
          </p:cNvSpPr>
          <p:nvPr>
            <p:ph idx="1"/>
          </p:nvPr>
        </p:nvSpPr>
        <p:spPr>
          <a:xfrm>
            <a:off x="838200" y="1825625"/>
            <a:ext cx="9787128" cy="4351338"/>
          </a:xfrm>
        </p:spPr>
        <p:txBody>
          <a:bodyPr>
            <a:normAutofit/>
          </a:bodyPr>
          <a:lstStyle/>
          <a:p>
            <a:r>
              <a:rPr lang="en-AU" dirty="0"/>
              <a:t>The explosion of a carbon-oxygen white dwarf </a:t>
            </a:r>
            <a:r>
              <a:rPr lang="en-AU" sz="1800" dirty="0"/>
              <a:t>(Lim et al., 2023) </a:t>
            </a:r>
          </a:p>
        </p:txBody>
      </p:sp>
      <p:grpSp>
        <p:nvGrpSpPr>
          <p:cNvPr id="8" name="Group 7">
            <a:extLst>
              <a:ext uri="{FF2B5EF4-FFF2-40B4-BE49-F238E27FC236}">
                <a16:creationId xmlns:a16="http://schemas.microsoft.com/office/drawing/2014/main" id="{146D779C-23E1-AABD-4C86-7D1536B65917}"/>
              </a:ext>
            </a:extLst>
          </p:cNvPr>
          <p:cNvGrpSpPr/>
          <p:nvPr/>
        </p:nvGrpSpPr>
        <p:grpSpPr>
          <a:xfrm>
            <a:off x="720000" y="3240000"/>
            <a:ext cx="5084033" cy="3070883"/>
            <a:chOff x="773749" y="2961161"/>
            <a:chExt cx="5084033" cy="3070883"/>
          </a:xfrm>
        </p:grpSpPr>
        <p:sp>
          <p:nvSpPr>
            <p:cNvPr id="9" name="TextBox 8">
              <a:extLst>
                <a:ext uri="{FF2B5EF4-FFF2-40B4-BE49-F238E27FC236}">
                  <a16:creationId xmlns:a16="http://schemas.microsoft.com/office/drawing/2014/main" id="{C4147014-3626-AF01-F516-D0592639AE82}"/>
                </a:ext>
              </a:extLst>
            </p:cNvPr>
            <p:cNvSpPr txBox="1"/>
            <p:nvPr/>
          </p:nvSpPr>
          <p:spPr>
            <a:xfrm>
              <a:off x="1891759" y="5662712"/>
              <a:ext cx="2912464" cy="369332"/>
            </a:xfrm>
            <a:prstGeom prst="rect">
              <a:avLst/>
            </a:prstGeom>
            <a:noFill/>
          </p:spPr>
          <p:txBody>
            <a:bodyPr wrap="none" rtlCol="0">
              <a:spAutoFit/>
            </a:bodyPr>
            <a:lstStyle/>
            <a:p>
              <a:r>
                <a:rPr lang="en-AU" dirty="0"/>
                <a:t>Single Degenerate Scenario</a:t>
              </a:r>
            </a:p>
          </p:txBody>
        </p:sp>
        <p:grpSp>
          <p:nvGrpSpPr>
            <p:cNvPr id="4" name="Group 3">
              <a:extLst>
                <a:ext uri="{FF2B5EF4-FFF2-40B4-BE49-F238E27FC236}">
                  <a16:creationId xmlns:a16="http://schemas.microsoft.com/office/drawing/2014/main" id="{E12E9AEF-FA41-EB05-6E3F-73A944552E86}"/>
                </a:ext>
              </a:extLst>
            </p:cNvPr>
            <p:cNvGrpSpPr/>
            <p:nvPr/>
          </p:nvGrpSpPr>
          <p:grpSpPr>
            <a:xfrm>
              <a:off x="773749" y="2961161"/>
              <a:ext cx="5084033" cy="2671484"/>
              <a:chOff x="773749" y="2961161"/>
              <a:chExt cx="5084033" cy="2671484"/>
            </a:xfrm>
          </p:grpSpPr>
          <p:pic>
            <p:nvPicPr>
              <p:cNvPr id="7" name="Picture 6" descr="The single degenerate SNe Ia case">
                <a:extLst>
                  <a:ext uri="{FF2B5EF4-FFF2-40B4-BE49-F238E27FC236}">
                    <a16:creationId xmlns:a16="http://schemas.microsoft.com/office/drawing/2014/main" id="{01EBE7C4-380F-2218-8852-1D66F8B826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2961161"/>
                <a:ext cx="5019582" cy="264287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3" name="TextBox 12">
                <a:extLst>
                  <a:ext uri="{FF2B5EF4-FFF2-40B4-BE49-F238E27FC236}">
                    <a16:creationId xmlns:a16="http://schemas.microsoft.com/office/drawing/2014/main" id="{4B657402-F4AB-F510-FFAB-F326178340DC}"/>
                  </a:ext>
                </a:extLst>
              </p:cNvPr>
              <p:cNvSpPr txBox="1"/>
              <p:nvPr/>
            </p:nvSpPr>
            <p:spPr>
              <a:xfrm>
                <a:off x="773749" y="5324868"/>
                <a:ext cx="2662300" cy="307777"/>
              </a:xfrm>
              <a:prstGeom prst="rect">
                <a:avLst/>
              </a:prstGeom>
              <a:noFill/>
            </p:spPr>
            <p:txBody>
              <a:bodyPr wrap="square">
                <a:spAutoFit/>
              </a:bodyPr>
              <a:lstStyle/>
              <a:p>
                <a:r>
                  <a:rPr lang="en-US" sz="1400" dirty="0">
                    <a:solidFill>
                      <a:srgbClr val="595959"/>
                    </a:solidFill>
                  </a:rPr>
                  <a:t>(</a:t>
                </a:r>
                <a:r>
                  <a:rPr lang="en-US" sz="1400" i="1" dirty="0">
                    <a:solidFill>
                      <a:srgbClr val="595959"/>
                    </a:solidFill>
                  </a:rPr>
                  <a:t>NASA Image and Video Library</a:t>
                </a:r>
                <a:r>
                  <a:rPr lang="en-US" sz="1400" dirty="0">
                    <a:solidFill>
                      <a:srgbClr val="595959"/>
                    </a:solidFill>
                  </a:rPr>
                  <a:t>)</a:t>
                </a:r>
                <a:endParaRPr lang="en-AU" sz="1400" dirty="0">
                  <a:solidFill>
                    <a:srgbClr val="595959"/>
                  </a:solidFill>
                </a:endParaRPr>
              </a:p>
            </p:txBody>
          </p:sp>
        </p:grpSp>
      </p:grpSp>
      <p:grpSp>
        <p:nvGrpSpPr>
          <p:cNvPr id="10" name="Group 9">
            <a:extLst>
              <a:ext uri="{FF2B5EF4-FFF2-40B4-BE49-F238E27FC236}">
                <a16:creationId xmlns:a16="http://schemas.microsoft.com/office/drawing/2014/main" id="{296F3EBB-60E9-E9A4-EE61-9C694B72F75E}"/>
              </a:ext>
            </a:extLst>
          </p:cNvPr>
          <p:cNvGrpSpPr/>
          <p:nvPr/>
        </p:nvGrpSpPr>
        <p:grpSpPr>
          <a:xfrm>
            <a:off x="6372000" y="3240000"/>
            <a:ext cx="5099527" cy="3079136"/>
            <a:chOff x="6254273" y="2952908"/>
            <a:chExt cx="5099527" cy="3079136"/>
          </a:xfrm>
        </p:grpSpPr>
        <p:sp>
          <p:nvSpPr>
            <p:cNvPr id="12" name="TextBox 11">
              <a:extLst>
                <a:ext uri="{FF2B5EF4-FFF2-40B4-BE49-F238E27FC236}">
                  <a16:creationId xmlns:a16="http://schemas.microsoft.com/office/drawing/2014/main" id="{62380012-06B4-3DF5-1FE4-02DE7D467AD1}"/>
                </a:ext>
              </a:extLst>
            </p:cNvPr>
            <p:cNvSpPr txBox="1"/>
            <p:nvPr/>
          </p:nvSpPr>
          <p:spPr>
            <a:xfrm>
              <a:off x="7296988" y="5662712"/>
              <a:ext cx="3014096" cy="369332"/>
            </a:xfrm>
            <a:prstGeom prst="rect">
              <a:avLst/>
            </a:prstGeom>
            <a:noFill/>
          </p:spPr>
          <p:txBody>
            <a:bodyPr wrap="square">
              <a:spAutoFit/>
            </a:bodyPr>
            <a:lstStyle/>
            <a:p>
              <a:r>
                <a:rPr lang="en-AU" dirty="0"/>
                <a:t>Double Degenerate Scenario</a:t>
              </a:r>
            </a:p>
          </p:txBody>
        </p:sp>
        <p:grpSp>
          <p:nvGrpSpPr>
            <p:cNvPr id="5" name="Group 4">
              <a:extLst>
                <a:ext uri="{FF2B5EF4-FFF2-40B4-BE49-F238E27FC236}">
                  <a16:creationId xmlns:a16="http://schemas.microsoft.com/office/drawing/2014/main" id="{890BD676-0D16-ABBB-1411-F6B58F016709}"/>
                </a:ext>
              </a:extLst>
            </p:cNvPr>
            <p:cNvGrpSpPr/>
            <p:nvPr/>
          </p:nvGrpSpPr>
          <p:grpSpPr>
            <a:xfrm>
              <a:off x="6254273" y="2952908"/>
              <a:ext cx="5099527" cy="2679737"/>
              <a:chOff x="6254273" y="2952908"/>
              <a:chExt cx="5099527" cy="2679737"/>
            </a:xfrm>
          </p:grpSpPr>
          <p:pic>
            <p:nvPicPr>
              <p:cNvPr id="11" name="Picture 10" descr="The double degenerate SNe Ia case">
                <a:extLst>
                  <a:ext uri="{FF2B5EF4-FFF2-40B4-BE49-F238E27FC236}">
                    <a16:creationId xmlns:a16="http://schemas.microsoft.com/office/drawing/2014/main" id="{962BFC33-D111-E9FF-33B4-BC6275A9A9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54273" y="2952908"/>
                <a:ext cx="5099527" cy="26797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6" name="TextBox 5">
                <a:extLst>
                  <a:ext uri="{FF2B5EF4-FFF2-40B4-BE49-F238E27FC236}">
                    <a16:creationId xmlns:a16="http://schemas.microsoft.com/office/drawing/2014/main" id="{44C69281-9AA1-5554-0361-B2F7933D0B82}"/>
                  </a:ext>
                </a:extLst>
              </p:cNvPr>
              <p:cNvSpPr txBox="1"/>
              <p:nvPr/>
            </p:nvSpPr>
            <p:spPr>
              <a:xfrm>
                <a:off x="6254273" y="5288003"/>
                <a:ext cx="2662300" cy="307777"/>
              </a:xfrm>
              <a:prstGeom prst="rect">
                <a:avLst/>
              </a:prstGeom>
              <a:noFill/>
            </p:spPr>
            <p:txBody>
              <a:bodyPr wrap="square">
                <a:spAutoFit/>
              </a:bodyPr>
              <a:lstStyle/>
              <a:p>
                <a:r>
                  <a:rPr lang="en-US" sz="1400" dirty="0">
                    <a:solidFill>
                      <a:srgbClr val="595959"/>
                    </a:solidFill>
                  </a:rPr>
                  <a:t>(</a:t>
                </a:r>
                <a:r>
                  <a:rPr lang="en-US" sz="1400" i="1" dirty="0">
                    <a:solidFill>
                      <a:srgbClr val="595959"/>
                    </a:solidFill>
                  </a:rPr>
                  <a:t>NASA Image and Video Library</a:t>
                </a:r>
                <a:r>
                  <a:rPr lang="en-US" sz="1400" dirty="0">
                    <a:solidFill>
                      <a:srgbClr val="595959"/>
                    </a:solidFill>
                  </a:rPr>
                  <a:t>)</a:t>
                </a:r>
                <a:endParaRPr lang="en-AU" sz="1400" dirty="0">
                  <a:solidFill>
                    <a:srgbClr val="595959"/>
                  </a:solidFill>
                </a:endParaRPr>
              </a:p>
            </p:txBody>
          </p:sp>
        </p:grpSp>
      </p:grpSp>
    </p:spTree>
    <p:extLst>
      <p:ext uri="{BB962C8B-B14F-4D97-AF65-F5344CB8AC3E}">
        <p14:creationId xmlns:p14="http://schemas.microsoft.com/office/powerpoint/2010/main" val="3620831151"/>
      </p:ext>
    </p:extLst>
  </p:cSld>
  <p:clrMapOvr>
    <a:masterClrMapping/>
  </p:clrMapOvr>
  <mc:AlternateContent xmlns:mc="http://schemas.openxmlformats.org/markup-compatibility/2006" xmlns:p14="http://schemas.microsoft.com/office/powerpoint/2010/main">
    <mc:Choice Requires="p14">
      <p:transition spd="med" p14:dur="700" advTm="115202">
        <p:fade/>
      </p:transition>
    </mc:Choice>
    <mc:Fallback xmlns="">
      <p:transition spd="med" advTm="115202">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DC1BE-A888-BAA9-4DD2-8F7B94A3FC91}"/>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F906453D-F20E-2620-BDDE-EF745CAC0B37}"/>
              </a:ext>
            </a:extLst>
          </p:cNvPr>
          <p:cNvSpPr txBox="1"/>
          <p:nvPr/>
        </p:nvSpPr>
        <p:spPr>
          <a:xfrm>
            <a:off x="11473200" y="6138000"/>
            <a:ext cx="360000" cy="360000"/>
          </a:xfrm>
          <a:prstGeom prst="rect">
            <a:avLst/>
          </a:prstGeom>
          <a:noFill/>
        </p:spPr>
        <p:txBody>
          <a:bodyPr wrap="none" rtlCol="0">
            <a:spAutoFit/>
          </a:bodyPr>
          <a:lstStyle/>
          <a:p>
            <a:r>
              <a:rPr lang="en-AU" dirty="0"/>
              <a:t>3</a:t>
            </a:r>
          </a:p>
        </p:txBody>
      </p:sp>
      <p:sp>
        <p:nvSpPr>
          <p:cNvPr id="2" name="Title 1">
            <a:extLst>
              <a:ext uri="{FF2B5EF4-FFF2-40B4-BE49-F238E27FC236}">
                <a16:creationId xmlns:a16="http://schemas.microsoft.com/office/drawing/2014/main" id="{4164BBA5-5CBC-84F5-E30F-9007B07E9DCF}"/>
              </a:ext>
            </a:extLst>
          </p:cNvPr>
          <p:cNvSpPr>
            <a:spLocks noGrp="1"/>
          </p:cNvSpPr>
          <p:nvPr>
            <p:ph type="title"/>
          </p:nvPr>
        </p:nvSpPr>
        <p:spPr/>
        <p:txBody>
          <a:bodyPr/>
          <a:lstStyle/>
          <a:p>
            <a:r>
              <a:rPr lang="en-AU" dirty="0"/>
              <a:t>Why are SNe Ia Important?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7D1FA77-E156-B226-EA4E-58E475A1FC85}"/>
                  </a:ext>
                </a:extLst>
              </p:cNvPr>
              <p:cNvSpPr>
                <a:spLocks noGrp="1"/>
              </p:cNvSpPr>
              <p:nvPr>
                <p:ph idx="1"/>
              </p:nvPr>
            </p:nvSpPr>
            <p:spPr>
              <a:xfrm>
                <a:off x="838200" y="1825625"/>
                <a:ext cx="5013960" cy="4351338"/>
              </a:xfrm>
            </p:spPr>
            <p:txBody>
              <a:bodyPr>
                <a:normAutofit/>
              </a:bodyPr>
              <a:lstStyle/>
              <a:p>
                <a:r>
                  <a:rPr lang="en-AU" dirty="0"/>
                  <a:t>SNe Ia are standardizable candles.</a:t>
                </a:r>
              </a:p>
              <a:p>
                <a:endParaRPr lang="en-AU" dirty="0"/>
              </a:p>
              <a:p>
                <a:r>
                  <a:rPr lang="en-AU" dirty="0"/>
                  <a:t>Brighter, Bluer, Broader </a:t>
                </a:r>
                <a:r>
                  <a:rPr lang="en-AU" sz="1800" dirty="0"/>
                  <a:t>(Tripp, 1998)</a:t>
                </a:r>
              </a:p>
              <a:p>
                <a:endParaRPr lang="en-AU" dirty="0"/>
              </a:p>
              <a:p>
                <a:r>
                  <a:rPr lang="en-AU" dirty="0"/>
                  <a:t>SALT is used to fit stretch (</a:t>
                </a:r>
                <a14:m>
                  <m:oMath xmlns:m="http://schemas.openxmlformats.org/officeDocument/2006/math">
                    <m:sSub>
                      <m:sSubPr>
                        <m:ctrlPr>
                          <a:rPr lang="en-AU" i="1" dirty="0">
                            <a:latin typeface="Cambria Math" panose="02040503050406030204" pitchFamily="18" charset="0"/>
                          </a:rPr>
                        </m:ctrlPr>
                      </m:sSubPr>
                      <m:e>
                        <m:r>
                          <a:rPr lang="en-AU" i="1" dirty="0">
                            <a:latin typeface="Cambria Math" panose="02040503050406030204" pitchFamily="18" charset="0"/>
                          </a:rPr>
                          <m:t>𝑥</m:t>
                        </m:r>
                      </m:e>
                      <m:sub>
                        <m:r>
                          <a:rPr lang="en-AU" i="1" dirty="0">
                            <a:latin typeface="Cambria Math" panose="02040503050406030204" pitchFamily="18" charset="0"/>
                          </a:rPr>
                          <m:t>1</m:t>
                        </m:r>
                      </m:sub>
                    </m:sSub>
                  </m:oMath>
                </a14:m>
                <a:r>
                  <a:rPr lang="en-AU" dirty="0"/>
                  <a:t>) and colour (</a:t>
                </a:r>
                <a14:m>
                  <m:oMath xmlns:m="http://schemas.openxmlformats.org/officeDocument/2006/math">
                    <m:r>
                      <a:rPr lang="en-AU" i="1" dirty="0">
                        <a:latin typeface="Cambria Math" panose="02040503050406030204" pitchFamily="18" charset="0"/>
                      </a:rPr>
                      <m:t>𝑐</m:t>
                    </m:r>
                  </m:oMath>
                </a14:m>
                <a:r>
                  <a:rPr lang="en-AU" dirty="0"/>
                  <a:t>) </a:t>
                </a:r>
                <a:r>
                  <a:rPr lang="en-AU" sz="1800" dirty="0"/>
                  <a:t>(Guy et al., 2005).</a:t>
                </a:r>
              </a:p>
              <a:p>
                <a:endParaRPr lang="en-AU" dirty="0"/>
              </a:p>
              <a:p>
                <a:endParaRPr lang="en-AU" dirty="0"/>
              </a:p>
            </p:txBody>
          </p:sp>
        </mc:Choice>
        <mc:Fallback xmlns="">
          <p:sp>
            <p:nvSpPr>
              <p:cNvPr id="3" name="Content Placeholder 2">
                <a:extLst>
                  <a:ext uri="{FF2B5EF4-FFF2-40B4-BE49-F238E27FC236}">
                    <a16:creationId xmlns:a16="http://schemas.microsoft.com/office/drawing/2014/main" id="{F7D1FA77-E156-B226-EA4E-58E475A1FC85}"/>
                  </a:ext>
                </a:extLst>
              </p:cNvPr>
              <p:cNvSpPr>
                <a:spLocks noGrp="1" noRot="1" noChangeAspect="1" noMove="1" noResize="1" noEditPoints="1" noAdjustHandles="1" noChangeArrowheads="1" noChangeShapeType="1" noTextEdit="1"/>
              </p:cNvSpPr>
              <p:nvPr>
                <p:ph idx="1"/>
              </p:nvPr>
            </p:nvSpPr>
            <p:spPr>
              <a:xfrm>
                <a:off x="838200" y="1825625"/>
                <a:ext cx="5013960" cy="4351338"/>
              </a:xfrm>
              <a:blipFill>
                <a:blip r:embed="rId3"/>
                <a:stretch>
                  <a:fillRect l="-2190" t="-2381" r="-730"/>
                </a:stretch>
              </a:blipFill>
            </p:spPr>
            <p:txBody>
              <a:bodyPr/>
              <a:lstStyle/>
              <a:p>
                <a:r>
                  <a:rPr lang="en-AU">
                    <a:noFill/>
                  </a:rPr>
                  <a:t> </a:t>
                </a:r>
              </a:p>
            </p:txBody>
          </p:sp>
        </mc:Fallback>
      </mc:AlternateContent>
      <p:grpSp>
        <p:nvGrpSpPr>
          <p:cNvPr id="5" name="Group 4">
            <a:extLst>
              <a:ext uri="{FF2B5EF4-FFF2-40B4-BE49-F238E27FC236}">
                <a16:creationId xmlns:a16="http://schemas.microsoft.com/office/drawing/2014/main" id="{1696F3A1-1B36-A52A-9453-5EABADBED9EA}"/>
              </a:ext>
            </a:extLst>
          </p:cNvPr>
          <p:cNvGrpSpPr/>
          <p:nvPr/>
        </p:nvGrpSpPr>
        <p:grpSpPr>
          <a:xfrm>
            <a:off x="3274337" y="1271887"/>
            <a:ext cx="5643326" cy="4669586"/>
            <a:chOff x="3987856" y="1383363"/>
            <a:chExt cx="5643326" cy="4669586"/>
          </a:xfrm>
        </p:grpSpPr>
        <p:grpSp>
          <p:nvGrpSpPr>
            <p:cNvPr id="4" name="Group 3">
              <a:extLst>
                <a:ext uri="{FF2B5EF4-FFF2-40B4-BE49-F238E27FC236}">
                  <a16:creationId xmlns:a16="http://schemas.microsoft.com/office/drawing/2014/main" id="{D3A84CD9-9A55-F6EC-E036-0629E4B57C00}"/>
                </a:ext>
              </a:extLst>
            </p:cNvPr>
            <p:cNvGrpSpPr/>
            <p:nvPr/>
          </p:nvGrpSpPr>
          <p:grpSpPr>
            <a:xfrm>
              <a:off x="3987856" y="1383363"/>
              <a:ext cx="4216287" cy="4669586"/>
              <a:chOff x="3987856" y="1383363"/>
              <a:chExt cx="4216287" cy="4669586"/>
            </a:xfrm>
          </p:grpSpPr>
          <p:pic>
            <p:nvPicPr>
              <p:cNvPr id="15" name="Picture 14" descr="A plot of the light curve of SN 2026ACD from ZTF from Fink in magnitude space showing days from the time of the peak magnitude">
                <a:extLst>
                  <a:ext uri="{FF2B5EF4-FFF2-40B4-BE49-F238E27FC236}">
                    <a16:creationId xmlns:a16="http://schemas.microsoft.com/office/drawing/2014/main" id="{D6EB6B43-E8CF-BA61-4B7C-135746FF8E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7856" y="1825625"/>
                <a:ext cx="4216287" cy="4227324"/>
              </a:xfrm>
              <a:prstGeom prst="rect">
                <a:avLst/>
              </a:prstGeom>
            </p:spPr>
          </p:pic>
          <p:sp>
            <p:nvSpPr>
              <p:cNvPr id="16" name="TextBox 15">
                <a:extLst>
                  <a:ext uri="{FF2B5EF4-FFF2-40B4-BE49-F238E27FC236}">
                    <a16:creationId xmlns:a16="http://schemas.microsoft.com/office/drawing/2014/main" id="{9052922D-F902-B5DE-700A-12A7E23F7AE3}"/>
                  </a:ext>
                </a:extLst>
              </p:cNvPr>
              <p:cNvSpPr txBox="1"/>
              <p:nvPr/>
            </p:nvSpPr>
            <p:spPr>
              <a:xfrm>
                <a:off x="5338323" y="1383363"/>
                <a:ext cx="1515351" cy="369332"/>
              </a:xfrm>
              <a:prstGeom prst="rect">
                <a:avLst/>
              </a:prstGeom>
              <a:noFill/>
            </p:spPr>
            <p:txBody>
              <a:bodyPr wrap="none" rtlCol="0">
                <a:spAutoFit/>
              </a:bodyPr>
              <a:lstStyle/>
              <a:p>
                <a:r>
                  <a:rPr lang="en-AU" dirty="0"/>
                  <a:t>SN 2026ACD</a:t>
                </a:r>
              </a:p>
            </p:txBody>
          </p:sp>
        </p:grpSp>
        <p:sp>
          <p:nvSpPr>
            <p:cNvPr id="17" name="TextBox 16">
              <a:extLst>
                <a:ext uri="{FF2B5EF4-FFF2-40B4-BE49-F238E27FC236}">
                  <a16:creationId xmlns:a16="http://schemas.microsoft.com/office/drawing/2014/main" id="{12E8E573-82C3-BDB6-C475-309028695D20}"/>
                </a:ext>
              </a:extLst>
            </p:cNvPr>
            <p:cNvSpPr txBox="1"/>
            <p:nvPr/>
          </p:nvSpPr>
          <p:spPr>
            <a:xfrm>
              <a:off x="7278717" y="4294332"/>
              <a:ext cx="2352465" cy="646331"/>
            </a:xfrm>
            <a:prstGeom prst="rect">
              <a:avLst/>
            </a:prstGeom>
            <a:noFill/>
          </p:spPr>
          <p:txBody>
            <a:bodyPr wrap="square" rtlCol="0">
              <a:spAutoFit/>
            </a:bodyPr>
            <a:lstStyle/>
            <a:p>
              <a:pPr algn="ctr"/>
              <a:r>
                <a:rPr lang="en-AU" dirty="0"/>
                <a:t>Light curve obtained from the Fink broker.</a:t>
              </a:r>
            </a:p>
          </p:txBody>
        </p:sp>
        <p:pic>
          <p:nvPicPr>
            <p:cNvPr id="6" name="Picture 5" descr="QR Code that takes you to the example ZTF light curve displayed in the plot.">
              <a:extLst>
                <a:ext uri="{FF2B5EF4-FFF2-40B4-BE49-F238E27FC236}">
                  <a16:creationId xmlns:a16="http://schemas.microsoft.com/office/drawing/2014/main" id="{DE97C432-3D2F-3739-5D2A-0DE0A064244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53336" y="3291107"/>
              <a:ext cx="1003225" cy="1003225"/>
            </a:xfrm>
            <a:prstGeom prst="rect">
              <a:avLst/>
            </a:prstGeom>
          </p:spPr>
        </p:pic>
      </p:grpSp>
    </p:spTree>
    <p:extLst>
      <p:ext uri="{BB962C8B-B14F-4D97-AF65-F5344CB8AC3E}">
        <p14:creationId xmlns:p14="http://schemas.microsoft.com/office/powerpoint/2010/main" val="1555149833"/>
      </p:ext>
    </p:extLst>
  </p:cSld>
  <p:clrMapOvr>
    <a:masterClrMapping/>
  </p:clrMapOvr>
  <mc:AlternateContent xmlns:mc="http://schemas.openxmlformats.org/markup-compatibility/2006" xmlns:p14="http://schemas.microsoft.com/office/powerpoint/2010/main">
    <mc:Choice Requires="p14">
      <p:transition spd="med" p14:dur="700" advTm="130133">
        <p:fade/>
      </p:transition>
    </mc:Choice>
    <mc:Fallback xmlns="">
      <p:transition spd="med" advTm="130133">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0 4.07407E-6 L 0.20638 -0.00301 " pathEditMode="relative" rAng="0" ptsTypes="AA">
                                      <p:cBhvr>
                                        <p:cTn id="11" dur="2000" fill="hold"/>
                                        <p:tgtEl>
                                          <p:spTgt spid="5"/>
                                        </p:tgtEl>
                                        <p:attrNameLst>
                                          <p:attrName>ppt_x</p:attrName>
                                          <p:attrName>ppt_y</p:attrName>
                                        </p:attrNameLst>
                                      </p:cBhvr>
                                      <p:rCtr x="10312" y="-162"/>
                                    </p:animMotion>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fade">
                                      <p:cBhvr>
                                        <p:cTn id="16" dur="500"/>
                                        <p:tgtEl>
                                          <p:spTgt spid="3">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C01F2-403E-1B28-A1A4-DB20333CCFE3}"/>
              </a:ext>
            </a:extLst>
          </p:cNvPr>
          <p:cNvSpPr>
            <a:spLocks noGrp="1"/>
          </p:cNvSpPr>
          <p:nvPr>
            <p:ph type="title"/>
          </p:nvPr>
        </p:nvSpPr>
        <p:spPr/>
        <p:txBody>
          <a:bodyPr/>
          <a:lstStyle/>
          <a:p>
            <a:r>
              <a:rPr lang="en-AU" dirty="0"/>
              <a:t>Early Excess	</a:t>
            </a:r>
          </a:p>
        </p:txBody>
      </p:sp>
      <p:sp>
        <p:nvSpPr>
          <p:cNvPr id="3" name="Content Placeholder 2">
            <a:extLst>
              <a:ext uri="{FF2B5EF4-FFF2-40B4-BE49-F238E27FC236}">
                <a16:creationId xmlns:a16="http://schemas.microsoft.com/office/drawing/2014/main" id="{CB84F266-4C36-F74A-28E0-193391E8F1FE}"/>
              </a:ext>
            </a:extLst>
          </p:cNvPr>
          <p:cNvSpPr>
            <a:spLocks noGrp="1"/>
          </p:cNvSpPr>
          <p:nvPr>
            <p:ph idx="1"/>
          </p:nvPr>
        </p:nvSpPr>
        <p:spPr>
          <a:xfrm>
            <a:off x="631173" y="1425636"/>
            <a:ext cx="5343144" cy="4712364"/>
          </a:xfrm>
        </p:spPr>
        <p:txBody>
          <a:bodyPr>
            <a:normAutofit lnSpcReduction="10000"/>
          </a:bodyPr>
          <a:lstStyle/>
          <a:p>
            <a:r>
              <a:rPr lang="en-AU" dirty="0"/>
              <a:t>In some cases, observation of SNe Ia have a bump in the light curve.</a:t>
            </a:r>
          </a:p>
          <a:p>
            <a:r>
              <a:rPr lang="en-AU" dirty="0"/>
              <a:t>Reasons For Excess</a:t>
            </a:r>
          </a:p>
          <a:p>
            <a:pPr lvl="1"/>
            <a:r>
              <a:rPr lang="en-AU" dirty="0"/>
              <a:t>Companion interaction </a:t>
            </a:r>
            <a:r>
              <a:rPr lang="en-AU" sz="1800" dirty="0"/>
              <a:t>(Burke et al., 2022) and (Lim et al., 2023).</a:t>
            </a:r>
            <a:r>
              <a:rPr lang="en-AU" dirty="0"/>
              <a:t> </a:t>
            </a:r>
          </a:p>
          <a:p>
            <a:pPr lvl="1"/>
            <a:r>
              <a:rPr lang="en-AU" dirty="0"/>
              <a:t>Clumping of nickel 56 and interactions with CSM </a:t>
            </a:r>
            <a:r>
              <a:rPr lang="en-AU" sz="1800" dirty="0"/>
              <a:t>(Deckers et al., 2022).</a:t>
            </a:r>
          </a:p>
          <a:p>
            <a:r>
              <a:rPr lang="en-AU" dirty="0"/>
              <a:t>Colour evolution and duration of excess leads to different interpretations </a:t>
            </a:r>
            <a:r>
              <a:rPr lang="en-AU" sz="1800" dirty="0"/>
              <a:t>(Deckers et al., 2022).</a:t>
            </a:r>
            <a:endParaRPr lang="en-AU" sz="2000" dirty="0"/>
          </a:p>
          <a:p>
            <a:endParaRPr lang="en-AU" sz="2200" dirty="0"/>
          </a:p>
          <a:p>
            <a:endParaRPr lang="en-AU" sz="2200" dirty="0"/>
          </a:p>
        </p:txBody>
      </p:sp>
      <p:sp>
        <p:nvSpPr>
          <p:cNvPr id="10" name="TextBox 9">
            <a:extLst>
              <a:ext uri="{FF2B5EF4-FFF2-40B4-BE49-F238E27FC236}">
                <a16:creationId xmlns:a16="http://schemas.microsoft.com/office/drawing/2014/main" id="{537B5E11-47A6-553F-4456-47232A0A53C5}"/>
              </a:ext>
            </a:extLst>
          </p:cNvPr>
          <p:cNvSpPr txBox="1"/>
          <p:nvPr/>
        </p:nvSpPr>
        <p:spPr>
          <a:xfrm>
            <a:off x="11473200" y="6138000"/>
            <a:ext cx="360000" cy="360000"/>
          </a:xfrm>
          <a:prstGeom prst="rect">
            <a:avLst/>
          </a:prstGeom>
          <a:noFill/>
        </p:spPr>
        <p:txBody>
          <a:bodyPr wrap="none" rtlCol="0">
            <a:spAutoFit/>
          </a:bodyPr>
          <a:lstStyle/>
          <a:p>
            <a:r>
              <a:rPr lang="en-AU" dirty="0"/>
              <a:t>4</a:t>
            </a:r>
          </a:p>
        </p:txBody>
      </p:sp>
      <p:grpSp>
        <p:nvGrpSpPr>
          <p:cNvPr id="29" name="Group 28">
            <a:extLst>
              <a:ext uri="{FF2B5EF4-FFF2-40B4-BE49-F238E27FC236}">
                <a16:creationId xmlns:a16="http://schemas.microsoft.com/office/drawing/2014/main" id="{502BB992-C1A1-29EB-B99F-D7019C8E7AC8}"/>
              </a:ext>
            </a:extLst>
          </p:cNvPr>
          <p:cNvGrpSpPr/>
          <p:nvPr/>
        </p:nvGrpSpPr>
        <p:grpSpPr>
          <a:xfrm>
            <a:off x="3008896" y="2244647"/>
            <a:ext cx="6174208" cy="4502384"/>
            <a:chOff x="5932800" y="1256400"/>
            <a:chExt cx="6174208" cy="4502384"/>
          </a:xfrm>
        </p:grpSpPr>
        <p:sp>
          <p:nvSpPr>
            <p:cNvPr id="9" name="TextBox 8">
              <a:extLst>
                <a:ext uri="{FF2B5EF4-FFF2-40B4-BE49-F238E27FC236}">
                  <a16:creationId xmlns:a16="http://schemas.microsoft.com/office/drawing/2014/main" id="{78D4041E-EF53-343E-CED9-A6E511D87581}"/>
                </a:ext>
              </a:extLst>
            </p:cNvPr>
            <p:cNvSpPr txBox="1"/>
            <p:nvPr/>
          </p:nvSpPr>
          <p:spPr>
            <a:xfrm>
              <a:off x="10388312" y="5451007"/>
              <a:ext cx="1718696" cy="307777"/>
            </a:xfrm>
            <a:prstGeom prst="rect">
              <a:avLst/>
            </a:prstGeom>
            <a:noFill/>
          </p:spPr>
          <p:txBody>
            <a:bodyPr wrap="square">
              <a:spAutoFit/>
            </a:bodyPr>
            <a:lstStyle/>
            <a:p>
              <a:r>
                <a:rPr lang="en-AU" sz="1400" dirty="0">
                  <a:solidFill>
                    <a:srgbClr val="595959"/>
                  </a:solidFill>
                </a:rPr>
                <a:t>(Marion et al., 2016)</a:t>
              </a:r>
            </a:p>
          </p:txBody>
        </p:sp>
        <p:pic>
          <p:nvPicPr>
            <p:cNvPr id="27" name="Picture 26">
              <a:extLst>
                <a:ext uri="{FF2B5EF4-FFF2-40B4-BE49-F238E27FC236}">
                  <a16:creationId xmlns:a16="http://schemas.microsoft.com/office/drawing/2014/main" id="{EF3ADFC9-33F7-5F4B-4D87-24CAD1F446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2800" y="1256400"/>
              <a:ext cx="6006646" cy="4233600"/>
            </a:xfrm>
            <a:prstGeom prst="rect">
              <a:avLst/>
            </a:prstGeom>
          </p:spPr>
        </p:pic>
        <p:sp>
          <p:nvSpPr>
            <p:cNvPr id="28" name="Oval 27">
              <a:extLst>
                <a:ext uri="{FF2B5EF4-FFF2-40B4-BE49-F238E27FC236}">
                  <a16:creationId xmlns:a16="http://schemas.microsoft.com/office/drawing/2014/main" id="{1267B316-FAB6-667D-08C3-BF719A99B63A}"/>
                </a:ext>
              </a:extLst>
            </p:cNvPr>
            <p:cNvSpPr/>
            <p:nvPr/>
          </p:nvSpPr>
          <p:spPr>
            <a:xfrm>
              <a:off x="7661625" y="3563527"/>
              <a:ext cx="644511" cy="85540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Tree>
    <p:extLst>
      <p:ext uri="{BB962C8B-B14F-4D97-AF65-F5344CB8AC3E}">
        <p14:creationId xmlns:p14="http://schemas.microsoft.com/office/powerpoint/2010/main" val="2452326653"/>
      </p:ext>
    </p:extLst>
  </p:cSld>
  <p:clrMapOvr>
    <a:masterClrMapping/>
  </p:clrMapOvr>
  <mc:AlternateContent xmlns:mc="http://schemas.openxmlformats.org/markup-compatibility/2006" xmlns:p14="http://schemas.microsoft.com/office/powerpoint/2010/main">
    <mc:Choice Requires="p14">
      <p:transition spd="med" p14:dur="700" advTm="2918">
        <p:fade/>
      </p:transition>
    </mc:Choice>
    <mc:Fallback xmlns="">
      <p:transition spd="med" advTm="291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nodeType="clickEffect">
                                  <p:stCondLst>
                                    <p:cond delay="0"/>
                                  </p:stCondLst>
                                  <p:childTnLst>
                                    <p:animMotion origin="layout" path="M 0 4.44444E-6 L 0.21888 -0.16042 " pathEditMode="relative" rAng="0" ptsTypes="AA">
                                      <p:cBhvr>
                                        <p:cTn id="16" dur="2000" fill="hold"/>
                                        <p:tgtEl>
                                          <p:spTgt spid="29"/>
                                        </p:tgtEl>
                                        <p:attrNameLst>
                                          <p:attrName>ppt_x</p:attrName>
                                          <p:attrName>ppt_y</p:attrName>
                                        </p:attrNameLst>
                                      </p:cBhvr>
                                      <p:rCtr x="10938" y="-8032"/>
                                    </p:animMotion>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500"/>
                                        <p:tgtEl>
                                          <p:spTgt spid="3">
                                            <p:txEl>
                                              <p:pRg st="1" end="1"/>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500"/>
                                        <p:tgtEl>
                                          <p:spTgt spid="3">
                                            <p:txEl>
                                              <p:pRg st="2" end="2"/>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C63AB-6315-7F38-6415-DAAEFC8D1CDE}"/>
              </a:ext>
            </a:extLst>
          </p:cNvPr>
          <p:cNvSpPr>
            <a:spLocks noGrp="1"/>
          </p:cNvSpPr>
          <p:nvPr>
            <p:ph type="title"/>
          </p:nvPr>
        </p:nvSpPr>
        <p:spPr/>
        <p:txBody>
          <a:bodyPr/>
          <a:lstStyle/>
          <a:p>
            <a:r>
              <a:rPr lang="en-AU" dirty="0"/>
              <a:t>Host Galaxy Environments</a:t>
            </a:r>
          </a:p>
        </p:txBody>
      </p:sp>
      <p:sp>
        <p:nvSpPr>
          <p:cNvPr id="3" name="Content Placeholder 2">
            <a:extLst>
              <a:ext uri="{FF2B5EF4-FFF2-40B4-BE49-F238E27FC236}">
                <a16:creationId xmlns:a16="http://schemas.microsoft.com/office/drawing/2014/main" id="{6688A419-F0FC-D06B-A5A1-742608EC3F53}"/>
              </a:ext>
            </a:extLst>
          </p:cNvPr>
          <p:cNvSpPr>
            <a:spLocks noGrp="1"/>
          </p:cNvSpPr>
          <p:nvPr>
            <p:ph idx="1"/>
          </p:nvPr>
        </p:nvSpPr>
        <p:spPr>
          <a:xfrm>
            <a:off x="838200" y="1690688"/>
            <a:ext cx="5257800" cy="4351338"/>
          </a:xfrm>
        </p:spPr>
        <p:txBody>
          <a:bodyPr/>
          <a:lstStyle/>
          <a:p>
            <a:r>
              <a:rPr lang="en-AU" dirty="0"/>
              <a:t>Properties</a:t>
            </a:r>
          </a:p>
          <a:p>
            <a:pPr lvl="1"/>
            <a:r>
              <a:rPr lang="en-AU" dirty="0"/>
              <a:t>Stellar mass</a:t>
            </a:r>
          </a:p>
          <a:p>
            <a:pPr lvl="1"/>
            <a:r>
              <a:rPr lang="en-AU" dirty="0"/>
              <a:t>Inner region and outer regions</a:t>
            </a:r>
          </a:p>
        </p:txBody>
      </p:sp>
      <p:sp>
        <p:nvSpPr>
          <p:cNvPr id="10" name="TextBox 9">
            <a:extLst>
              <a:ext uri="{FF2B5EF4-FFF2-40B4-BE49-F238E27FC236}">
                <a16:creationId xmlns:a16="http://schemas.microsoft.com/office/drawing/2014/main" id="{D1ED9F07-AD21-C725-AFF0-8BEEEAFA43A5}"/>
              </a:ext>
            </a:extLst>
          </p:cNvPr>
          <p:cNvSpPr txBox="1"/>
          <p:nvPr/>
        </p:nvSpPr>
        <p:spPr>
          <a:xfrm>
            <a:off x="11473200" y="6138000"/>
            <a:ext cx="360000" cy="360000"/>
          </a:xfrm>
          <a:prstGeom prst="rect">
            <a:avLst/>
          </a:prstGeom>
          <a:noFill/>
        </p:spPr>
        <p:txBody>
          <a:bodyPr wrap="none" rtlCol="0">
            <a:spAutoFit/>
          </a:bodyPr>
          <a:lstStyle/>
          <a:p>
            <a:r>
              <a:rPr lang="en-AU" dirty="0"/>
              <a:t>5</a:t>
            </a:r>
          </a:p>
        </p:txBody>
      </p:sp>
      <p:grpSp>
        <p:nvGrpSpPr>
          <p:cNvPr id="4" name="Group 3">
            <a:extLst>
              <a:ext uri="{FF2B5EF4-FFF2-40B4-BE49-F238E27FC236}">
                <a16:creationId xmlns:a16="http://schemas.microsoft.com/office/drawing/2014/main" id="{5473AF44-E2B7-99F8-A883-02CE6EB14795}"/>
              </a:ext>
            </a:extLst>
          </p:cNvPr>
          <p:cNvGrpSpPr/>
          <p:nvPr/>
        </p:nvGrpSpPr>
        <p:grpSpPr>
          <a:xfrm>
            <a:off x="6157010" y="1571677"/>
            <a:ext cx="4409108" cy="4704802"/>
            <a:chOff x="6157010" y="1571677"/>
            <a:chExt cx="4409108" cy="4704802"/>
          </a:xfrm>
        </p:grpSpPr>
        <p:sp>
          <p:nvSpPr>
            <p:cNvPr id="15" name="TextBox 14">
              <a:extLst>
                <a:ext uri="{FF2B5EF4-FFF2-40B4-BE49-F238E27FC236}">
                  <a16:creationId xmlns:a16="http://schemas.microsoft.com/office/drawing/2014/main" id="{A92BF14C-2039-9D98-209A-BFD986CBD0A8}"/>
                </a:ext>
              </a:extLst>
            </p:cNvPr>
            <p:cNvSpPr txBox="1"/>
            <p:nvPr/>
          </p:nvSpPr>
          <p:spPr>
            <a:xfrm>
              <a:off x="6157010" y="5968702"/>
              <a:ext cx="3352267" cy="307777"/>
            </a:xfrm>
            <a:prstGeom prst="rect">
              <a:avLst/>
            </a:prstGeom>
            <a:noFill/>
          </p:spPr>
          <p:txBody>
            <a:bodyPr wrap="square">
              <a:spAutoFit/>
            </a:bodyPr>
            <a:lstStyle/>
            <a:p>
              <a:r>
                <a:rPr lang="it-IT" sz="1400" dirty="0">
                  <a:solidFill>
                    <a:srgbClr val="595959"/>
                  </a:solidFill>
                </a:rPr>
                <a:t>(</a:t>
              </a:r>
              <a:r>
                <a:rPr lang="it-IT" sz="1400" i="1" dirty="0">
                  <a:solidFill>
                    <a:srgbClr val="595959"/>
                  </a:solidFill>
                </a:rPr>
                <a:t>Supernovae in NGC 4414</a:t>
              </a:r>
              <a:r>
                <a:rPr lang="it-IT" sz="1400" dirty="0">
                  <a:solidFill>
                    <a:srgbClr val="595959"/>
                  </a:solidFill>
                </a:rPr>
                <a:t>, n.d.)</a:t>
              </a:r>
              <a:endParaRPr lang="en-AU" sz="1400" dirty="0">
                <a:solidFill>
                  <a:srgbClr val="595959"/>
                </a:solidFill>
              </a:endParaRPr>
            </a:p>
          </p:txBody>
        </p:sp>
        <p:pic>
          <p:nvPicPr>
            <p:cNvPr id="8" name="Picture 7" descr="Image showing two SNe in different regions of the host galaxy as an example for what properties we correlate the magnitudes of galaxies with.">
              <a:extLst>
                <a:ext uri="{FF2B5EF4-FFF2-40B4-BE49-F238E27FC236}">
                  <a16:creationId xmlns:a16="http://schemas.microsoft.com/office/drawing/2014/main" id="{A2F085B8-7976-42E8-94DB-B094B53712DD}"/>
                </a:ext>
              </a:extLst>
            </p:cNvPr>
            <p:cNvPicPr>
              <a:picLocks noChangeAspect="1"/>
            </p:cNvPicPr>
            <p:nvPr/>
          </p:nvPicPr>
          <p:blipFill>
            <a:blip r:embed="rId3"/>
            <a:stretch>
              <a:fillRect/>
            </a:stretch>
          </p:blipFill>
          <p:spPr>
            <a:xfrm>
              <a:off x="6157010" y="1571677"/>
              <a:ext cx="4409108" cy="4394805"/>
            </a:xfrm>
            <a:prstGeom prst="rect">
              <a:avLst/>
            </a:prstGeom>
          </p:spPr>
        </p:pic>
      </p:grpSp>
    </p:spTree>
    <p:extLst>
      <p:ext uri="{BB962C8B-B14F-4D97-AF65-F5344CB8AC3E}">
        <p14:creationId xmlns:p14="http://schemas.microsoft.com/office/powerpoint/2010/main" val="3741420523"/>
      </p:ext>
    </p:extLst>
  </p:cSld>
  <p:clrMapOvr>
    <a:masterClrMapping/>
  </p:clrMapOvr>
  <mc:AlternateContent xmlns:mc="http://schemas.openxmlformats.org/markup-compatibility/2006" xmlns:p14="http://schemas.microsoft.com/office/powerpoint/2010/main">
    <mc:Choice Requires="p14">
      <p:transition spd="med" p14:dur="700" advTm="108817">
        <p:fade/>
      </p:transition>
    </mc:Choice>
    <mc:Fallback xmlns="">
      <p:transition spd="med" advTm="108817">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500"/>
                                        <p:tgtEl>
                                          <p:spTgt spid="3">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E3B4D-C3C1-B1F4-6540-9647F2F42A01}"/>
              </a:ext>
            </a:extLst>
          </p:cNvPr>
          <p:cNvSpPr>
            <a:spLocks noGrp="1"/>
          </p:cNvSpPr>
          <p:nvPr>
            <p:ph type="title"/>
          </p:nvPr>
        </p:nvSpPr>
        <p:spPr/>
        <p:txBody>
          <a:bodyPr/>
          <a:lstStyle/>
          <a:p>
            <a:r>
              <a:rPr lang="en-AU" dirty="0"/>
              <a:t>Proposed Method</a:t>
            </a:r>
          </a:p>
        </p:txBody>
      </p:sp>
      <p:grpSp>
        <p:nvGrpSpPr>
          <p:cNvPr id="17" name="Group 16">
            <a:extLst>
              <a:ext uri="{FF2B5EF4-FFF2-40B4-BE49-F238E27FC236}">
                <a16:creationId xmlns:a16="http://schemas.microsoft.com/office/drawing/2014/main" id="{8C10E0EE-4ADA-C587-C5AB-82116C36BAC8}"/>
              </a:ext>
            </a:extLst>
          </p:cNvPr>
          <p:cNvGrpSpPr/>
          <p:nvPr/>
        </p:nvGrpSpPr>
        <p:grpSpPr>
          <a:xfrm>
            <a:off x="854333" y="1839670"/>
            <a:ext cx="3700073" cy="1820718"/>
            <a:chOff x="854333" y="1839670"/>
            <a:chExt cx="3700073" cy="1820718"/>
          </a:xfrm>
        </p:grpSpPr>
        <p:sp>
          <p:nvSpPr>
            <p:cNvPr id="6" name="Freeform: Shape 5">
              <a:extLst>
                <a:ext uri="{FF2B5EF4-FFF2-40B4-BE49-F238E27FC236}">
                  <a16:creationId xmlns:a16="http://schemas.microsoft.com/office/drawing/2014/main" id="{72844CB6-63FD-5C9B-81A8-5A484D106BA8}"/>
                </a:ext>
              </a:extLst>
            </p:cNvPr>
            <p:cNvSpPr/>
            <p:nvPr/>
          </p:nvSpPr>
          <p:spPr>
            <a:xfrm>
              <a:off x="3887064" y="2704309"/>
              <a:ext cx="667342" cy="91440"/>
            </a:xfrm>
            <a:custGeom>
              <a:avLst/>
              <a:gdLst>
                <a:gd name="csX0" fmla="*/ 0 w 667342"/>
                <a:gd name="csY0" fmla="*/ 45720 h 91440"/>
                <a:gd name="csX1" fmla="*/ 667342 w 667342"/>
                <a:gd name="csY1" fmla="*/ 45720 h 91440"/>
              </a:gdLst>
              <a:ahLst/>
              <a:cxnLst>
                <a:cxn ang="0">
                  <a:pos x="csX0" y="csY0"/>
                </a:cxn>
                <a:cxn ang="0">
                  <a:pos x="csX1" y="csY1"/>
                </a:cxn>
              </a:cxnLst>
              <a:rect l="l" t="t" r="r" b="b"/>
              <a:pathLst>
                <a:path w="667342" h="91440">
                  <a:moveTo>
                    <a:pt x="0" y="45720"/>
                  </a:moveTo>
                  <a:lnTo>
                    <a:pt x="667342" y="45720"/>
                  </a:lnTo>
                </a:path>
              </a:pathLst>
            </a:custGeom>
            <a:noFill/>
            <a:ln>
              <a:tailEnd type="arrow"/>
            </a:ln>
          </p:spPr>
          <p:style>
            <a:lnRef idx="1">
              <a:schemeClr val="accent1">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328922" tIns="42230" rIns="328923" bIns="42231" numCol="1" spcCol="1270" anchor="ctr" anchorCtr="0">
              <a:noAutofit/>
            </a:bodyPr>
            <a:lstStyle/>
            <a:p>
              <a:pPr marL="0" lvl="0" indent="0" algn="ctr" defTabSz="222250">
                <a:lnSpc>
                  <a:spcPct val="90000"/>
                </a:lnSpc>
                <a:spcBef>
                  <a:spcPct val="0"/>
                </a:spcBef>
                <a:spcAft>
                  <a:spcPct val="35000"/>
                </a:spcAft>
                <a:buNone/>
              </a:pPr>
              <a:endParaRPr lang="en-AU" sz="500" kern="1200" dirty="0"/>
            </a:p>
          </p:txBody>
        </p:sp>
        <p:sp>
          <p:nvSpPr>
            <p:cNvPr id="7" name="Freeform: Shape 6">
              <a:extLst>
                <a:ext uri="{FF2B5EF4-FFF2-40B4-BE49-F238E27FC236}">
                  <a16:creationId xmlns:a16="http://schemas.microsoft.com/office/drawing/2014/main" id="{815F6114-190C-2412-6A79-BB20D52E9835}"/>
                </a:ext>
              </a:extLst>
            </p:cNvPr>
            <p:cNvSpPr/>
            <p:nvPr/>
          </p:nvSpPr>
          <p:spPr>
            <a:xfrm>
              <a:off x="854333" y="1839670"/>
              <a:ext cx="3034531" cy="1820718"/>
            </a:xfrm>
            <a:custGeom>
              <a:avLst/>
              <a:gdLst>
                <a:gd name="csX0" fmla="*/ 0 w 3034531"/>
                <a:gd name="csY0" fmla="*/ 303459 h 1820718"/>
                <a:gd name="csX1" fmla="*/ 303459 w 3034531"/>
                <a:gd name="csY1" fmla="*/ 0 h 1820718"/>
                <a:gd name="csX2" fmla="*/ 2731072 w 3034531"/>
                <a:gd name="csY2" fmla="*/ 0 h 1820718"/>
                <a:gd name="csX3" fmla="*/ 3034531 w 3034531"/>
                <a:gd name="csY3" fmla="*/ 303459 h 1820718"/>
                <a:gd name="csX4" fmla="*/ 3034531 w 3034531"/>
                <a:gd name="csY4" fmla="*/ 1517259 h 1820718"/>
                <a:gd name="csX5" fmla="*/ 2731072 w 3034531"/>
                <a:gd name="csY5" fmla="*/ 1820718 h 1820718"/>
                <a:gd name="csX6" fmla="*/ 303459 w 3034531"/>
                <a:gd name="csY6" fmla="*/ 1820718 h 1820718"/>
                <a:gd name="csX7" fmla="*/ 0 w 3034531"/>
                <a:gd name="csY7" fmla="*/ 1517259 h 1820718"/>
                <a:gd name="csX8" fmla="*/ 0 w 3034531"/>
                <a:gd name="csY8" fmla="*/ 303459 h 18207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34531" h="1820718">
                  <a:moveTo>
                    <a:pt x="0" y="303459"/>
                  </a:moveTo>
                  <a:cubicBezTo>
                    <a:pt x="0" y="135863"/>
                    <a:pt x="135863" y="0"/>
                    <a:pt x="303459" y="0"/>
                  </a:cubicBezTo>
                  <a:lnTo>
                    <a:pt x="2731072" y="0"/>
                  </a:lnTo>
                  <a:cubicBezTo>
                    <a:pt x="2898668" y="0"/>
                    <a:pt x="3034531" y="135863"/>
                    <a:pt x="3034531" y="303459"/>
                  </a:cubicBezTo>
                  <a:lnTo>
                    <a:pt x="3034531" y="1517259"/>
                  </a:lnTo>
                  <a:cubicBezTo>
                    <a:pt x="3034531" y="1684855"/>
                    <a:pt x="2898668" y="1820718"/>
                    <a:pt x="2731072" y="1820718"/>
                  </a:cubicBezTo>
                  <a:lnTo>
                    <a:pt x="303459" y="1820718"/>
                  </a:lnTo>
                  <a:cubicBezTo>
                    <a:pt x="135863" y="1820718"/>
                    <a:pt x="0" y="1684855"/>
                    <a:pt x="0" y="1517259"/>
                  </a:cubicBezTo>
                  <a:lnTo>
                    <a:pt x="0" y="303459"/>
                  </a:lnTo>
                  <a:close/>
                </a:path>
              </a:pathLst>
            </a:custGeom>
            <a:solidFill>
              <a:srgbClr val="231F2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31120" tIns="231120" rIns="231120" bIns="231120" numCol="1" spcCol="1270" anchor="ctr" anchorCtr="0">
              <a:noAutofit/>
            </a:bodyPr>
            <a:lstStyle/>
            <a:p>
              <a:pPr marL="0" lvl="0" indent="0" algn="ctr" defTabSz="889000">
                <a:lnSpc>
                  <a:spcPct val="90000"/>
                </a:lnSpc>
                <a:spcBef>
                  <a:spcPct val="0"/>
                </a:spcBef>
                <a:spcAft>
                  <a:spcPct val="35000"/>
                </a:spcAft>
                <a:buNone/>
              </a:pPr>
              <a:r>
                <a:rPr lang="en-AU" sz="2000" kern="1200" dirty="0"/>
                <a:t>Assemble a catalogue of extragalactic candidates from Rubin using Fink.</a:t>
              </a:r>
            </a:p>
          </p:txBody>
        </p:sp>
      </p:grpSp>
      <p:grpSp>
        <p:nvGrpSpPr>
          <p:cNvPr id="18" name="Group 17">
            <a:extLst>
              <a:ext uri="{FF2B5EF4-FFF2-40B4-BE49-F238E27FC236}">
                <a16:creationId xmlns:a16="http://schemas.microsoft.com/office/drawing/2014/main" id="{1702B178-7995-2B39-C015-34AEC672C81B}"/>
              </a:ext>
            </a:extLst>
          </p:cNvPr>
          <p:cNvGrpSpPr/>
          <p:nvPr/>
        </p:nvGrpSpPr>
        <p:grpSpPr>
          <a:xfrm>
            <a:off x="4586806" y="1839670"/>
            <a:ext cx="3700062" cy="1820718"/>
            <a:chOff x="4586806" y="1839670"/>
            <a:chExt cx="3700062" cy="1820718"/>
          </a:xfrm>
        </p:grpSpPr>
        <p:sp>
          <p:nvSpPr>
            <p:cNvPr id="8" name="Freeform: Shape 7">
              <a:extLst>
                <a:ext uri="{FF2B5EF4-FFF2-40B4-BE49-F238E27FC236}">
                  <a16:creationId xmlns:a16="http://schemas.microsoft.com/office/drawing/2014/main" id="{A8CA14C8-7B18-4DD1-4CA7-0F88262716D3}"/>
                </a:ext>
              </a:extLst>
            </p:cNvPr>
            <p:cNvSpPr/>
            <p:nvPr/>
          </p:nvSpPr>
          <p:spPr>
            <a:xfrm>
              <a:off x="7619537" y="2704309"/>
              <a:ext cx="667331" cy="91440"/>
            </a:xfrm>
            <a:custGeom>
              <a:avLst/>
              <a:gdLst>
                <a:gd name="csX0" fmla="*/ 0 w 667331"/>
                <a:gd name="csY0" fmla="*/ 45720 h 91440"/>
                <a:gd name="csX1" fmla="*/ 667331 w 667331"/>
                <a:gd name="csY1" fmla="*/ 45720 h 91440"/>
              </a:gdLst>
              <a:ahLst/>
              <a:cxnLst>
                <a:cxn ang="0">
                  <a:pos x="csX0" y="csY0"/>
                </a:cxn>
                <a:cxn ang="0">
                  <a:pos x="csX1" y="csY1"/>
                </a:cxn>
              </a:cxnLst>
              <a:rect l="l" t="t" r="r" b="b"/>
              <a:pathLst>
                <a:path w="667331" h="91440">
                  <a:moveTo>
                    <a:pt x="0" y="45720"/>
                  </a:moveTo>
                  <a:lnTo>
                    <a:pt x="667331" y="45720"/>
                  </a:lnTo>
                </a:path>
              </a:pathLst>
            </a:custGeom>
            <a:noFill/>
            <a:ln>
              <a:tailEnd type="arrow"/>
            </a:ln>
          </p:spPr>
          <p:style>
            <a:lnRef idx="1">
              <a:schemeClr val="accent1">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328917" tIns="42230" rIns="328918" bIns="42231" numCol="1" spcCol="1270" anchor="ctr" anchorCtr="0">
              <a:noAutofit/>
            </a:bodyPr>
            <a:lstStyle/>
            <a:p>
              <a:pPr marL="0" lvl="0" indent="0" algn="ctr" defTabSz="222250">
                <a:lnSpc>
                  <a:spcPct val="90000"/>
                </a:lnSpc>
                <a:spcBef>
                  <a:spcPct val="0"/>
                </a:spcBef>
                <a:spcAft>
                  <a:spcPct val="35000"/>
                </a:spcAft>
                <a:buNone/>
              </a:pPr>
              <a:endParaRPr lang="en-AU" sz="500" kern="1200" dirty="0"/>
            </a:p>
          </p:txBody>
        </p:sp>
        <p:sp>
          <p:nvSpPr>
            <p:cNvPr id="9" name="Freeform: Shape 8">
              <a:extLst>
                <a:ext uri="{FF2B5EF4-FFF2-40B4-BE49-F238E27FC236}">
                  <a16:creationId xmlns:a16="http://schemas.microsoft.com/office/drawing/2014/main" id="{C1A7E36E-1642-1054-7699-317898A95303}"/>
                </a:ext>
              </a:extLst>
            </p:cNvPr>
            <p:cNvSpPr/>
            <p:nvPr/>
          </p:nvSpPr>
          <p:spPr>
            <a:xfrm>
              <a:off x="4586806" y="1839670"/>
              <a:ext cx="3034531" cy="1820718"/>
            </a:xfrm>
            <a:custGeom>
              <a:avLst/>
              <a:gdLst>
                <a:gd name="csX0" fmla="*/ 0 w 3034531"/>
                <a:gd name="csY0" fmla="*/ 303459 h 1820718"/>
                <a:gd name="csX1" fmla="*/ 303459 w 3034531"/>
                <a:gd name="csY1" fmla="*/ 0 h 1820718"/>
                <a:gd name="csX2" fmla="*/ 2731072 w 3034531"/>
                <a:gd name="csY2" fmla="*/ 0 h 1820718"/>
                <a:gd name="csX3" fmla="*/ 3034531 w 3034531"/>
                <a:gd name="csY3" fmla="*/ 303459 h 1820718"/>
                <a:gd name="csX4" fmla="*/ 3034531 w 3034531"/>
                <a:gd name="csY4" fmla="*/ 1517259 h 1820718"/>
                <a:gd name="csX5" fmla="*/ 2731072 w 3034531"/>
                <a:gd name="csY5" fmla="*/ 1820718 h 1820718"/>
                <a:gd name="csX6" fmla="*/ 303459 w 3034531"/>
                <a:gd name="csY6" fmla="*/ 1820718 h 1820718"/>
                <a:gd name="csX7" fmla="*/ 0 w 3034531"/>
                <a:gd name="csY7" fmla="*/ 1517259 h 1820718"/>
                <a:gd name="csX8" fmla="*/ 0 w 3034531"/>
                <a:gd name="csY8" fmla="*/ 303459 h 18207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34531" h="1820718">
                  <a:moveTo>
                    <a:pt x="0" y="303459"/>
                  </a:moveTo>
                  <a:cubicBezTo>
                    <a:pt x="0" y="135863"/>
                    <a:pt x="135863" y="0"/>
                    <a:pt x="303459" y="0"/>
                  </a:cubicBezTo>
                  <a:lnTo>
                    <a:pt x="2731072" y="0"/>
                  </a:lnTo>
                  <a:cubicBezTo>
                    <a:pt x="2898668" y="0"/>
                    <a:pt x="3034531" y="135863"/>
                    <a:pt x="3034531" y="303459"/>
                  </a:cubicBezTo>
                  <a:lnTo>
                    <a:pt x="3034531" y="1517259"/>
                  </a:lnTo>
                  <a:cubicBezTo>
                    <a:pt x="3034531" y="1684855"/>
                    <a:pt x="2898668" y="1820718"/>
                    <a:pt x="2731072" y="1820718"/>
                  </a:cubicBezTo>
                  <a:lnTo>
                    <a:pt x="303459" y="1820718"/>
                  </a:lnTo>
                  <a:cubicBezTo>
                    <a:pt x="135863" y="1820718"/>
                    <a:pt x="0" y="1684855"/>
                    <a:pt x="0" y="1517259"/>
                  </a:cubicBezTo>
                  <a:lnTo>
                    <a:pt x="0" y="303459"/>
                  </a:lnTo>
                  <a:close/>
                </a:path>
              </a:pathLst>
            </a:custGeom>
            <a:solidFill>
              <a:srgbClr val="231F2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31120" tIns="231120" rIns="231120" bIns="231120" numCol="1" spcCol="1270" anchor="ctr" anchorCtr="0">
              <a:noAutofit/>
            </a:bodyPr>
            <a:lstStyle/>
            <a:p>
              <a:pPr marL="0" lvl="0" indent="0" algn="ctr" defTabSz="889000">
                <a:lnSpc>
                  <a:spcPct val="90000"/>
                </a:lnSpc>
                <a:spcBef>
                  <a:spcPct val="0"/>
                </a:spcBef>
                <a:spcAft>
                  <a:spcPct val="35000"/>
                </a:spcAft>
                <a:buNone/>
              </a:pPr>
              <a:r>
                <a:rPr lang="en-AU" sz="2000" kern="1200" dirty="0"/>
                <a:t>Use </a:t>
              </a:r>
              <a:r>
                <a:rPr lang="en-AU" sz="2000" dirty="0"/>
                <a:t>machine learning</a:t>
              </a:r>
              <a:r>
                <a:rPr lang="en-AU" sz="2000" kern="1200" dirty="0"/>
                <a:t> classifiers to find potential SNe Ia.</a:t>
              </a:r>
            </a:p>
          </p:txBody>
        </p:sp>
      </p:grpSp>
      <p:grpSp>
        <p:nvGrpSpPr>
          <p:cNvPr id="19" name="Group 18">
            <a:extLst>
              <a:ext uri="{FF2B5EF4-FFF2-40B4-BE49-F238E27FC236}">
                <a16:creationId xmlns:a16="http://schemas.microsoft.com/office/drawing/2014/main" id="{4D584E21-1429-A068-BFF6-1F25F79D6996}"/>
              </a:ext>
            </a:extLst>
          </p:cNvPr>
          <p:cNvGrpSpPr/>
          <p:nvPr/>
        </p:nvGrpSpPr>
        <p:grpSpPr>
          <a:xfrm>
            <a:off x="2371598" y="1839670"/>
            <a:ext cx="8982201" cy="2484173"/>
            <a:chOff x="2371598" y="1839670"/>
            <a:chExt cx="8982201" cy="2484173"/>
          </a:xfrm>
        </p:grpSpPr>
        <p:sp>
          <p:nvSpPr>
            <p:cNvPr id="10" name="Freeform: Shape 9">
              <a:extLst>
                <a:ext uri="{FF2B5EF4-FFF2-40B4-BE49-F238E27FC236}">
                  <a16:creationId xmlns:a16="http://schemas.microsoft.com/office/drawing/2014/main" id="{2BC9B9A7-C29C-7642-21F3-F6022EA181EE}"/>
                </a:ext>
              </a:extLst>
            </p:cNvPr>
            <p:cNvSpPr/>
            <p:nvPr/>
          </p:nvSpPr>
          <p:spPr>
            <a:xfrm>
              <a:off x="2371598" y="3658588"/>
              <a:ext cx="7464935" cy="665255"/>
            </a:xfrm>
            <a:custGeom>
              <a:avLst/>
              <a:gdLst>
                <a:gd name="csX0" fmla="*/ 7464935 w 7464935"/>
                <a:gd name="csY0" fmla="*/ 0 h 665255"/>
                <a:gd name="csX1" fmla="*/ 7464935 w 7464935"/>
                <a:gd name="csY1" fmla="*/ 349727 h 665255"/>
                <a:gd name="csX2" fmla="*/ 0 w 7464935"/>
                <a:gd name="csY2" fmla="*/ 349727 h 665255"/>
                <a:gd name="csX3" fmla="*/ 0 w 7464935"/>
                <a:gd name="csY3" fmla="*/ 665255 h 665255"/>
              </a:gdLst>
              <a:ahLst/>
              <a:cxnLst>
                <a:cxn ang="0">
                  <a:pos x="csX0" y="csY0"/>
                </a:cxn>
                <a:cxn ang="0">
                  <a:pos x="csX1" y="csY1"/>
                </a:cxn>
                <a:cxn ang="0">
                  <a:pos x="csX2" y="csY2"/>
                </a:cxn>
                <a:cxn ang="0">
                  <a:pos x="csX3" y="csY3"/>
                </a:cxn>
              </a:cxnLst>
              <a:rect l="l" t="t" r="r" b="b"/>
              <a:pathLst>
                <a:path w="7464935" h="665255">
                  <a:moveTo>
                    <a:pt x="7464935" y="0"/>
                  </a:moveTo>
                  <a:lnTo>
                    <a:pt x="7464935" y="349727"/>
                  </a:lnTo>
                  <a:lnTo>
                    <a:pt x="0" y="349727"/>
                  </a:lnTo>
                  <a:lnTo>
                    <a:pt x="0" y="665255"/>
                  </a:lnTo>
                </a:path>
              </a:pathLst>
            </a:custGeom>
            <a:noFill/>
            <a:ln>
              <a:tailEnd type="arrow"/>
            </a:ln>
          </p:spPr>
          <p:style>
            <a:lnRef idx="1">
              <a:schemeClr val="accent1">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3557736" tIns="329138" rIns="3557735" bIns="329138" numCol="1" spcCol="1270" anchor="ctr" anchorCtr="0">
              <a:noAutofit/>
            </a:bodyPr>
            <a:lstStyle/>
            <a:p>
              <a:pPr marL="0" lvl="0" indent="0" algn="ctr" defTabSz="222250">
                <a:lnSpc>
                  <a:spcPct val="90000"/>
                </a:lnSpc>
                <a:spcBef>
                  <a:spcPct val="0"/>
                </a:spcBef>
                <a:spcAft>
                  <a:spcPct val="35000"/>
                </a:spcAft>
                <a:buNone/>
              </a:pPr>
              <a:endParaRPr lang="en-AU" sz="500" kern="1200" dirty="0"/>
            </a:p>
          </p:txBody>
        </p:sp>
        <mc:AlternateContent xmlns:mc="http://schemas.openxmlformats.org/markup-compatibility/2006" xmlns:a14="http://schemas.microsoft.com/office/drawing/2010/main">
          <mc:Choice Requires="a14">
            <p:sp>
              <p:nvSpPr>
                <p:cNvPr id="11" name="Freeform: Shape 10">
                  <a:extLst>
                    <a:ext uri="{FF2B5EF4-FFF2-40B4-BE49-F238E27FC236}">
                      <a16:creationId xmlns:a16="http://schemas.microsoft.com/office/drawing/2014/main" id="{439A6533-BB4E-51A0-C1C7-BB02F821EEE4}"/>
                    </a:ext>
                  </a:extLst>
                </p:cNvPr>
                <p:cNvSpPr/>
                <p:nvPr/>
              </p:nvSpPr>
              <p:spPr>
                <a:xfrm>
                  <a:off x="8319268" y="1839670"/>
                  <a:ext cx="3034531" cy="1820718"/>
                </a:xfrm>
                <a:custGeom>
                  <a:avLst/>
                  <a:gdLst>
                    <a:gd name="csX0" fmla="*/ 0 w 3034531"/>
                    <a:gd name="csY0" fmla="*/ 303459 h 1820718"/>
                    <a:gd name="csX1" fmla="*/ 303459 w 3034531"/>
                    <a:gd name="csY1" fmla="*/ 0 h 1820718"/>
                    <a:gd name="csX2" fmla="*/ 2731072 w 3034531"/>
                    <a:gd name="csY2" fmla="*/ 0 h 1820718"/>
                    <a:gd name="csX3" fmla="*/ 3034531 w 3034531"/>
                    <a:gd name="csY3" fmla="*/ 303459 h 1820718"/>
                    <a:gd name="csX4" fmla="*/ 3034531 w 3034531"/>
                    <a:gd name="csY4" fmla="*/ 1517259 h 1820718"/>
                    <a:gd name="csX5" fmla="*/ 2731072 w 3034531"/>
                    <a:gd name="csY5" fmla="*/ 1820718 h 1820718"/>
                    <a:gd name="csX6" fmla="*/ 303459 w 3034531"/>
                    <a:gd name="csY6" fmla="*/ 1820718 h 1820718"/>
                    <a:gd name="csX7" fmla="*/ 0 w 3034531"/>
                    <a:gd name="csY7" fmla="*/ 1517259 h 1820718"/>
                    <a:gd name="csX8" fmla="*/ 0 w 3034531"/>
                    <a:gd name="csY8" fmla="*/ 303459 h 18207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34531" h="1820718">
                      <a:moveTo>
                        <a:pt x="0" y="303459"/>
                      </a:moveTo>
                      <a:cubicBezTo>
                        <a:pt x="0" y="135863"/>
                        <a:pt x="135863" y="0"/>
                        <a:pt x="303459" y="0"/>
                      </a:cubicBezTo>
                      <a:lnTo>
                        <a:pt x="2731072" y="0"/>
                      </a:lnTo>
                      <a:cubicBezTo>
                        <a:pt x="2898668" y="0"/>
                        <a:pt x="3034531" y="135863"/>
                        <a:pt x="3034531" y="303459"/>
                      </a:cubicBezTo>
                      <a:lnTo>
                        <a:pt x="3034531" y="1517259"/>
                      </a:lnTo>
                      <a:cubicBezTo>
                        <a:pt x="3034531" y="1684855"/>
                        <a:pt x="2898668" y="1820718"/>
                        <a:pt x="2731072" y="1820718"/>
                      </a:cubicBezTo>
                      <a:lnTo>
                        <a:pt x="303459" y="1820718"/>
                      </a:lnTo>
                      <a:cubicBezTo>
                        <a:pt x="135863" y="1820718"/>
                        <a:pt x="0" y="1684855"/>
                        <a:pt x="0" y="1517259"/>
                      </a:cubicBezTo>
                      <a:lnTo>
                        <a:pt x="0" y="303459"/>
                      </a:lnTo>
                      <a:close/>
                    </a:path>
                  </a:pathLst>
                </a:custGeom>
                <a:solidFill>
                  <a:srgbClr val="231F2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31120" tIns="231120" rIns="231120" bIns="231120" numCol="1" spcCol="1270" anchor="ctr" anchorCtr="0">
                  <a:noAutofit/>
                </a:bodyPr>
                <a:lstStyle/>
                <a:p>
                  <a:pPr marL="0" lvl="0" indent="0" algn="ctr" defTabSz="889000">
                    <a:lnSpc>
                      <a:spcPct val="90000"/>
                    </a:lnSpc>
                    <a:spcBef>
                      <a:spcPct val="0"/>
                    </a:spcBef>
                    <a:spcAft>
                      <a:spcPct val="35000"/>
                    </a:spcAft>
                    <a:buNone/>
                  </a:pPr>
                  <a:r>
                    <a:rPr lang="en-AU" sz="2000" kern="1200" dirty="0"/>
                    <a:t>Use SALT to fit observed light curves to determine </a:t>
                  </a:r>
                  <a14:m>
                    <m:oMath xmlns:m="http://schemas.openxmlformats.org/officeDocument/2006/math">
                      <m:sSub>
                        <m:sSubPr>
                          <m:ctrlPr>
                            <a:rPr lang="en-AU" sz="2000" i="1" kern="1200" dirty="0" smtClean="0">
                              <a:latin typeface="Cambria Math" panose="02040503050406030204" pitchFamily="18" charset="0"/>
                            </a:rPr>
                          </m:ctrlPr>
                        </m:sSubPr>
                        <m:e>
                          <m:r>
                            <a:rPr lang="en-AU" sz="2000" i="1" kern="1200" dirty="0">
                              <a:latin typeface="Cambria Math" panose="02040503050406030204" pitchFamily="18" charset="0"/>
                            </a:rPr>
                            <m:t>𝑥</m:t>
                          </m:r>
                        </m:e>
                        <m:sub>
                          <m:r>
                            <a:rPr lang="en-AU" sz="2000" i="1" kern="1200" dirty="0">
                              <a:latin typeface="Cambria Math" panose="02040503050406030204" pitchFamily="18" charset="0"/>
                            </a:rPr>
                            <m:t>1</m:t>
                          </m:r>
                        </m:sub>
                      </m:sSub>
                    </m:oMath>
                  </a14:m>
                  <a:r>
                    <a:rPr lang="en-AU" sz="2000" kern="1200" dirty="0"/>
                    <a:t>and </a:t>
                  </a:r>
                  <a14:m>
                    <m:oMath xmlns:m="http://schemas.openxmlformats.org/officeDocument/2006/math">
                      <m:r>
                        <a:rPr lang="en-AU" sz="2000" i="1" kern="1200" dirty="0" smtClean="0">
                          <a:latin typeface="Cambria Math" panose="02040503050406030204" pitchFamily="18" charset="0"/>
                        </a:rPr>
                        <m:t>𝑐</m:t>
                      </m:r>
                    </m:oMath>
                  </a14:m>
                  <a:r>
                    <a:rPr lang="en-AU" sz="2000" kern="1200" dirty="0"/>
                    <a:t>.</a:t>
                  </a:r>
                </a:p>
              </p:txBody>
            </p:sp>
          </mc:Choice>
          <mc:Fallback xmlns="">
            <p:sp>
              <p:nvSpPr>
                <p:cNvPr id="11" name="Freeform: Shape 10">
                  <a:extLst>
                    <a:ext uri="{FF2B5EF4-FFF2-40B4-BE49-F238E27FC236}">
                      <a16:creationId xmlns:a16="http://schemas.microsoft.com/office/drawing/2014/main" id="{439A6533-BB4E-51A0-C1C7-BB02F821EEE4}"/>
                    </a:ext>
                  </a:extLst>
                </p:cNvPr>
                <p:cNvSpPr>
                  <a:spLocks noRot="1" noChangeAspect="1" noMove="1" noResize="1" noEditPoints="1" noAdjustHandles="1" noChangeArrowheads="1" noChangeShapeType="1" noTextEdit="1"/>
                </p:cNvSpPr>
                <p:nvPr/>
              </p:nvSpPr>
              <p:spPr>
                <a:xfrm>
                  <a:off x="8319268" y="1839670"/>
                  <a:ext cx="3034531" cy="1820718"/>
                </a:xfrm>
                <a:custGeom>
                  <a:avLst/>
                  <a:gdLst>
                    <a:gd name="csX0" fmla="*/ 0 w 3034531"/>
                    <a:gd name="csY0" fmla="*/ 303459 h 1820718"/>
                    <a:gd name="csX1" fmla="*/ 303459 w 3034531"/>
                    <a:gd name="csY1" fmla="*/ 0 h 1820718"/>
                    <a:gd name="csX2" fmla="*/ 2731072 w 3034531"/>
                    <a:gd name="csY2" fmla="*/ 0 h 1820718"/>
                    <a:gd name="csX3" fmla="*/ 3034531 w 3034531"/>
                    <a:gd name="csY3" fmla="*/ 303459 h 1820718"/>
                    <a:gd name="csX4" fmla="*/ 3034531 w 3034531"/>
                    <a:gd name="csY4" fmla="*/ 1517259 h 1820718"/>
                    <a:gd name="csX5" fmla="*/ 2731072 w 3034531"/>
                    <a:gd name="csY5" fmla="*/ 1820718 h 1820718"/>
                    <a:gd name="csX6" fmla="*/ 303459 w 3034531"/>
                    <a:gd name="csY6" fmla="*/ 1820718 h 1820718"/>
                    <a:gd name="csX7" fmla="*/ 0 w 3034531"/>
                    <a:gd name="csY7" fmla="*/ 1517259 h 1820718"/>
                    <a:gd name="csX8" fmla="*/ 0 w 3034531"/>
                    <a:gd name="csY8" fmla="*/ 303459 h 18207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34531" h="1820718">
                      <a:moveTo>
                        <a:pt x="0" y="303459"/>
                      </a:moveTo>
                      <a:cubicBezTo>
                        <a:pt x="0" y="135863"/>
                        <a:pt x="135863" y="0"/>
                        <a:pt x="303459" y="0"/>
                      </a:cubicBezTo>
                      <a:lnTo>
                        <a:pt x="2731072" y="0"/>
                      </a:lnTo>
                      <a:cubicBezTo>
                        <a:pt x="2898668" y="0"/>
                        <a:pt x="3034531" y="135863"/>
                        <a:pt x="3034531" y="303459"/>
                      </a:cubicBezTo>
                      <a:lnTo>
                        <a:pt x="3034531" y="1517259"/>
                      </a:lnTo>
                      <a:cubicBezTo>
                        <a:pt x="3034531" y="1684855"/>
                        <a:pt x="2898668" y="1820718"/>
                        <a:pt x="2731072" y="1820718"/>
                      </a:cubicBezTo>
                      <a:lnTo>
                        <a:pt x="303459" y="1820718"/>
                      </a:lnTo>
                      <a:cubicBezTo>
                        <a:pt x="135863" y="1820718"/>
                        <a:pt x="0" y="1684855"/>
                        <a:pt x="0" y="1517259"/>
                      </a:cubicBezTo>
                      <a:lnTo>
                        <a:pt x="0" y="303459"/>
                      </a:lnTo>
                      <a:close/>
                    </a:path>
                  </a:pathLst>
                </a:custGeom>
                <a:blipFill>
                  <a:blip r:embed="rId2"/>
                  <a:stretch>
                    <a:fillRect/>
                  </a:stretch>
                </a:blipFill>
              </p:spPr>
              <p:txBody>
                <a:bodyPr/>
                <a:lstStyle/>
                <a:p>
                  <a:r>
                    <a:rPr lang="en-AU">
                      <a:noFill/>
                    </a:rPr>
                    <a:t> </a:t>
                  </a:r>
                </a:p>
              </p:txBody>
            </p:sp>
          </mc:Fallback>
        </mc:AlternateContent>
      </p:grpSp>
      <p:grpSp>
        <p:nvGrpSpPr>
          <p:cNvPr id="20" name="Group 19">
            <a:extLst>
              <a:ext uri="{FF2B5EF4-FFF2-40B4-BE49-F238E27FC236}">
                <a16:creationId xmlns:a16="http://schemas.microsoft.com/office/drawing/2014/main" id="{2D383C95-B13F-A2DA-641B-B17F4822FF4E}"/>
              </a:ext>
            </a:extLst>
          </p:cNvPr>
          <p:cNvGrpSpPr/>
          <p:nvPr/>
        </p:nvGrpSpPr>
        <p:grpSpPr>
          <a:xfrm>
            <a:off x="854333" y="4356244"/>
            <a:ext cx="3692001" cy="1820718"/>
            <a:chOff x="854333" y="4356244"/>
            <a:chExt cx="3692001" cy="1820718"/>
          </a:xfrm>
        </p:grpSpPr>
        <p:sp>
          <p:nvSpPr>
            <p:cNvPr id="12" name="Freeform: Shape 11">
              <a:extLst>
                <a:ext uri="{FF2B5EF4-FFF2-40B4-BE49-F238E27FC236}">
                  <a16:creationId xmlns:a16="http://schemas.microsoft.com/office/drawing/2014/main" id="{EA2A7E88-9ADC-A708-F9D1-E52CB47D4F18}"/>
                </a:ext>
              </a:extLst>
            </p:cNvPr>
            <p:cNvSpPr/>
            <p:nvPr/>
          </p:nvSpPr>
          <p:spPr>
            <a:xfrm>
              <a:off x="3887064" y="5214904"/>
              <a:ext cx="659270" cy="91440"/>
            </a:xfrm>
            <a:custGeom>
              <a:avLst/>
              <a:gdLst>
                <a:gd name="csX0" fmla="*/ 0 w 659270"/>
                <a:gd name="csY0" fmla="*/ 51699 h 91440"/>
                <a:gd name="csX1" fmla="*/ 346735 w 659270"/>
                <a:gd name="csY1" fmla="*/ 51699 h 91440"/>
                <a:gd name="csX2" fmla="*/ 346735 w 659270"/>
                <a:gd name="csY2" fmla="*/ 45720 h 91440"/>
                <a:gd name="csX3" fmla="*/ 659270 w 659270"/>
                <a:gd name="csY3" fmla="*/ 45720 h 91440"/>
              </a:gdLst>
              <a:ahLst/>
              <a:cxnLst>
                <a:cxn ang="0">
                  <a:pos x="csX0" y="csY0"/>
                </a:cxn>
                <a:cxn ang="0">
                  <a:pos x="csX1" y="csY1"/>
                </a:cxn>
                <a:cxn ang="0">
                  <a:pos x="csX2" y="csY2"/>
                </a:cxn>
                <a:cxn ang="0">
                  <a:pos x="csX3" y="csY3"/>
                </a:cxn>
              </a:cxnLst>
              <a:rect l="l" t="t" r="r" b="b"/>
              <a:pathLst>
                <a:path w="659270" h="91440">
                  <a:moveTo>
                    <a:pt x="0" y="51699"/>
                  </a:moveTo>
                  <a:lnTo>
                    <a:pt x="346735" y="51699"/>
                  </a:lnTo>
                  <a:lnTo>
                    <a:pt x="346735" y="45720"/>
                  </a:lnTo>
                  <a:lnTo>
                    <a:pt x="659270" y="45720"/>
                  </a:lnTo>
                </a:path>
              </a:pathLst>
            </a:custGeom>
            <a:noFill/>
            <a:ln>
              <a:tailEnd type="arrow"/>
            </a:ln>
          </p:spPr>
          <p:style>
            <a:lnRef idx="1">
              <a:schemeClr val="accent1">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325087" tIns="42230" rIns="325089" bIns="42231" numCol="1" spcCol="1270" anchor="ctr" anchorCtr="0">
              <a:noAutofit/>
            </a:bodyPr>
            <a:lstStyle/>
            <a:p>
              <a:pPr marL="0" lvl="0" indent="0" algn="ctr" defTabSz="222250">
                <a:lnSpc>
                  <a:spcPct val="90000"/>
                </a:lnSpc>
                <a:spcBef>
                  <a:spcPct val="0"/>
                </a:spcBef>
                <a:spcAft>
                  <a:spcPct val="35000"/>
                </a:spcAft>
                <a:buNone/>
              </a:pPr>
              <a:endParaRPr lang="en-AU" sz="500" kern="1200"/>
            </a:p>
          </p:txBody>
        </p:sp>
        <mc:AlternateContent xmlns:mc="http://schemas.openxmlformats.org/markup-compatibility/2006" xmlns:a14="http://schemas.microsoft.com/office/drawing/2010/main">
          <mc:Choice Requires="a14">
            <p:sp>
              <p:nvSpPr>
                <p:cNvPr id="13" name="Freeform: Shape 12">
                  <a:extLst>
                    <a:ext uri="{FF2B5EF4-FFF2-40B4-BE49-F238E27FC236}">
                      <a16:creationId xmlns:a16="http://schemas.microsoft.com/office/drawing/2014/main" id="{980AAE3F-9F82-4951-9047-181168FFB269}"/>
                    </a:ext>
                  </a:extLst>
                </p:cNvPr>
                <p:cNvSpPr/>
                <p:nvPr/>
              </p:nvSpPr>
              <p:spPr>
                <a:xfrm>
                  <a:off x="854333" y="4356244"/>
                  <a:ext cx="3034531" cy="1820718"/>
                </a:xfrm>
                <a:custGeom>
                  <a:avLst/>
                  <a:gdLst>
                    <a:gd name="csX0" fmla="*/ 0 w 3034531"/>
                    <a:gd name="csY0" fmla="*/ 303459 h 1820718"/>
                    <a:gd name="csX1" fmla="*/ 303459 w 3034531"/>
                    <a:gd name="csY1" fmla="*/ 0 h 1820718"/>
                    <a:gd name="csX2" fmla="*/ 2731072 w 3034531"/>
                    <a:gd name="csY2" fmla="*/ 0 h 1820718"/>
                    <a:gd name="csX3" fmla="*/ 3034531 w 3034531"/>
                    <a:gd name="csY3" fmla="*/ 303459 h 1820718"/>
                    <a:gd name="csX4" fmla="*/ 3034531 w 3034531"/>
                    <a:gd name="csY4" fmla="*/ 1517259 h 1820718"/>
                    <a:gd name="csX5" fmla="*/ 2731072 w 3034531"/>
                    <a:gd name="csY5" fmla="*/ 1820718 h 1820718"/>
                    <a:gd name="csX6" fmla="*/ 303459 w 3034531"/>
                    <a:gd name="csY6" fmla="*/ 1820718 h 1820718"/>
                    <a:gd name="csX7" fmla="*/ 0 w 3034531"/>
                    <a:gd name="csY7" fmla="*/ 1517259 h 1820718"/>
                    <a:gd name="csX8" fmla="*/ 0 w 3034531"/>
                    <a:gd name="csY8" fmla="*/ 303459 h 18207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34531" h="1820718">
                      <a:moveTo>
                        <a:pt x="0" y="303459"/>
                      </a:moveTo>
                      <a:cubicBezTo>
                        <a:pt x="0" y="135863"/>
                        <a:pt x="135863" y="0"/>
                        <a:pt x="303459" y="0"/>
                      </a:cubicBezTo>
                      <a:lnTo>
                        <a:pt x="2731072" y="0"/>
                      </a:lnTo>
                      <a:cubicBezTo>
                        <a:pt x="2898668" y="0"/>
                        <a:pt x="3034531" y="135863"/>
                        <a:pt x="3034531" y="303459"/>
                      </a:cubicBezTo>
                      <a:lnTo>
                        <a:pt x="3034531" y="1517259"/>
                      </a:lnTo>
                      <a:cubicBezTo>
                        <a:pt x="3034531" y="1684855"/>
                        <a:pt x="2898668" y="1820718"/>
                        <a:pt x="2731072" y="1820718"/>
                      </a:cubicBezTo>
                      <a:lnTo>
                        <a:pt x="303459" y="1820718"/>
                      </a:lnTo>
                      <a:cubicBezTo>
                        <a:pt x="135863" y="1820718"/>
                        <a:pt x="0" y="1684855"/>
                        <a:pt x="0" y="1517259"/>
                      </a:cubicBezTo>
                      <a:lnTo>
                        <a:pt x="0" y="303459"/>
                      </a:lnTo>
                      <a:close/>
                    </a:path>
                  </a:pathLst>
                </a:custGeom>
                <a:solidFill>
                  <a:srgbClr val="231F2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31120" tIns="231120" rIns="231120" bIns="231120" numCol="1" spcCol="1270" anchor="ctr" anchorCtr="0">
                  <a:noAutofit/>
                </a:bodyPr>
                <a:lstStyle/>
                <a:p>
                  <a:pPr marL="0" lvl="0" indent="0" algn="ctr" defTabSz="889000">
                    <a:lnSpc>
                      <a:spcPct val="90000"/>
                    </a:lnSpc>
                    <a:spcBef>
                      <a:spcPct val="0"/>
                    </a:spcBef>
                    <a:spcAft>
                      <a:spcPct val="35000"/>
                    </a:spcAft>
                    <a:buNone/>
                  </a:pPr>
                  <a:r>
                    <a:rPr lang="en-AU" sz="2000" kern="1200" dirty="0">
                      <a:solidFill>
                        <a:schemeClr val="bg1"/>
                      </a:solidFill>
                    </a:rPr>
                    <a:t>Characterise SNe Ia using </a:t>
                  </a:r>
                  <a14:m>
                    <m:oMath xmlns:m="http://schemas.openxmlformats.org/officeDocument/2006/math">
                      <m:sSub>
                        <m:sSubPr>
                          <m:ctrlPr>
                            <a:rPr lang="en-AU" sz="2000" i="1" kern="1200" dirty="0" smtClean="0">
                              <a:latin typeface="Cambria Math" panose="02040503050406030204" pitchFamily="18" charset="0"/>
                            </a:rPr>
                          </m:ctrlPr>
                        </m:sSubPr>
                        <m:e>
                          <m:r>
                            <a:rPr lang="en-AU" sz="2000" i="1" kern="1200" dirty="0">
                              <a:latin typeface="Cambria Math" panose="02040503050406030204" pitchFamily="18" charset="0"/>
                            </a:rPr>
                            <m:t>𝑥</m:t>
                          </m:r>
                        </m:e>
                        <m:sub>
                          <m:r>
                            <a:rPr lang="en-AU" sz="2000" i="1" kern="1200" dirty="0">
                              <a:latin typeface="Cambria Math" panose="02040503050406030204" pitchFamily="18" charset="0"/>
                            </a:rPr>
                            <m:t>1</m:t>
                          </m:r>
                        </m:sub>
                      </m:sSub>
                    </m:oMath>
                  </a14:m>
                  <a:r>
                    <a:rPr lang="en-AU" sz="2000" kern="1200" dirty="0"/>
                    <a:t>and </a:t>
                  </a:r>
                  <a14:m>
                    <m:oMath xmlns:m="http://schemas.openxmlformats.org/officeDocument/2006/math">
                      <m:r>
                        <a:rPr lang="en-AU" sz="2000" i="1" kern="1200" dirty="0" smtClean="0">
                          <a:latin typeface="Cambria Math" panose="02040503050406030204" pitchFamily="18" charset="0"/>
                        </a:rPr>
                        <m:t>𝑐</m:t>
                      </m:r>
                    </m:oMath>
                  </a14:m>
                  <a:r>
                    <a:rPr lang="en-AU" sz="2000" kern="1200" dirty="0">
                      <a:solidFill>
                        <a:schemeClr val="bg1"/>
                      </a:solidFill>
                    </a:rPr>
                    <a:t>. </a:t>
                  </a:r>
                </a:p>
              </p:txBody>
            </p:sp>
          </mc:Choice>
          <mc:Fallback xmlns="">
            <p:sp>
              <p:nvSpPr>
                <p:cNvPr id="13" name="Freeform: Shape 12">
                  <a:extLst>
                    <a:ext uri="{FF2B5EF4-FFF2-40B4-BE49-F238E27FC236}">
                      <a16:creationId xmlns:a16="http://schemas.microsoft.com/office/drawing/2014/main" id="{980AAE3F-9F82-4951-9047-181168FFB269}"/>
                    </a:ext>
                  </a:extLst>
                </p:cNvPr>
                <p:cNvSpPr>
                  <a:spLocks noRot="1" noChangeAspect="1" noMove="1" noResize="1" noEditPoints="1" noAdjustHandles="1" noChangeArrowheads="1" noChangeShapeType="1" noTextEdit="1"/>
                </p:cNvSpPr>
                <p:nvPr/>
              </p:nvSpPr>
              <p:spPr>
                <a:xfrm>
                  <a:off x="854333" y="4356244"/>
                  <a:ext cx="3034531" cy="1820718"/>
                </a:xfrm>
                <a:custGeom>
                  <a:avLst/>
                  <a:gdLst>
                    <a:gd name="csX0" fmla="*/ 0 w 3034531"/>
                    <a:gd name="csY0" fmla="*/ 303459 h 1820718"/>
                    <a:gd name="csX1" fmla="*/ 303459 w 3034531"/>
                    <a:gd name="csY1" fmla="*/ 0 h 1820718"/>
                    <a:gd name="csX2" fmla="*/ 2731072 w 3034531"/>
                    <a:gd name="csY2" fmla="*/ 0 h 1820718"/>
                    <a:gd name="csX3" fmla="*/ 3034531 w 3034531"/>
                    <a:gd name="csY3" fmla="*/ 303459 h 1820718"/>
                    <a:gd name="csX4" fmla="*/ 3034531 w 3034531"/>
                    <a:gd name="csY4" fmla="*/ 1517259 h 1820718"/>
                    <a:gd name="csX5" fmla="*/ 2731072 w 3034531"/>
                    <a:gd name="csY5" fmla="*/ 1820718 h 1820718"/>
                    <a:gd name="csX6" fmla="*/ 303459 w 3034531"/>
                    <a:gd name="csY6" fmla="*/ 1820718 h 1820718"/>
                    <a:gd name="csX7" fmla="*/ 0 w 3034531"/>
                    <a:gd name="csY7" fmla="*/ 1517259 h 1820718"/>
                    <a:gd name="csX8" fmla="*/ 0 w 3034531"/>
                    <a:gd name="csY8" fmla="*/ 303459 h 18207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34531" h="1820718">
                      <a:moveTo>
                        <a:pt x="0" y="303459"/>
                      </a:moveTo>
                      <a:cubicBezTo>
                        <a:pt x="0" y="135863"/>
                        <a:pt x="135863" y="0"/>
                        <a:pt x="303459" y="0"/>
                      </a:cubicBezTo>
                      <a:lnTo>
                        <a:pt x="2731072" y="0"/>
                      </a:lnTo>
                      <a:cubicBezTo>
                        <a:pt x="2898668" y="0"/>
                        <a:pt x="3034531" y="135863"/>
                        <a:pt x="3034531" y="303459"/>
                      </a:cubicBezTo>
                      <a:lnTo>
                        <a:pt x="3034531" y="1517259"/>
                      </a:lnTo>
                      <a:cubicBezTo>
                        <a:pt x="3034531" y="1684855"/>
                        <a:pt x="2898668" y="1820718"/>
                        <a:pt x="2731072" y="1820718"/>
                      </a:cubicBezTo>
                      <a:lnTo>
                        <a:pt x="303459" y="1820718"/>
                      </a:lnTo>
                      <a:cubicBezTo>
                        <a:pt x="135863" y="1820718"/>
                        <a:pt x="0" y="1684855"/>
                        <a:pt x="0" y="1517259"/>
                      </a:cubicBezTo>
                      <a:lnTo>
                        <a:pt x="0" y="303459"/>
                      </a:lnTo>
                      <a:close/>
                    </a:path>
                  </a:pathLst>
                </a:custGeom>
                <a:blipFill>
                  <a:blip r:embed="rId3"/>
                  <a:stretch>
                    <a:fillRect/>
                  </a:stretch>
                </a:blipFill>
              </p:spPr>
              <p:txBody>
                <a:bodyPr/>
                <a:lstStyle/>
                <a:p>
                  <a:r>
                    <a:rPr lang="en-AU">
                      <a:noFill/>
                    </a:rPr>
                    <a:t> </a:t>
                  </a:r>
                </a:p>
              </p:txBody>
            </p:sp>
          </mc:Fallback>
        </mc:AlternateContent>
      </p:grpSp>
      <p:grpSp>
        <p:nvGrpSpPr>
          <p:cNvPr id="21" name="Group 20">
            <a:extLst>
              <a:ext uri="{FF2B5EF4-FFF2-40B4-BE49-F238E27FC236}">
                <a16:creationId xmlns:a16="http://schemas.microsoft.com/office/drawing/2014/main" id="{A0FD47CC-72F9-F4F1-E9E4-DBEFC1A4501A}"/>
              </a:ext>
            </a:extLst>
          </p:cNvPr>
          <p:cNvGrpSpPr/>
          <p:nvPr/>
        </p:nvGrpSpPr>
        <p:grpSpPr>
          <a:xfrm>
            <a:off x="4578734" y="4350265"/>
            <a:ext cx="3700073" cy="1820718"/>
            <a:chOff x="4578734" y="4350265"/>
            <a:chExt cx="3700073" cy="1820718"/>
          </a:xfrm>
        </p:grpSpPr>
        <p:sp>
          <p:nvSpPr>
            <p:cNvPr id="14" name="Freeform: Shape 13">
              <a:extLst>
                <a:ext uri="{FF2B5EF4-FFF2-40B4-BE49-F238E27FC236}">
                  <a16:creationId xmlns:a16="http://schemas.microsoft.com/office/drawing/2014/main" id="{C4B0C75D-A534-C5A9-8AA1-D5D3964DFD99}"/>
                </a:ext>
              </a:extLst>
            </p:cNvPr>
            <p:cNvSpPr/>
            <p:nvPr/>
          </p:nvSpPr>
          <p:spPr>
            <a:xfrm>
              <a:off x="7611465" y="5214904"/>
              <a:ext cx="667342" cy="91440"/>
            </a:xfrm>
            <a:custGeom>
              <a:avLst/>
              <a:gdLst>
                <a:gd name="csX0" fmla="*/ 0 w 667342"/>
                <a:gd name="csY0" fmla="*/ 45720 h 91440"/>
                <a:gd name="csX1" fmla="*/ 667342 w 667342"/>
                <a:gd name="csY1" fmla="*/ 45720 h 91440"/>
              </a:gdLst>
              <a:ahLst/>
              <a:cxnLst>
                <a:cxn ang="0">
                  <a:pos x="csX0" y="csY0"/>
                </a:cxn>
                <a:cxn ang="0">
                  <a:pos x="csX1" y="csY1"/>
                </a:cxn>
              </a:cxnLst>
              <a:rect l="l" t="t" r="r" b="b"/>
              <a:pathLst>
                <a:path w="667342" h="91440">
                  <a:moveTo>
                    <a:pt x="0" y="45720"/>
                  </a:moveTo>
                  <a:lnTo>
                    <a:pt x="667342" y="45720"/>
                  </a:lnTo>
                </a:path>
              </a:pathLst>
            </a:custGeom>
            <a:noFill/>
            <a:ln w="12700" cap="flat" cmpd="sng" algn="ctr">
              <a:solidFill>
                <a:schemeClr val="accent1"/>
              </a:solidFill>
              <a:prstDash val="solid"/>
              <a:miter lim="800000"/>
              <a:headEnd type="none" w="med" len="med"/>
              <a:tailEnd type="arrow" w="med" len="med"/>
              <a:extLst>
                <a:ext uri="{C807C97D-BFC1-408E-A445-0C87EB9F89A2}">
                  <ask:lineSketchStyleProps xmlns:ask="http://schemas.microsoft.com/office/drawing/2018/sketchyshapes">
                    <ask:type>
                      <ask:lineSketchNone/>
                    </ask:type>
                  </ask:lineSketchStyleProps>
                </a:ext>
              </a:extLst>
            </a:ln>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328923" tIns="42230" rIns="328922" bIns="42231" numCol="1" spcCol="1270" anchor="ctr" anchorCtr="0">
              <a:noAutofit/>
            </a:bodyPr>
            <a:lstStyle/>
            <a:p>
              <a:pPr marL="0" lvl="0" indent="0" algn="ctr" defTabSz="222250">
                <a:lnSpc>
                  <a:spcPct val="90000"/>
                </a:lnSpc>
                <a:spcBef>
                  <a:spcPct val="0"/>
                </a:spcBef>
                <a:spcAft>
                  <a:spcPct val="35000"/>
                </a:spcAft>
                <a:buNone/>
              </a:pPr>
              <a:endParaRPr lang="en-AU" sz="500" kern="1200" dirty="0"/>
            </a:p>
          </p:txBody>
        </p:sp>
        <p:sp>
          <p:nvSpPr>
            <p:cNvPr id="15" name="Freeform: Shape 14">
              <a:extLst>
                <a:ext uri="{FF2B5EF4-FFF2-40B4-BE49-F238E27FC236}">
                  <a16:creationId xmlns:a16="http://schemas.microsoft.com/office/drawing/2014/main" id="{39611915-0717-9E11-12F0-08DDA6D5FEFC}"/>
                </a:ext>
              </a:extLst>
            </p:cNvPr>
            <p:cNvSpPr/>
            <p:nvPr/>
          </p:nvSpPr>
          <p:spPr>
            <a:xfrm>
              <a:off x="4578734" y="4350265"/>
              <a:ext cx="3034531" cy="1820718"/>
            </a:xfrm>
            <a:custGeom>
              <a:avLst/>
              <a:gdLst>
                <a:gd name="csX0" fmla="*/ 0 w 3034531"/>
                <a:gd name="csY0" fmla="*/ 303459 h 1820718"/>
                <a:gd name="csX1" fmla="*/ 303459 w 3034531"/>
                <a:gd name="csY1" fmla="*/ 0 h 1820718"/>
                <a:gd name="csX2" fmla="*/ 2731072 w 3034531"/>
                <a:gd name="csY2" fmla="*/ 0 h 1820718"/>
                <a:gd name="csX3" fmla="*/ 3034531 w 3034531"/>
                <a:gd name="csY3" fmla="*/ 303459 h 1820718"/>
                <a:gd name="csX4" fmla="*/ 3034531 w 3034531"/>
                <a:gd name="csY4" fmla="*/ 1517259 h 1820718"/>
                <a:gd name="csX5" fmla="*/ 2731072 w 3034531"/>
                <a:gd name="csY5" fmla="*/ 1820718 h 1820718"/>
                <a:gd name="csX6" fmla="*/ 303459 w 3034531"/>
                <a:gd name="csY6" fmla="*/ 1820718 h 1820718"/>
                <a:gd name="csX7" fmla="*/ 0 w 3034531"/>
                <a:gd name="csY7" fmla="*/ 1517259 h 1820718"/>
                <a:gd name="csX8" fmla="*/ 0 w 3034531"/>
                <a:gd name="csY8" fmla="*/ 303459 h 18207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34531" h="1820718">
                  <a:moveTo>
                    <a:pt x="0" y="303459"/>
                  </a:moveTo>
                  <a:cubicBezTo>
                    <a:pt x="0" y="135863"/>
                    <a:pt x="135863" y="0"/>
                    <a:pt x="303459" y="0"/>
                  </a:cubicBezTo>
                  <a:lnTo>
                    <a:pt x="2731072" y="0"/>
                  </a:lnTo>
                  <a:cubicBezTo>
                    <a:pt x="2898668" y="0"/>
                    <a:pt x="3034531" y="135863"/>
                    <a:pt x="3034531" y="303459"/>
                  </a:cubicBezTo>
                  <a:lnTo>
                    <a:pt x="3034531" y="1517259"/>
                  </a:lnTo>
                  <a:cubicBezTo>
                    <a:pt x="3034531" y="1684855"/>
                    <a:pt x="2898668" y="1820718"/>
                    <a:pt x="2731072" y="1820718"/>
                  </a:cubicBezTo>
                  <a:lnTo>
                    <a:pt x="303459" y="1820718"/>
                  </a:lnTo>
                  <a:cubicBezTo>
                    <a:pt x="135863" y="1820718"/>
                    <a:pt x="0" y="1684855"/>
                    <a:pt x="0" y="1517259"/>
                  </a:cubicBezTo>
                  <a:lnTo>
                    <a:pt x="0" y="303459"/>
                  </a:lnTo>
                  <a:close/>
                </a:path>
              </a:pathLst>
            </a:custGeom>
            <a:solidFill>
              <a:srgbClr val="231F2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31120" tIns="231120" rIns="231120" bIns="231120" numCol="1" spcCol="1270" anchor="ctr" anchorCtr="0">
              <a:noAutofit/>
            </a:bodyPr>
            <a:lstStyle/>
            <a:p>
              <a:pPr marL="0" lvl="0" indent="0" algn="ctr" defTabSz="889000">
                <a:lnSpc>
                  <a:spcPct val="90000"/>
                </a:lnSpc>
                <a:spcBef>
                  <a:spcPct val="0"/>
                </a:spcBef>
                <a:spcAft>
                  <a:spcPct val="35000"/>
                </a:spcAft>
                <a:buNone/>
              </a:pPr>
              <a:r>
                <a:rPr lang="en-AU" sz="2000" kern="1200" dirty="0"/>
                <a:t>Search for excess flux by finding residuals between fits and observed light curves. </a:t>
              </a:r>
            </a:p>
          </p:txBody>
        </p:sp>
      </p:grpSp>
      <p:sp>
        <p:nvSpPr>
          <p:cNvPr id="16" name="Freeform: Shape 15">
            <a:extLst>
              <a:ext uri="{FF2B5EF4-FFF2-40B4-BE49-F238E27FC236}">
                <a16:creationId xmlns:a16="http://schemas.microsoft.com/office/drawing/2014/main" id="{EFD636A2-0BAB-4F65-5062-A3D60DF5C1A2}"/>
              </a:ext>
            </a:extLst>
          </p:cNvPr>
          <p:cNvSpPr/>
          <p:nvPr/>
        </p:nvSpPr>
        <p:spPr>
          <a:xfrm>
            <a:off x="8311207" y="4350265"/>
            <a:ext cx="3034531" cy="1820718"/>
          </a:xfrm>
          <a:custGeom>
            <a:avLst/>
            <a:gdLst>
              <a:gd name="csX0" fmla="*/ 0 w 3034531"/>
              <a:gd name="csY0" fmla="*/ 303459 h 1820718"/>
              <a:gd name="csX1" fmla="*/ 303459 w 3034531"/>
              <a:gd name="csY1" fmla="*/ 0 h 1820718"/>
              <a:gd name="csX2" fmla="*/ 2731072 w 3034531"/>
              <a:gd name="csY2" fmla="*/ 0 h 1820718"/>
              <a:gd name="csX3" fmla="*/ 3034531 w 3034531"/>
              <a:gd name="csY3" fmla="*/ 303459 h 1820718"/>
              <a:gd name="csX4" fmla="*/ 3034531 w 3034531"/>
              <a:gd name="csY4" fmla="*/ 1517259 h 1820718"/>
              <a:gd name="csX5" fmla="*/ 2731072 w 3034531"/>
              <a:gd name="csY5" fmla="*/ 1820718 h 1820718"/>
              <a:gd name="csX6" fmla="*/ 303459 w 3034531"/>
              <a:gd name="csY6" fmla="*/ 1820718 h 1820718"/>
              <a:gd name="csX7" fmla="*/ 0 w 3034531"/>
              <a:gd name="csY7" fmla="*/ 1517259 h 1820718"/>
              <a:gd name="csX8" fmla="*/ 0 w 3034531"/>
              <a:gd name="csY8" fmla="*/ 303459 h 18207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034531" h="1820718">
                <a:moveTo>
                  <a:pt x="0" y="303459"/>
                </a:moveTo>
                <a:cubicBezTo>
                  <a:pt x="0" y="135863"/>
                  <a:pt x="135863" y="0"/>
                  <a:pt x="303459" y="0"/>
                </a:cubicBezTo>
                <a:lnTo>
                  <a:pt x="2731072" y="0"/>
                </a:lnTo>
                <a:cubicBezTo>
                  <a:pt x="2898668" y="0"/>
                  <a:pt x="3034531" y="135863"/>
                  <a:pt x="3034531" y="303459"/>
                </a:cubicBezTo>
                <a:lnTo>
                  <a:pt x="3034531" y="1517259"/>
                </a:lnTo>
                <a:cubicBezTo>
                  <a:pt x="3034531" y="1684855"/>
                  <a:pt x="2898668" y="1820718"/>
                  <a:pt x="2731072" y="1820718"/>
                </a:cubicBezTo>
                <a:lnTo>
                  <a:pt x="303459" y="1820718"/>
                </a:lnTo>
                <a:cubicBezTo>
                  <a:pt x="135863" y="1820718"/>
                  <a:pt x="0" y="1684855"/>
                  <a:pt x="0" y="1517259"/>
                </a:cubicBezTo>
                <a:lnTo>
                  <a:pt x="0" y="303459"/>
                </a:lnTo>
                <a:close/>
              </a:path>
            </a:pathLst>
          </a:custGeom>
          <a:solidFill>
            <a:srgbClr val="231F20"/>
          </a:solidFill>
          <a:ln>
            <a:noFill/>
            <a:prstDash val="dashDot"/>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31120" tIns="231120" rIns="231120" bIns="231120" numCol="1" spcCol="1270" anchor="ctr" anchorCtr="0">
            <a:noAutofit/>
          </a:bodyPr>
          <a:lstStyle/>
          <a:p>
            <a:pPr marL="0" lvl="0" indent="0" algn="ctr" defTabSz="889000">
              <a:lnSpc>
                <a:spcPct val="90000"/>
              </a:lnSpc>
              <a:spcBef>
                <a:spcPct val="0"/>
              </a:spcBef>
              <a:spcAft>
                <a:spcPct val="35000"/>
              </a:spcAft>
              <a:buNone/>
            </a:pPr>
            <a:r>
              <a:rPr lang="en-AU" sz="2000" kern="1200" dirty="0"/>
              <a:t>If scope permits, correlate SN properties with the host galaxy properties.</a:t>
            </a:r>
          </a:p>
        </p:txBody>
      </p:sp>
      <p:sp>
        <p:nvSpPr>
          <p:cNvPr id="3" name="TextBox 2">
            <a:extLst>
              <a:ext uri="{FF2B5EF4-FFF2-40B4-BE49-F238E27FC236}">
                <a16:creationId xmlns:a16="http://schemas.microsoft.com/office/drawing/2014/main" id="{4F2AA3FF-A957-DEB1-20BB-FBD9A4EE5289}"/>
              </a:ext>
            </a:extLst>
          </p:cNvPr>
          <p:cNvSpPr txBox="1"/>
          <p:nvPr/>
        </p:nvSpPr>
        <p:spPr>
          <a:xfrm>
            <a:off x="11473200" y="6138000"/>
            <a:ext cx="360000" cy="360000"/>
          </a:xfrm>
          <a:prstGeom prst="rect">
            <a:avLst/>
          </a:prstGeom>
          <a:noFill/>
        </p:spPr>
        <p:txBody>
          <a:bodyPr wrap="none" rtlCol="0">
            <a:spAutoFit/>
          </a:bodyPr>
          <a:lstStyle/>
          <a:p>
            <a:r>
              <a:rPr lang="en-AU" dirty="0"/>
              <a:t>6</a:t>
            </a:r>
          </a:p>
        </p:txBody>
      </p:sp>
    </p:spTree>
    <p:extLst>
      <p:ext uri="{BB962C8B-B14F-4D97-AF65-F5344CB8AC3E}">
        <p14:creationId xmlns:p14="http://schemas.microsoft.com/office/powerpoint/2010/main" val="2169916331"/>
      </p:ext>
    </p:extLst>
  </p:cSld>
  <p:clrMapOvr>
    <a:masterClrMapping/>
  </p:clrMapOvr>
  <mc:AlternateContent xmlns:mc="http://schemas.openxmlformats.org/markup-compatibility/2006" xmlns:p14="http://schemas.microsoft.com/office/powerpoint/2010/main">
    <mc:Choice Requires="p14">
      <p:transition spd="med" p14:dur="700" advTm="13894">
        <p:fade/>
      </p:transition>
    </mc:Choice>
    <mc:Fallback xmlns="">
      <p:transition spd="med" advTm="13894">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3F2A2-CDC5-31CD-A97E-09A0EB172A60}"/>
              </a:ext>
            </a:extLst>
          </p:cNvPr>
          <p:cNvSpPr>
            <a:spLocks noGrp="1"/>
          </p:cNvSpPr>
          <p:nvPr>
            <p:ph type="title"/>
          </p:nvPr>
        </p:nvSpPr>
        <p:spPr/>
        <p:txBody>
          <a:bodyPr/>
          <a:lstStyle/>
          <a:p>
            <a:r>
              <a:rPr lang="en-AU" dirty="0"/>
              <a:t>Key Takeaways</a:t>
            </a:r>
          </a:p>
        </p:txBody>
      </p:sp>
      <p:sp>
        <p:nvSpPr>
          <p:cNvPr id="3" name="Content Placeholder 2">
            <a:extLst>
              <a:ext uri="{FF2B5EF4-FFF2-40B4-BE49-F238E27FC236}">
                <a16:creationId xmlns:a16="http://schemas.microsoft.com/office/drawing/2014/main" id="{73166517-4A73-2416-8108-8D13AF0BC60C}"/>
              </a:ext>
            </a:extLst>
          </p:cNvPr>
          <p:cNvSpPr>
            <a:spLocks noGrp="1"/>
          </p:cNvSpPr>
          <p:nvPr>
            <p:ph idx="1"/>
          </p:nvPr>
        </p:nvSpPr>
        <p:spPr>
          <a:xfrm>
            <a:off x="838200" y="1825625"/>
            <a:ext cx="5257800" cy="1959991"/>
          </a:xfrm>
        </p:spPr>
        <p:txBody>
          <a:bodyPr>
            <a:normAutofit fontScale="92500"/>
          </a:bodyPr>
          <a:lstStyle/>
          <a:p>
            <a:r>
              <a:rPr lang="en-AU" dirty="0"/>
              <a:t>Observe, filter and classify transients using Rubin and Fink.</a:t>
            </a:r>
          </a:p>
          <a:p>
            <a:r>
              <a:rPr lang="en-AU" dirty="0"/>
              <a:t>Characterise SN using SALT.</a:t>
            </a:r>
          </a:p>
          <a:p>
            <a:r>
              <a:rPr lang="en-AU" dirty="0"/>
              <a:t>Search for early excess SNe Ia. </a:t>
            </a:r>
          </a:p>
          <a:p>
            <a:pPr marL="0" indent="0">
              <a:buNone/>
            </a:pPr>
            <a:endParaRPr lang="en-AU" dirty="0"/>
          </a:p>
        </p:txBody>
      </p:sp>
      <p:pic>
        <p:nvPicPr>
          <p:cNvPr id="7" name="Picture 6" descr="A plot of the light curve of SN 2026ACD from ZTF from Fink in magnitude space showing days from the time of the peak magnitude">
            <a:extLst>
              <a:ext uri="{FF2B5EF4-FFF2-40B4-BE49-F238E27FC236}">
                <a16:creationId xmlns:a16="http://schemas.microsoft.com/office/drawing/2014/main" id="{0AE2A039-F915-06DC-F2C6-53059D3C78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8256" y="829151"/>
            <a:ext cx="4216287" cy="4227324"/>
          </a:xfrm>
          <a:prstGeom prst="rect">
            <a:avLst/>
          </a:prstGeom>
        </p:spPr>
      </p:pic>
      <p:sp>
        <p:nvSpPr>
          <p:cNvPr id="9" name="TextBox 8">
            <a:extLst>
              <a:ext uri="{FF2B5EF4-FFF2-40B4-BE49-F238E27FC236}">
                <a16:creationId xmlns:a16="http://schemas.microsoft.com/office/drawing/2014/main" id="{FC92F8C0-A3EC-AAA3-0C51-5353662766E4}"/>
              </a:ext>
            </a:extLst>
          </p:cNvPr>
          <p:cNvSpPr txBox="1"/>
          <p:nvPr/>
        </p:nvSpPr>
        <p:spPr>
          <a:xfrm>
            <a:off x="7696962" y="412472"/>
            <a:ext cx="1474470" cy="369332"/>
          </a:xfrm>
          <a:prstGeom prst="rect">
            <a:avLst/>
          </a:prstGeom>
          <a:noFill/>
        </p:spPr>
        <p:txBody>
          <a:bodyPr wrap="square">
            <a:spAutoFit/>
          </a:bodyPr>
          <a:lstStyle/>
          <a:p>
            <a:r>
              <a:rPr lang="en-AU" dirty="0"/>
              <a:t>SN 2026ACD</a:t>
            </a:r>
          </a:p>
        </p:txBody>
      </p:sp>
      <p:sp>
        <p:nvSpPr>
          <p:cNvPr id="10" name="TextBox 9">
            <a:extLst>
              <a:ext uri="{FF2B5EF4-FFF2-40B4-BE49-F238E27FC236}">
                <a16:creationId xmlns:a16="http://schemas.microsoft.com/office/drawing/2014/main" id="{CE3D5529-2C3A-75D0-AFB0-40049A5D834C}"/>
              </a:ext>
            </a:extLst>
          </p:cNvPr>
          <p:cNvSpPr txBox="1"/>
          <p:nvPr/>
        </p:nvSpPr>
        <p:spPr>
          <a:xfrm>
            <a:off x="11473200" y="6138000"/>
            <a:ext cx="360000" cy="360000"/>
          </a:xfrm>
          <a:prstGeom prst="rect">
            <a:avLst/>
          </a:prstGeom>
          <a:noFill/>
        </p:spPr>
        <p:txBody>
          <a:bodyPr wrap="none" rtlCol="0">
            <a:spAutoFit/>
          </a:bodyPr>
          <a:lstStyle/>
          <a:p>
            <a:r>
              <a:rPr lang="en-AU" dirty="0"/>
              <a:t>7</a:t>
            </a:r>
          </a:p>
        </p:txBody>
      </p:sp>
      <p:pic>
        <p:nvPicPr>
          <p:cNvPr id="4" name="Picture 3" descr="QR Code that takes you to the example ZTF light curve displayed in the plot.">
            <a:extLst>
              <a:ext uri="{FF2B5EF4-FFF2-40B4-BE49-F238E27FC236}">
                <a16:creationId xmlns:a16="http://schemas.microsoft.com/office/drawing/2014/main" id="{FE2B71D0-11D1-6EA9-4912-570948C79D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84786" y="5134775"/>
            <a:ext cx="1003225" cy="1003225"/>
          </a:xfrm>
          <a:prstGeom prst="rect">
            <a:avLst/>
          </a:prstGeom>
        </p:spPr>
      </p:pic>
      <p:sp>
        <p:nvSpPr>
          <p:cNvPr id="8" name="TextBox 7">
            <a:extLst>
              <a:ext uri="{FF2B5EF4-FFF2-40B4-BE49-F238E27FC236}">
                <a16:creationId xmlns:a16="http://schemas.microsoft.com/office/drawing/2014/main" id="{201E2D41-63C2-F207-E7A8-CE80A7C610C9}"/>
              </a:ext>
            </a:extLst>
          </p:cNvPr>
          <p:cNvSpPr txBox="1"/>
          <p:nvPr/>
        </p:nvSpPr>
        <p:spPr>
          <a:xfrm>
            <a:off x="8988011" y="5134775"/>
            <a:ext cx="2352465" cy="646331"/>
          </a:xfrm>
          <a:prstGeom prst="rect">
            <a:avLst/>
          </a:prstGeom>
          <a:noFill/>
        </p:spPr>
        <p:txBody>
          <a:bodyPr wrap="square" rtlCol="0">
            <a:spAutoFit/>
          </a:bodyPr>
          <a:lstStyle/>
          <a:p>
            <a:r>
              <a:rPr lang="en-AU" dirty="0"/>
              <a:t>Light curve obtained from the Fink broker.</a:t>
            </a:r>
          </a:p>
        </p:txBody>
      </p:sp>
      <p:grpSp>
        <p:nvGrpSpPr>
          <p:cNvPr id="11" name="Group 10">
            <a:extLst>
              <a:ext uri="{FF2B5EF4-FFF2-40B4-BE49-F238E27FC236}">
                <a16:creationId xmlns:a16="http://schemas.microsoft.com/office/drawing/2014/main" id="{3017B45A-40EA-112F-969C-6948F9E4D2A2}"/>
              </a:ext>
            </a:extLst>
          </p:cNvPr>
          <p:cNvGrpSpPr/>
          <p:nvPr/>
        </p:nvGrpSpPr>
        <p:grpSpPr>
          <a:xfrm>
            <a:off x="1176068" y="3562718"/>
            <a:ext cx="4656757" cy="3000759"/>
            <a:chOff x="5932800" y="1256400"/>
            <a:chExt cx="7253396" cy="4674003"/>
          </a:xfrm>
        </p:grpSpPr>
        <p:sp>
          <p:nvSpPr>
            <p:cNvPr id="12" name="TextBox 11">
              <a:extLst>
                <a:ext uri="{FF2B5EF4-FFF2-40B4-BE49-F238E27FC236}">
                  <a16:creationId xmlns:a16="http://schemas.microsoft.com/office/drawing/2014/main" id="{01577679-1B03-277C-B0B5-EB4D0E42CC7D}"/>
                </a:ext>
              </a:extLst>
            </p:cNvPr>
            <p:cNvSpPr txBox="1"/>
            <p:nvPr/>
          </p:nvSpPr>
          <p:spPr>
            <a:xfrm>
              <a:off x="10388311" y="5451007"/>
              <a:ext cx="2797885" cy="479396"/>
            </a:xfrm>
            <a:prstGeom prst="rect">
              <a:avLst/>
            </a:prstGeom>
            <a:noFill/>
          </p:spPr>
          <p:txBody>
            <a:bodyPr wrap="square">
              <a:spAutoFit/>
            </a:bodyPr>
            <a:lstStyle/>
            <a:p>
              <a:r>
                <a:rPr lang="en-AU" sz="1400" dirty="0">
                  <a:solidFill>
                    <a:srgbClr val="595959"/>
                  </a:solidFill>
                </a:rPr>
                <a:t>(Marion et al., 2016)</a:t>
              </a:r>
            </a:p>
          </p:txBody>
        </p:sp>
        <p:pic>
          <p:nvPicPr>
            <p:cNvPr id="13" name="Picture 12">
              <a:extLst>
                <a:ext uri="{FF2B5EF4-FFF2-40B4-BE49-F238E27FC236}">
                  <a16:creationId xmlns:a16="http://schemas.microsoft.com/office/drawing/2014/main" id="{4AF82E3D-8D38-9B61-B876-70F9280D0E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32800" y="1256400"/>
              <a:ext cx="6006646" cy="4233600"/>
            </a:xfrm>
            <a:prstGeom prst="rect">
              <a:avLst/>
            </a:prstGeom>
          </p:spPr>
        </p:pic>
        <p:sp>
          <p:nvSpPr>
            <p:cNvPr id="14" name="Oval 13">
              <a:extLst>
                <a:ext uri="{FF2B5EF4-FFF2-40B4-BE49-F238E27FC236}">
                  <a16:creationId xmlns:a16="http://schemas.microsoft.com/office/drawing/2014/main" id="{3C161399-AFD2-A9F6-2017-D8AFFED36924}"/>
                </a:ext>
              </a:extLst>
            </p:cNvPr>
            <p:cNvSpPr/>
            <p:nvPr/>
          </p:nvSpPr>
          <p:spPr>
            <a:xfrm>
              <a:off x="7661625" y="3563527"/>
              <a:ext cx="644511" cy="85540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Tree>
    <p:extLst>
      <p:ext uri="{BB962C8B-B14F-4D97-AF65-F5344CB8AC3E}">
        <p14:creationId xmlns:p14="http://schemas.microsoft.com/office/powerpoint/2010/main" val="4225372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0EE273-C39C-EACF-2E83-59DD930A430F}"/>
              </a:ext>
              <a:ext uri="{C183D7F6-B498-43B3-948B-1728B52AA6E4}">
                <adec:decorative xmlns:adec="http://schemas.microsoft.com/office/drawing/2017/decorative" val="1"/>
              </a:ext>
            </a:extLst>
          </p:cNvPr>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ADCD791-206C-9DD9-9D7B-331D57AC9C17}"/>
              </a:ext>
            </a:extLst>
          </p:cNvPr>
          <p:cNvSpPr>
            <a:spLocks noGrp="1"/>
          </p:cNvSpPr>
          <p:nvPr>
            <p:ph type="title"/>
          </p:nvPr>
        </p:nvSpPr>
        <p:spPr/>
        <p:txBody>
          <a:bodyPr/>
          <a:lstStyle/>
          <a:p>
            <a:r>
              <a:rPr lang="en-AU" dirty="0"/>
              <a:t>Summary</a:t>
            </a:r>
          </a:p>
        </p:txBody>
      </p:sp>
      <p:sp>
        <p:nvSpPr>
          <p:cNvPr id="3" name="Content Placeholder 2">
            <a:extLst>
              <a:ext uri="{FF2B5EF4-FFF2-40B4-BE49-F238E27FC236}">
                <a16:creationId xmlns:a16="http://schemas.microsoft.com/office/drawing/2014/main" id="{9A81B0A9-C1A1-5211-A3FA-A576ABE71C6A}"/>
              </a:ext>
            </a:extLst>
          </p:cNvPr>
          <p:cNvSpPr>
            <a:spLocks noGrp="1"/>
          </p:cNvSpPr>
          <p:nvPr>
            <p:ph idx="1"/>
          </p:nvPr>
        </p:nvSpPr>
        <p:spPr/>
        <p:txBody>
          <a:bodyPr/>
          <a:lstStyle/>
          <a:p>
            <a:r>
              <a:rPr lang="en-AU" dirty="0"/>
              <a:t>Rubin, LSST and Fink</a:t>
            </a:r>
          </a:p>
        </p:txBody>
      </p:sp>
    </p:spTree>
    <p:extLst>
      <p:ext uri="{BB962C8B-B14F-4D97-AF65-F5344CB8AC3E}">
        <p14:creationId xmlns:p14="http://schemas.microsoft.com/office/powerpoint/2010/main" val="3050928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F574DC-4061-64A8-AC59-2B0A2C2A1F6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1D5E06E-FEB0-5583-C474-C6291C4A628C}"/>
              </a:ext>
            </a:extLst>
          </p:cNvPr>
          <p:cNvSpPr>
            <a:spLocks noGrp="1"/>
          </p:cNvSpPr>
          <p:nvPr>
            <p:ph type="title"/>
          </p:nvPr>
        </p:nvSpPr>
        <p:spPr/>
        <p:txBody>
          <a:bodyPr/>
          <a:lstStyle/>
          <a:p>
            <a:r>
              <a:rPr lang="en-AU" dirty="0"/>
              <a:t>Finding SNe Ia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DE6BE5B-DA27-4C06-E559-3561B9464E7E}"/>
                  </a:ext>
                </a:extLst>
              </p:cNvPr>
              <p:cNvSpPr>
                <a:spLocks noGrp="1"/>
              </p:cNvSpPr>
              <p:nvPr>
                <p:ph idx="1"/>
              </p:nvPr>
            </p:nvSpPr>
            <p:spPr>
              <a:xfrm>
                <a:off x="838200" y="1825625"/>
                <a:ext cx="6315872" cy="2081723"/>
              </a:xfrm>
            </p:spPr>
            <p:txBody>
              <a:bodyPr>
                <a:normAutofit/>
              </a:bodyPr>
              <a:lstStyle/>
              <a:p>
                <a:r>
                  <a:rPr lang="en-AU" dirty="0"/>
                  <a:t>Construct a catalogue of extragalactic candidates</a:t>
                </a:r>
              </a:p>
              <a:p>
                <a:pPr lvl="1"/>
                <a:r>
                  <a:rPr lang="en-AU" dirty="0"/>
                  <a:t>Excluding alerts from known objects</a:t>
                </a:r>
              </a:p>
              <a:p>
                <a:pPr lvl="1"/>
                <a:r>
                  <a:rPr lang="en-AU" dirty="0"/>
                  <a:t>Galactic latitude cuts </a:t>
                </a:r>
                <a14:m>
                  <m:oMath xmlns:m="http://schemas.openxmlformats.org/officeDocument/2006/math">
                    <m:r>
                      <a:rPr lang="en-AU" b="0" i="0" dirty="0" smtClean="0">
                        <a:latin typeface="Cambria Math" panose="02040503050406030204" pitchFamily="18" charset="0"/>
                      </a:rPr>
                      <m:t>(</m:t>
                    </m:r>
                    <m:r>
                      <a:rPr lang="en-AU" i="1" dirty="0">
                        <a:latin typeface="Cambria Math" panose="02040503050406030204" pitchFamily="18" charset="0"/>
                      </a:rPr>
                      <m:t>|</m:t>
                    </m:r>
                    <m:r>
                      <a:rPr lang="en-AU" i="1" smtClean="0">
                        <a:latin typeface="Cambria Math" panose="02040503050406030204" pitchFamily="18" charset="0"/>
                      </a:rPr>
                      <m:t>𝑏</m:t>
                    </m:r>
                    <m:r>
                      <a:rPr lang="en-AU" i="1" smtClean="0">
                        <a:latin typeface="Cambria Math" panose="02040503050406030204" pitchFamily="18" charset="0"/>
                      </a:rPr>
                      <m:t>|&lt;20°)</m:t>
                    </m:r>
                  </m:oMath>
                </a14:m>
                <a:endParaRPr lang="en-AU" dirty="0"/>
              </a:p>
              <a:p>
                <a:pPr lvl="1"/>
                <a:r>
                  <a:rPr lang="en-AU" dirty="0"/>
                  <a:t>Detection is less than 150 days old.</a:t>
                </a:r>
              </a:p>
              <a:p>
                <a:pPr marL="457200" lvl="1" indent="0">
                  <a:buNone/>
                </a:pPr>
                <a:endParaRPr lang="en-AU" dirty="0"/>
              </a:p>
            </p:txBody>
          </p:sp>
        </mc:Choice>
        <mc:Fallback xmlns="">
          <p:sp>
            <p:nvSpPr>
              <p:cNvPr id="3" name="Content Placeholder 2">
                <a:extLst>
                  <a:ext uri="{FF2B5EF4-FFF2-40B4-BE49-F238E27FC236}">
                    <a16:creationId xmlns:a16="http://schemas.microsoft.com/office/drawing/2014/main" id="{0DE6BE5B-DA27-4C06-E559-3561B9464E7E}"/>
                  </a:ext>
                </a:extLst>
              </p:cNvPr>
              <p:cNvSpPr>
                <a:spLocks noGrp="1" noRot="1" noChangeAspect="1" noMove="1" noResize="1" noEditPoints="1" noAdjustHandles="1" noChangeArrowheads="1" noChangeShapeType="1" noTextEdit="1"/>
              </p:cNvSpPr>
              <p:nvPr>
                <p:ph idx="1"/>
              </p:nvPr>
            </p:nvSpPr>
            <p:spPr>
              <a:xfrm>
                <a:off x="838200" y="1825625"/>
                <a:ext cx="6315872" cy="2081723"/>
              </a:xfrm>
              <a:blipFill>
                <a:blip r:embed="rId4"/>
                <a:stretch>
                  <a:fillRect l="-1737" t="-4971" r="-386" b="-4678"/>
                </a:stretch>
              </a:blipFill>
            </p:spPr>
            <p:txBody>
              <a:bodyPr/>
              <a:lstStyle/>
              <a:p>
                <a:r>
                  <a:rPr lang="en-AU">
                    <a:noFill/>
                  </a:rPr>
                  <a:t> </a:t>
                </a:r>
              </a:p>
            </p:txBody>
          </p:sp>
        </mc:Fallback>
      </mc:AlternateContent>
      <p:sp>
        <p:nvSpPr>
          <p:cNvPr id="5" name="Content Placeholder 2">
            <a:extLst>
              <a:ext uri="{FF2B5EF4-FFF2-40B4-BE49-F238E27FC236}">
                <a16:creationId xmlns:a16="http://schemas.microsoft.com/office/drawing/2014/main" id="{1D2428A4-33D8-3B2A-EC0C-D5B3E2DA39AB}"/>
              </a:ext>
            </a:extLst>
          </p:cNvPr>
          <p:cNvSpPr txBox="1">
            <a:spLocks/>
          </p:cNvSpPr>
          <p:nvPr/>
        </p:nvSpPr>
        <p:spPr>
          <a:xfrm>
            <a:off x="838200" y="4341812"/>
            <a:ext cx="6315872" cy="208172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Use the machine learning classifiers within fink to find SNe Ia candidates.</a:t>
            </a:r>
          </a:p>
        </p:txBody>
      </p:sp>
    </p:spTree>
    <p:extLst>
      <p:ext uri="{BB962C8B-B14F-4D97-AF65-F5344CB8AC3E}">
        <p14:creationId xmlns:p14="http://schemas.microsoft.com/office/powerpoint/2010/main" val="2898617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6C30746-EDE1-558E-B8A0-EB4F30C6393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8838B81B-16EF-32C2-9AD9-40DDEF066725}"/>
              </a:ext>
            </a:extLst>
          </p:cNvPr>
          <p:cNvSpPr>
            <a:spLocks noGrp="1"/>
          </p:cNvSpPr>
          <p:nvPr>
            <p:ph type="title"/>
          </p:nvPr>
        </p:nvSpPr>
        <p:spPr/>
        <p:txBody>
          <a:bodyPr/>
          <a:lstStyle/>
          <a:p>
            <a:r>
              <a:rPr lang="en-AU" dirty="0"/>
              <a:t>Host Galaxy Properties</a:t>
            </a:r>
          </a:p>
        </p:txBody>
      </p:sp>
      <p:sp>
        <p:nvSpPr>
          <p:cNvPr id="5" name="Content Placeholder 2">
            <a:extLst>
              <a:ext uri="{FF2B5EF4-FFF2-40B4-BE49-F238E27FC236}">
                <a16:creationId xmlns:a16="http://schemas.microsoft.com/office/drawing/2014/main" id="{CD963945-D928-4C40-AFD9-EF4F18DD0EBF}"/>
              </a:ext>
            </a:extLst>
          </p:cNvPr>
          <p:cNvSpPr>
            <a:spLocks noGrp="1"/>
          </p:cNvSpPr>
          <p:nvPr>
            <p:ph idx="1"/>
          </p:nvPr>
        </p:nvSpPr>
        <p:spPr>
          <a:xfrm>
            <a:off x="838200" y="1825625"/>
            <a:ext cx="5257800" cy="4351338"/>
          </a:xfrm>
        </p:spPr>
        <p:txBody>
          <a:bodyPr>
            <a:normAutofit/>
          </a:bodyPr>
          <a:lstStyle/>
          <a:p>
            <a:r>
              <a:rPr lang="en-AU" dirty="0"/>
              <a:t>Use template fits to estimate the following host properties.</a:t>
            </a:r>
          </a:p>
          <a:p>
            <a:pPr lvl="1"/>
            <a:r>
              <a:rPr lang="en-AU" dirty="0"/>
              <a:t>SFR</a:t>
            </a:r>
          </a:p>
          <a:p>
            <a:pPr lvl="1"/>
            <a:r>
              <a:rPr lang="en-AU" dirty="0"/>
              <a:t>Stellar Mass</a:t>
            </a:r>
          </a:p>
          <a:p>
            <a:pPr lvl="1"/>
            <a:r>
              <a:rPr lang="en-AU" dirty="0"/>
              <a:t>Colour</a:t>
            </a:r>
          </a:p>
          <a:p>
            <a:endParaRPr lang="en-AU" dirty="0"/>
          </a:p>
          <a:p>
            <a:r>
              <a:rPr lang="en-AU" dirty="0"/>
              <a:t>Use the position of the SNe Ia to determine the DLR.</a:t>
            </a:r>
          </a:p>
        </p:txBody>
      </p:sp>
    </p:spTree>
    <p:extLst>
      <p:ext uri="{BB962C8B-B14F-4D97-AF65-F5344CB8AC3E}">
        <p14:creationId xmlns:p14="http://schemas.microsoft.com/office/powerpoint/2010/main" val="4054569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9C14099-4909-B2F6-6B98-D56DD6C8EB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4E74744-A3E4-3B34-BBF5-7F6E0556C141}"/>
              </a:ext>
            </a:extLst>
          </p:cNvPr>
          <p:cNvSpPr>
            <a:spLocks noGrp="1"/>
          </p:cNvSpPr>
          <p:nvPr>
            <p:ph type="title"/>
          </p:nvPr>
        </p:nvSpPr>
        <p:spPr/>
        <p:txBody>
          <a:bodyPr/>
          <a:lstStyle/>
          <a:p>
            <a:r>
              <a:rPr lang="en-AU" dirty="0"/>
              <a:t>What’s Next</a:t>
            </a:r>
          </a:p>
        </p:txBody>
      </p:sp>
      <p:sp>
        <p:nvSpPr>
          <p:cNvPr id="3" name="Content Placeholder 2">
            <a:extLst>
              <a:ext uri="{FF2B5EF4-FFF2-40B4-BE49-F238E27FC236}">
                <a16:creationId xmlns:a16="http://schemas.microsoft.com/office/drawing/2014/main" id="{5FF50A3F-6108-80E6-975C-8C3F7E2CAB75}"/>
              </a:ext>
            </a:extLst>
          </p:cNvPr>
          <p:cNvSpPr>
            <a:spLocks noGrp="1"/>
          </p:cNvSpPr>
          <p:nvPr>
            <p:ph idx="1"/>
          </p:nvPr>
        </p:nvSpPr>
        <p:spPr>
          <a:xfrm>
            <a:off x="838201" y="1825625"/>
            <a:ext cx="6659880" cy="1562086"/>
          </a:xfrm>
        </p:spPr>
        <p:txBody>
          <a:bodyPr>
            <a:normAutofit lnSpcReduction="10000"/>
          </a:bodyPr>
          <a:lstStyle/>
          <a:p>
            <a:r>
              <a:rPr lang="en-AU" dirty="0"/>
              <a:t>Use SALT modelled light curves to find flux residuals in the SNe Ia.</a:t>
            </a:r>
          </a:p>
          <a:p>
            <a:pPr lvl="1"/>
            <a:r>
              <a:rPr lang="en-AU" dirty="0"/>
              <a:t>This may give us a sample of early excess flux SNe Ia. </a:t>
            </a:r>
          </a:p>
        </p:txBody>
      </p:sp>
      <p:sp>
        <p:nvSpPr>
          <p:cNvPr id="5" name="Content Placeholder 2">
            <a:extLst>
              <a:ext uri="{FF2B5EF4-FFF2-40B4-BE49-F238E27FC236}">
                <a16:creationId xmlns:a16="http://schemas.microsoft.com/office/drawing/2014/main" id="{1ECA814F-0D56-F3B5-043C-67AC0C9286EC}"/>
              </a:ext>
            </a:extLst>
          </p:cNvPr>
          <p:cNvSpPr txBox="1">
            <a:spLocks/>
          </p:cNvSpPr>
          <p:nvPr/>
        </p:nvSpPr>
        <p:spPr>
          <a:xfrm>
            <a:off x="838201" y="3339555"/>
            <a:ext cx="6833616" cy="156208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If sample size is significant, the correlations with the host galaxy properties of the early excess flux can be found!</a:t>
            </a:r>
          </a:p>
        </p:txBody>
      </p:sp>
    </p:spTree>
    <p:extLst>
      <p:ext uri="{BB962C8B-B14F-4D97-AF65-F5344CB8AC3E}">
        <p14:creationId xmlns:p14="http://schemas.microsoft.com/office/powerpoint/2010/main" val="385656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2794</TotalTime>
  <Words>1650</Words>
  <Application>Microsoft Office PowerPoint</Application>
  <PresentationFormat>Widescreen</PresentationFormat>
  <Paragraphs>105</Paragraphs>
  <Slides>12</Slides>
  <Notes>9</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Cambria Math</vt:lpstr>
      <vt:lpstr>Office Theme</vt:lpstr>
      <vt:lpstr>Hunting for Exploding Stars Using Vera C. Rubin</vt:lpstr>
      <vt:lpstr>Rubin, LSST and Fink</vt:lpstr>
      <vt:lpstr>What are SN Ia?</vt:lpstr>
      <vt:lpstr>Why are SNe Ia Important?</vt:lpstr>
      <vt:lpstr>Early Excess </vt:lpstr>
      <vt:lpstr>Host Galaxy Environments</vt:lpstr>
      <vt:lpstr>Proposed Method</vt:lpstr>
      <vt:lpstr>Key Takeaways</vt:lpstr>
      <vt:lpstr>Summary</vt:lpstr>
      <vt:lpstr>Finding SNe Ia</vt:lpstr>
      <vt:lpstr>Host Galaxy Properties</vt:lpstr>
      <vt:lpstr>What’s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Riley Webster</dc:creator>
  <cp:lastModifiedBy>Riley Webster</cp:lastModifiedBy>
  <cp:revision>35</cp:revision>
  <dcterms:created xsi:type="dcterms:W3CDTF">2026-03-25T22:35:59Z</dcterms:created>
  <dcterms:modified xsi:type="dcterms:W3CDTF">2026-06-10T09:59:33Z</dcterms:modified>
</cp:coreProperties>
</file>